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slideLayout" Target="../slideLayouts/slideLayout1.xml"/><Relationship Id="rId2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image" Target="../media/image-2-25.png"/><Relationship Id="rId26" Type="http://schemas.openxmlformats.org/officeDocument/2006/relationships/image" Target="../media/image-2-26.png"/><Relationship Id="rId27" Type="http://schemas.openxmlformats.org/officeDocument/2006/relationships/image" Target="../media/image-2-27.png"/><Relationship Id="rId28" Type="http://schemas.openxmlformats.org/officeDocument/2006/relationships/image" Target="../media/image-2-28.png"/><Relationship Id="rId29" Type="http://schemas.openxmlformats.org/officeDocument/2006/relationships/image" Target="../media/image-2-29.png"/><Relationship Id="rId30" Type="http://schemas.openxmlformats.org/officeDocument/2006/relationships/image" Target="../media/image-2-30.png"/><Relationship Id="rId31" Type="http://schemas.openxmlformats.org/officeDocument/2006/relationships/image" Target="../media/image-2-31.png"/><Relationship Id="rId32" Type="http://schemas.openxmlformats.org/officeDocument/2006/relationships/image" Target="../media/image-2-32.png"/><Relationship Id="rId33" Type="http://schemas.openxmlformats.org/officeDocument/2006/relationships/slideLayout" Target="../slideLayouts/slideLayout1.xml"/><Relationship Id="rId3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image" Target="../media/image-3-27.png"/><Relationship Id="rId28" Type="http://schemas.openxmlformats.org/officeDocument/2006/relationships/image" Target="../media/image-3-28.png"/><Relationship Id="rId29" Type="http://schemas.openxmlformats.org/officeDocument/2006/relationships/image" Target="../media/image-3-29.png"/><Relationship Id="rId30" Type="http://schemas.openxmlformats.org/officeDocument/2006/relationships/image" Target="../media/image-3-30.png"/><Relationship Id="rId31" Type="http://schemas.openxmlformats.org/officeDocument/2006/relationships/image" Target="../media/image-3-31.png"/><Relationship Id="rId32" Type="http://schemas.openxmlformats.org/officeDocument/2006/relationships/slideLayout" Target="../slideLayouts/slideLayout1.xml"/><Relationship Id="rId3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png"/><Relationship Id="rId24" Type="http://schemas.openxmlformats.org/officeDocument/2006/relationships/image" Target="../media/image-10-24.png"/><Relationship Id="rId25" Type="http://schemas.openxmlformats.org/officeDocument/2006/relationships/image" Target="../media/image-10-25.png"/><Relationship Id="rId26" Type="http://schemas.openxmlformats.org/officeDocument/2006/relationships/image" Target="../media/image-10-26.png"/><Relationship Id="rId27" Type="http://schemas.openxmlformats.org/officeDocument/2006/relationships/image" Target="../media/image-10-27.png"/><Relationship Id="rId28" Type="http://schemas.openxmlformats.org/officeDocument/2006/relationships/image" Target="../media/image-10-28.png"/><Relationship Id="rId29" Type="http://schemas.openxmlformats.org/officeDocument/2006/relationships/image" Target="../media/image-10-29.png"/><Relationship Id="rId30" Type="http://schemas.openxmlformats.org/officeDocument/2006/relationships/slideLayout" Target="../slideLayouts/slideLayout1.xml"/><Relationship Id="rId3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1.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Text 2"/>
          <p:cNvSpPr txBox="1"/>
          <p:nvPr/>
        </p:nvSpPr>
        <p:spPr>
          <a:xfrm>
            <a:off x="571500" y="1429207"/>
            <a:ext cx="7266737" cy="590702"/>
          </a:xfrm>
          <a:prstGeom prst="rect">
            <a:avLst/>
          </a:prstGeom>
          <a:noFill/>
          <a:ln/>
        </p:spPr>
        <p:txBody>
          <a:bodyPr wrap="square" lIns="0" tIns="0" rIns="0" bIns="0" rtlCol="0" anchor="ctr"/>
          <a:lstStyle/>
          <a:p>
            <a:pPr algn="l" indent="0" marL="0">
              <a:buNone/>
            </a:pPr>
            <a:r>
              <a:rPr lang="en-US" sz="4200" b="1" spc="-75" kern="0" dirty="0">
                <a:solidFill>
                  <a:srgbClr val="7761F4"/>
                </a:solidFill>
                <a:latin typeface="Inter" pitchFamily="34" charset="0"/>
                <a:ea typeface="Inter" pitchFamily="34" charset="-122"/>
                <a:cs typeface="Inter" pitchFamily="34" charset="-120"/>
              </a:rPr>
              <a:t>Intro to </a:t>
            </a:r>
            <a:pPr algn="l" indent="0" marL="0">
              <a:buNone/>
            </a:pPr>
            <a:r>
              <a:rPr lang="en-US" sz="4200" b="1" spc="-75" kern="0" dirty="0">
                <a:solidFill>
                  <a:srgbClr val="7761F4"/>
                </a:solidFill>
                <a:latin typeface="Inter" pitchFamily="34" charset="0"/>
                <a:ea typeface="Inter" pitchFamily="34" charset="-122"/>
                <a:cs typeface="Inter" pitchFamily="34" charset="-120"/>
              </a:rPr>
              <a:t>GenAI</a:t>
            </a:r>
            <a:pPr algn="l" indent="0" marL="0">
              <a:buNone/>
            </a:pPr>
            <a:r>
              <a:rPr lang="en-US" sz="4200" b="1" spc="-75" kern="0" dirty="0">
                <a:solidFill>
                  <a:srgbClr val="7761F4"/>
                </a:solidFill>
                <a:latin typeface="Inter" pitchFamily="34" charset="0"/>
                <a:ea typeface="Inter" pitchFamily="34" charset="-122"/>
                <a:cs typeface="Inter" pitchFamily="34" charset="-120"/>
              </a:rPr>
              <a:t> &amp; Setup</a:t>
            </a:r>
            <a:endParaRPr lang="en-US" sz="4200" dirty="0"/>
          </a:p>
        </p:txBody>
      </p:sp>
      <p:sp>
        <p:nvSpPr>
          <p:cNvPr id="5" name="Text 3"/>
          <p:cNvSpPr txBox="1"/>
          <p:nvPr/>
        </p:nvSpPr>
        <p:spPr>
          <a:xfrm>
            <a:off x="571500" y="2168042"/>
            <a:ext cx="5715000" cy="829361"/>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Master the foundational system setup required before any model logic. Learn why 80% of early GenAI project failures are setup/runtime related.</a:t>
            </a:r>
            <a:endParaRPr lang="en-US" sz="1300" dirty="0"/>
          </a:p>
        </p:txBody>
      </p:sp>
      <p:pic>
        <p:nvPicPr>
          <p:cNvPr id="6" name="Image 0" descr="preencoded.png">    </p:cNvPr>
          <p:cNvPicPr>
            <a:picLocks noChangeAspect="1"/>
          </p:cNvPicPr>
          <p:nvPr/>
        </p:nvPicPr>
        <p:blipFill>
          <a:blip r:embed="rId1"/>
          <a:srcRect l="0" r="0" t="-9" b="-9"/>
          <a:stretch/>
        </p:blipFill>
        <p:spPr>
          <a:xfrm>
            <a:off x="571500" y="3562502"/>
            <a:ext cx="6476695" cy="2324405"/>
          </a:xfrm>
          <a:prstGeom prst="rect">
            <a:avLst/>
          </a:prstGeom>
        </p:spPr>
      </p:pic>
      <p:sp>
        <p:nvSpPr>
          <p:cNvPr id="7" name="Text 4"/>
          <p:cNvSpPr txBox="1"/>
          <p:nvPr/>
        </p:nvSpPr>
        <p:spPr>
          <a:xfrm>
            <a:off x="1114654" y="3838651"/>
            <a:ext cx="5658307" cy="200254"/>
          </a:xfrm>
          <a:prstGeom prst="rect">
            <a:avLst/>
          </a:prstGeom>
          <a:noFill/>
          <a:ln/>
        </p:spPr>
        <p:txBody>
          <a:bodyPr wrap="square" lIns="0" tIns="0" rIns="0" bIns="0" rtlCol="0" anchor="ctr"/>
          <a:lstStyle/>
          <a:p>
            <a:pPr algn="l" indent="0" marL="0">
              <a:buNone/>
            </a:pPr>
            <a:r>
              <a:rPr lang="en-US" sz="1300" b="1" dirty="0">
                <a:solidFill>
                  <a:srgbClr val="1E293B"/>
                </a:solidFill>
                <a:latin typeface="Inter" pitchFamily="34" charset="0"/>
                <a:ea typeface="Inter" pitchFamily="34" charset="-122"/>
                <a:cs typeface="Inter" pitchFamily="34" charset="-120"/>
              </a:rPr>
              <a:t> Learning Objectives </a:t>
            </a:r>
            <a:endParaRPr lang="en-US" sz="1300" dirty="0"/>
          </a:p>
        </p:txBody>
      </p:sp>
      <p:pic>
        <p:nvPicPr>
          <p:cNvPr id="8" name="Image 1" descr="preencoded.png">    </p:cNvPr>
          <p:cNvPicPr>
            <a:picLocks noChangeAspect="1"/>
          </p:cNvPicPr>
          <p:nvPr/>
        </p:nvPicPr>
        <p:blipFill>
          <a:blip r:embed="rId2"/>
          <a:srcRect l="0" r="0" t="0" b="0"/>
          <a:stretch/>
        </p:blipFill>
        <p:spPr>
          <a:xfrm>
            <a:off x="847649" y="3862426"/>
            <a:ext cx="152705" cy="152705"/>
          </a:xfrm>
          <a:prstGeom prst="rect">
            <a:avLst/>
          </a:prstGeom>
        </p:spPr>
      </p:pic>
      <p:sp>
        <p:nvSpPr>
          <p:cNvPr id="9" name="Shape 5"/>
          <p:cNvSpPr/>
          <p:nvPr/>
        </p:nvSpPr>
        <p:spPr>
          <a:xfrm>
            <a:off x="847649" y="4229100"/>
            <a:ext cx="5924398" cy="371246"/>
          </a:xfrm>
          <a:prstGeom prst="roundRect">
            <a:avLst>
              <a:gd name="adj" fmla="val 101048"/>
            </a:avLst>
          </a:prstGeom>
          <a:solidFill>
            <a:srgbClr val="6366F1">
              <a:alpha val="3000"/>
            </a:srgbClr>
          </a:solidFill>
          <a:ln/>
        </p:spPr>
      </p:sp>
      <p:sp>
        <p:nvSpPr>
          <p:cNvPr id="10" name="Shape 6"/>
          <p:cNvSpPr/>
          <p:nvPr/>
        </p:nvSpPr>
        <p:spPr>
          <a:xfrm>
            <a:off x="847649" y="4229100"/>
            <a:ext cx="28346" cy="371246"/>
          </a:xfrm>
          <a:prstGeom prst="roundRect">
            <a:avLst>
              <a:gd name="adj" fmla="val 1323426"/>
            </a:avLst>
          </a:prstGeom>
          <a:solidFill>
            <a:srgbClr val="6366F1"/>
          </a:solidFill>
          <a:ln w="12700">
            <a:solidFill>
              <a:srgbClr val="6366F1">
                <a:alpha val="0"/>
              </a:srgbClr>
            </a:solidFill>
            <a:prstDash val="solid"/>
          </a:ln>
        </p:spPr>
      </p:sp>
      <p:pic>
        <p:nvPicPr>
          <p:cNvPr id="11" name="Image 2" descr="preencoded.png">    </p:cNvPr>
          <p:cNvPicPr>
            <a:picLocks noChangeAspect="1"/>
          </p:cNvPicPr>
          <p:nvPr/>
        </p:nvPicPr>
        <p:blipFill>
          <a:blip r:embed="rId3"/>
          <a:srcRect l="0" r="0" t="0" b="0"/>
          <a:stretch/>
        </p:blipFill>
        <p:spPr>
          <a:xfrm>
            <a:off x="1009498" y="4347972"/>
            <a:ext cx="133502" cy="133502"/>
          </a:xfrm>
          <a:prstGeom prst="rect">
            <a:avLst/>
          </a:prstGeom>
        </p:spPr>
      </p:pic>
      <p:sp>
        <p:nvSpPr>
          <p:cNvPr id="12" name="Text 7"/>
          <p:cNvSpPr txBox="1"/>
          <p:nvPr/>
        </p:nvSpPr>
        <p:spPr>
          <a:xfrm>
            <a:off x="1257300" y="4229100"/>
            <a:ext cx="3458261" cy="372161"/>
          </a:xfrm>
          <a:prstGeom prst="rect">
            <a:avLst/>
          </a:prstGeom>
          <a:noFill/>
          <a:ln/>
        </p:spPr>
        <p:txBody>
          <a:bodyPr wrap="square" lIns="0" tIns="0" rIns="0" bIns="0" rtlCol="0" anchor="ctr"/>
          <a:lstStyle/>
          <a:p>
            <a:pPr algn="l" indent="0" marL="0">
              <a:buNone/>
            </a:pPr>
            <a:r>
              <a:rPr lang="en-US" sz="1100" dirty="0">
                <a:solidFill>
                  <a:srgbClr val="475569"/>
                </a:solidFill>
                <a:latin typeface="Inter" pitchFamily="34" charset="0"/>
                <a:ea typeface="Inter" pitchFamily="34" charset="-122"/>
                <a:cs typeface="Inter" pitchFamily="34" charset="-120"/>
              </a:rPr>
              <a:t>Understand why setup happens before model logic</a:t>
            </a:r>
            <a:endParaRPr lang="en-US" sz="1100" dirty="0"/>
          </a:p>
        </p:txBody>
      </p:sp>
      <p:sp>
        <p:nvSpPr>
          <p:cNvPr id="13" name="Shape 8"/>
          <p:cNvSpPr/>
          <p:nvPr/>
        </p:nvSpPr>
        <p:spPr>
          <a:xfrm>
            <a:off x="847649" y="4733849"/>
            <a:ext cx="5924398" cy="371246"/>
          </a:xfrm>
          <a:prstGeom prst="roundRect">
            <a:avLst>
              <a:gd name="adj" fmla="val 101048"/>
            </a:avLst>
          </a:prstGeom>
          <a:solidFill>
            <a:srgbClr val="6366F1">
              <a:alpha val="3000"/>
            </a:srgbClr>
          </a:solidFill>
          <a:ln/>
        </p:spPr>
      </p:sp>
      <p:sp>
        <p:nvSpPr>
          <p:cNvPr id="14" name="Shape 9"/>
          <p:cNvSpPr/>
          <p:nvPr/>
        </p:nvSpPr>
        <p:spPr>
          <a:xfrm>
            <a:off x="847649" y="4733849"/>
            <a:ext cx="28346" cy="371246"/>
          </a:xfrm>
          <a:prstGeom prst="roundRect">
            <a:avLst>
              <a:gd name="adj" fmla="val 1323426"/>
            </a:avLst>
          </a:prstGeom>
          <a:solidFill>
            <a:srgbClr val="6366F1"/>
          </a:solidFill>
          <a:ln w="12700">
            <a:solidFill>
              <a:srgbClr val="6366F1">
                <a:alpha val="0"/>
              </a:srgbClr>
            </a:solidFill>
            <a:prstDash val="solid"/>
          </a:ln>
        </p:spPr>
      </p:sp>
      <p:pic>
        <p:nvPicPr>
          <p:cNvPr id="15" name="Image 3" descr="preencoded.png">    </p:cNvPr>
          <p:cNvPicPr>
            <a:picLocks noChangeAspect="1"/>
          </p:cNvPicPr>
          <p:nvPr/>
        </p:nvPicPr>
        <p:blipFill>
          <a:blip r:embed="rId4"/>
          <a:srcRect l="0" r="0" t="0" b="0"/>
          <a:stretch/>
        </p:blipFill>
        <p:spPr>
          <a:xfrm>
            <a:off x="1009498" y="4852721"/>
            <a:ext cx="133502" cy="133502"/>
          </a:xfrm>
          <a:prstGeom prst="rect">
            <a:avLst/>
          </a:prstGeom>
        </p:spPr>
      </p:pic>
      <p:sp>
        <p:nvSpPr>
          <p:cNvPr id="16" name="Text 10"/>
          <p:cNvSpPr txBox="1"/>
          <p:nvPr/>
        </p:nvSpPr>
        <p:spPr>
          <a:xfrm>
            <a:off x="1257300" y="4733849"/>
            <a:ext cx="3010205" cy="372161"/>
          </a:xfrm>
          <a:prstGeom prst="rect">
            <a:avLst/>
          </a:prstGeom>
          <a:noFill/>
          <a:ln/>
        </p:spPr>
        <p:txBody>
          <a:bodyPr wrap="square" lIns="0" tIns="0" rIns="0" bIns="0" rtlCol="0" anchor="ctr"/>
          <a:lstStyle/>
          <a:p>
            <a:pPr algn="l" indent="0" marL="0">
              <a:buNone/>
            </a:pPr>
            <a:r>
              <a:rPr lang="en-US" sz="1100" dirty="0">
                <a:solidFill>
                  <a:srgbClr val="475569"/>
                </a:solidFill>
                <a:latin typeface="Inter" pitchFamily="34" charset="0"/>
                <a:ea typeface="Inter" pitchFamily="34" charset="-122"/>
                <a:cs typeface="Inter" pitchFamily="34" charset="-120"/>
              </a:rPr>
              <a:t>Know the 4 stages of environment bootstrap</a:t>
            </a:r>
            <a:endParaRPr lang="en-US" sz="1100" dirty="0"/>
          </a:p>
        </p:txBody>
      </p:sp>
      <p:sp>
        <p:nvSpPr>
          <p:cNvPr id="17" name="Shape 11"/>
          <p:cNvSpPr/>
          <p:nvPr/>
        </p:nvSpPr>
        <p:spPr>
          <a:xfrm>
            <a:off x="847649" y="5238598"/>
            <a:ext cx="5924398" cy="371246"/>
          </a:xfrm>
          <a:prstGeom prst="roundRect">
            <a:avLst>
              <a:gd name="adj" fmla="val 101048"/>
            </a:avLst>
          </a:prstGeom>
          <a:solidFill>
            <a:srgbClr val="6366F1">
              <a:alpha val="3000"/>
            </a:srgbClr>
          </a:solidFill>
          <a:ln/>
        </p:spPr>
      </p:sp>
      <p:sp>
        <p:nvSpPr>
          <p:cNvPr id="18" name="Shape 12"/>
          <p:cNvSpPr/>
          <p:nvPr/>
        </p:nvSpPr>
        <p:spPr>
          <a:xfrm>
            <a:off x="847649" y="5238598"/>
            <a:ext cx="28346" cy="371246"/>
          </a:xfrm>
          <a:prstGeom prst="roundRect">
            <a:avLst>
              <a:gd name="adj" fmla="val 1323426"/>
            </a:avLst>
          </a:prstGeom>
          <a:solidFill>
            <a:srgbClr val="6366F1"/>
          </a:solidFill>
          <a:ln w="12700">
            <a:solidFill>
              <a:srgbClr val="6366F1">
                <a:alpha val="0"/>
              </a:srgbClr>
            </a:solidFill>
            <a:prstDash val="solid"/>
          </a:ln>
        </p:spPr>
      </p:sp>
      <p:pic>
        <p:nvPicPr>
          <p:cNvPr id="19" name="Image 4" descr="preencoded.png">    </p:cNvPr>
          <p:cNvPicPr>
            <a:picLocks noChangeAspect="1"/>
          </p:cNvPicPr>
          <p:nvPr/>
        </p:nvPicPr>
        <p:blipFill>
          <a:blip r:embed="rId5"/>
          <a:srcRect l="0" r="0" t="0" b="0"/>
          <a:stretch/>
        </p:blipFill>
        <p:spPr>
          <a:xfrm>
            <a:off x="1009498" y="5357470"/>
            <a:ext cx="133502" cy="133502"/>
          </a:xfrm>
          <a:prstGeom prst="rect">
            <a:avLst/>
          </a:prstGeom>
        </p:spPr>
      </p:pic>
      <p:sp>
        <p:nvSpPr>
          <p:cNvPr id="20" name="Text 13"/>
          <p:cNvSpPr txBox="1"/>
          <p:nvPr/>
        </p:nvSpPr>
        <p:spPr>
          <a:xfrm>
            <a:off x="1257300" y="5238598"/>
            <a:ext cx="2296058" cy="372161"/>
          </a:xfrm>
          <a:prstGeom prst="rect">
            <a:avLst/>
          </a:prstGeom>
          <a:noFill/>
          <a:ln/>
        </p:spPr>
        <p:txBody>
          <a:bodyPr wrap="square" lIns="0" tIns="0" rIns="0" bIns="0" rtlCol="0" anchor="ctr"/>
          <a:lstStyle/>
          <a:p>
            <a:pPr algn="l" indent="0" marL="0">
              <a:buNone/>
            </a:pPr>
            <a:r>
              <a:rPr lang="en-US" sz="1100" dirty="0">
                <a:solidFill>
                  <a:srgbClr val="475569"/>
                </a:solidFill>
                <a:latin typeface="Inter" pitchFamily="34" charset="0"/>
                <a:ea typeface="Inter" pitchFamily="34" charset="-122"/>
                <a:cs typeface="Inter" pitchFamily="34" charset="-120"/>
              </a:rPr>
              <a:t>Verify Ollama models are installed</a:t>
            </a:r>
            <a:endParaRPr lang="en-US" sz="1100" dirty="0"/>
          </a:p>
        </p:txBody>
      </p:sp>
      <p:sp>
        <p:nvSpPr>
          <p:cNvPr id="21" name="Shape 14"/>
          <p:cNvSpPr/>
          <p:nvPr/>
        </p:nvSpPr>
        <p:spPr>
          <a:xfrm>
            <a:off x="571500" y="6191402"/>
            <a:ext cx="1324051" cy="333756"/>
          </a:xfrm>
          <a:prstGeom prst="roundRect">
            <a:avLst>
              <a:gd name="adj" fmla="val 125245"/>
            </a:avLst>
          </a:prstGeom>
          <a:solidFill>
            <a:srgbClr val="FFFFFF"/>
          </a:solidFill>
          <a:ln w="12700">
            <a:solidFill>
              <a:srgbClr val="E2E8F0">
                <a:alpha val="80000"/>
              </a:srgbClr>
            </a:solidFill>
            <a:prstDash val="solid"/>
          </a:ln>
        </p:spPr>
      </p:sp>
      <p:pic>
        <p:nvPicPr>
          <p:cNvPr id="22" name="Image 5" descr="preencoded.png">    </p:cNvPr>
          <p:cNvPicPr>
            <a:picLocks noChangeAspect="1"/>
          </p:cNvPicPr>
          <p:nvPr/>
        </p:nvPicPr>
        <p:blipFill>
          <a:blip r:embed="rId6"/>
          <a:srcRect l="0" r="0" t="-1359" b="-1359"/>
          <a:stretch/>
        </p:blipFill>
        <p:spPr>
          <a:xfrm>
            <a:off x="733349" y="6295644"/>
            <a:ext cx="105156" cy="123444"/>
          </a:xfrm>
          <a:prstGeom prst="rect">
            <a:avLst/>
          </a:prstGeom>
        </p:spPr>
      </p:pic>
      <p:sp>
        <p:nvSpPr>
          <p:cNvPr id="23" name="Text 15"/>
          <p:cNvSpPr txBox="1"/>
          <p:nvPr/>
        </p:nvSpPr>
        <p:spPr>
          <a:xfrm>
            <a:off x="914400" y="6191402"/>
            <a:ext cx="819302" cy="333756"/>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Python 3.10+</a:t>
            </a:r>
            <a:endParaRPr lang="en-US" sz="1000" dirty="0"/>
          </a:p>
        </p:txBody>
      </p:sp>
      <p:sp>
        <p:nvSpPr>
          <p:cNvPr id="24" name="Shape 16"/>
          <p:cNvSpPr/>
          <p:nvPr/>
        </p:nvSpPr>
        <p:spPr>
          <a:xfrm>
            <a:off x="2004365" y="6191402"/>
            <a:ext cx="990295" cy="333756"/>
          </a:xfrm>
          <a:prstGeom prst="roundRect">
            <a:avLst>
              <a:gd name="adj" fmla="val 125245"/>
            </a:avLst>
          </a:prstGeom>
          <a:solidFill>
            <a:srgbClr val="FFFFFF"/>
          </a:solidFill>
          <a:ln w="12700">
            <a:solidFill>
              <a:srgbClr val="E2E8F0">
                <a:alpha val="80000"/>
              </a:srgbClr>
            </a:solidFill>
            <a:prstDash val="solid"/>
          </a:ln>
        </p:spPr>
      </p:sp>
      <p:pic>
        <p:nvPicPr>
          <p:cNvPr id="25" name="Image 6" descr="preencoded.png">    </p:cNvPr>
          <p:cNvPicPr>
            <a:picLocks noChangeAspect="1"/>
          </p:cNvPicPr>
          <p:nvPr/>
        </p:nvPicPr>
        <p:blipFill>
          <a:blip r:embed="rId7"/>
          <a:srcRect l="0" r="0" t="-524" b="-524"/>
          <a:stretch/>
        </p:blipFill>
        <p:spPr>
          <a:xfrm>
            <a:off x="2166214" y="6295644"/>
            <a:ext cx="152705" cy="123444"/>
          </a:xfrm>
          <a:prstGeom prst="rect">
            <a:avLst/>
          </a:prstGeom>
        </p:spPr>
      </p:pic>
      <p:sp>
        <p:nvSpPr>
          <p:cNvPr id="26" name="Text 17"/>
          <p:cNvSpPr txBox="1"/>
          <p:nvPr/>
        </p:nvSpPr>
        <p:spPr>
          <a:xfrm>
            <a:off x="2394814" y="6191402"/>
            <a:ext cx="438912" cy="333756"/>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Ollama</a:t>
            </a:r>
            <a:endParaRPr lang="en-US" sz="1000" dirty="0"/>
          </a:p>
        </p:txBody>
      </p:sp>
      <p:sp>
        <p:nvSpPr>
          <p:cNvPr id="27" name="Shape 18"/>
          <p:cNvSpPr/>
          <p:nvPr/>
        </p:nvSpPr>
        <p:spPr>
          <a:xfrm>
            <a:off x="3104388" y="6191402"/>
            <a:ext cx="1218895" cy="333756"/>
          </a:xfrm>
          <a:prstGeom prst="roundRect">
            <a:avLst>
              <a:gd name="adj" fmla="val 125245"/>
            </a:avLst>
          </a:prstGeom>
          <a:solidFill>
            <a:srgbClr val="FFFFFF"/>
          </a:solidFill>
          <a:ln w="12700">
            <a:solidFill>
              <a:srgbClr val="E2E8F0">
                <a:alpha val="80000"/>
              </a:srgbClr>
            </a:solidFill>
            <a:prstDash val="solid"/>
          </a:ln>
        </p:spPr>
      </p:sp>
      <p:pic>
        <p:nvPicPr>
          <p:cNvPr id="28" name="Image 7" descr="preencoded.png">    </p:cNvPr>
          <p:cNvPicPr>
            <a:picLocks noChangeAspect="1"/>
          </p:cNvPicPr>
          <p:nvPr/>
        </p:nvPicPr>
        <p:blipFill>
          <a:blip r:embed="rId8"/>
          <a:srcRect l="-1358" r="-1358" t="0" b="0"/>
          <a:stretch/>
        </p:blipFill>
        <p:spPr>
          <a:xfrm>
            <a:off x="3266237" y="6295644"/>
            <a:ext cx="142646" cy="123444"/>
          </a:xfrm>
          <a:prstGeom prst="rect">
            <a:avLst/>
          </a:prstGeom>
        </p:spPr>
      </p:pic>
      <p:sp>
        <p:nvSpPr>
          <p:cNvPr id="29" name="Text 19"/>
          <p:cNvSpPr txBox="1"/>
          <p:nvPr/>
        </p:nvSpPr>
        <p:spPr>
          <a:xfrm>
            <a:off x="3485693" y="6191402"/>
            <a:ext cx="676656" cy="333756"/>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LangChain</a:t>
            </a:r>
            <a:endParaRPr lang="en-US" sz="1000" dirty="0"/>
          </a:p>
        </p:txBody>
      </p:sp>
      <p:sp>
        <p:nvSpPr>
          <p:cNvPr id="30" name="Shape 20"/>
          <p:cNvSpPr/>
          <p:nvPr/>
        </p:nvSpPr>
        <p:spPr>
          <a:xfrm>
            <a:off x="4434840" y="6191402"/>
            <a:ext cx="1190549" cy="333756"/>
          </a:xfrm>
          <a:prstGeom prst="roundRect">
            <a:avLst>
              <a:gd name="adj" fmla="val 125245"/>
            </a:avLst>
          </a:prstGeom>
          <a:solidFill>
            <a:srgbClr val="FFFFFF"/>
          </a:solidFill>
          <a:ln w="12700">
            <a:solidFill>
              <a:srgbClr val="E2E8F0">
                <a:alpha val="80000"/>
              </a:srgbClr>
            </a:solidFill>
            <a:prstDash val="solid"/>
          </a:ln>
        </p:spPr>
      </p:sp>
      <p:pic>
        <p:nvPicPr>
          <p:cNvPr id="31" name="Image 8" descr="preencoded.png">    </p:cNvPr>
          <p:cNvPicPr>
            <a:picLocks noChangeAspect="1"/>
          </p:cNvPicPr>
          <p:nvPr/>
        </p:nvPicPr>
        <p:blipFill>
          <a:blip r:embed="rId9"/>
          <a:srcRect l="0" r="0" t="-1359" b="-1359"/>
          <a:stretch/>
        </p:blipFill>
        <p:spPr>
          <a:xfrm>
            <a:off x="4596689" y="6295644"/>
            <a:ext cx="105156" cy="123444"/>
          </a:xfrm>
          <a:prstGeom prst="rect">
            <a:avLst/>
          </a:prstGeom>
        </p:spPr>
      </p:pic>
      <p:sp>
        <p:nvSpPr>
          <p:cNvPr id="32" name="Text 21"/>
          <p:cNvSpPr txBox="1"/>
          <p:nvPr/>
        </p:nvSpPr>
        <p:spPr>
          <a:xfrm>
            <a:off x="4777740" y="6191402"/>
            <a:ext cx="685800" cy="333756"/>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ChromaDB</a:t>
            </a:r>
            <a:endParaRPr lang="en-US" sz="1000" dirty="0"/>
          </a:p>
        </p:txBody>
      </p:sp>
      <p:sp>
        <p:nvSpPr>
          <p:cNvPr id="33" name="Shape 22"/>
          <p:cNvSpPr/>
          <p:nvPr/>
        </p:nvSpPr>
        <p:spPr>
          <a:xfrm>
            <a:off x="5733288" y="6191402"/>
            <a:ext cx="1086307" cy="333756"/>
          </a:xfrm>
          <a:prstGeom prst="roundRect">
            <a:avLst>
              <a:gd name="adj" fmla="val 125245"/>
            </a:avLst>
          </a:prstGeom>
          <a:solidFill>
            <a:srgbClr val="FFFFFF"/>
          </a:solidFill>
          <a:ln w="12700">
            <a:solidFill>
              <a:srgbClr val="E2E8F0">
                <a:alpha val="80000"/>
              </a:srgbClr>
            </a:solidFill>
            <a:prstDash val="solid"/>
          </a:ln>
        </p:spPr>
      </p:sp>
      <p:pic>
        <p:nvPicPr>
          <p:cNvPr id="34" name="Image 9" descr="preencoded.png">    </p:cNvPr>
          <p:cNvPicPr>
            <a:picLocks noChangeAspect="1"/>
          </p:cNvPicPr>
          <p:nvPr/>
        </p:nvPicPr>
        <p:blipFill>
          <a:blip r:embed="rId10"/>
          <a:srcRect l="0" r="0" t="0" b="0"/>
          <a:stretch/>
        </p:blipFill>
        <p:spPr>
          <a:xfrm>
            <a:off x="5895137" y="6295644"/>
            <a:ext cx="123444" cy="123444"/>
          </a:xfrm>
          <a:prstGeom prst="rect">
            <a:avLst/>
          </a:prstGeom>
        </p:spPr>
      </p:pic>
      <p:sp>
        <p:nvSpPr>
          <p:cNvPr id="35" name="Text 23"/>
          <p:cNvSpPr txBox="1"/>
          <p:nvPr/>
        </p:nvSpPr>
        <p:spPr>
          <a:xfrm>
            <a:off x="6095390" y="6191402"/>
            <a:ext cx="562356" cy="333756"/>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Streamlit</a:t>
            </a:r>
            <a:endParaRPr lang="en-US" sz="1000" dirty="0"/>
          </a:p>
        </p:txBody>
      </p:sp>
      <p:pic>
        <p:nvPicPr>
          <p:cNvPr id="36" name="Image 10" descr="preencoded.png">    </p:cNvPr>
          <p:cNvPicPr>
            <a:picLocks noChangeAspect="1"/>
          </p:cNvPicPr>
          <p:nvPr/>
        </p:nvPicPr>
        <p:blipFill>
          <a:blip r:embed="rId11"/>
          <a:srcRect l="-4" r="-4" t="0" b="0"/>
          <a:stretch/>
        </p:blipFill>
        <p:spPr>
          <a:xfrm>
            <a:off x="7429500" y="1166774"/>
            <a:ext cx="4190695" cy="2523744"/>
          </a:xfrm>
          <a:prstGeom prst="rect">
            <a:avLst/>
          </a:prstGeom>
        </p:spPr>
      </p:pic>
      <p:sp>
        <p:nvSpPr>
          <p:cNvPr id="37" name="Text 24"/>
          <p:cNvSpPr txBox="1"/>
          <p:nvPr/>
        </p:nvSpPr>
        <p:spPr>
          <a:xfrm>
            <a:off x="7924190" y="1452982"/>
            <a:ext cx="1361542"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 System Status </a:t>
            </a:r>
            <a:endParaRPr lang="en-US" sz="1200" dirty="0"/>
          </a:p>
        </p:txBody>
      </p:sp>
      <p:pic>
        <p:nvPicPr>
          <p:cNvPr id="38" name="Image 11" descr="preencoded.png">    </p:cNvPr>
          <p:cNvPicPr>
            <a:picLocks noChangeAspect="1"/>
          </p:cNvPicPr>
          <p:nvPr/>
        </p:nvPicPr>
        <p:blipFill>
          <a:blip r:embed="rId12"/>
          <a:srcRect l="0" r="0" t="0" b="0"/>
          <a:stretch/>
        </p:blipFill>
        <p:spPr>
          <a:xfrm>
            <a:off x="7667244" y="1466698"/>
            <a:ext cx="161849" cy="161849"/>
          </a:xfrm>
          <a:prstGeom prst="rect">
            <a:avLst/>
          </a:prstGeom>
        </p:spPr>
      </p:pic>
      <p:sp>
        <p:nvSpPr>
          <p:cNvPr id="39" name="Shape 25"/>
          <p:cNvSpPr/>
          <p:nvPr/>
        </p:nvSpPr>
        <p:spPr>
          <a:xfrm>
            <a:off x="10724998" y="1404518"/>
            <a:ext cx="657454" cy="286207"/>
          </a:xfrm>
          <a:prstGeom prst="roundRect">
            <a:avLst>
              <a:gd name="adj" fmla="val 127796"/>
            </a:avLst>
          </a:prstGeom>
          <a:solidFill>
            <a:srgbClr val="10B981">
              <a:alpha val="10000"/>
            </a:srgbClr>
          </a:solidFill>
          <a:ln w="12700">
            <a:solidFill>
              <a:srgbClr val="10B981">
                <a:alpha val="20000"/>
              </a:srgbClr>
            </a:solidFill>
            <a:prstDash val="solid"/>
          </a:ln>
        </p:spPr>
      </p:sp>
      <p:sp>
        <p:nvSpPr>
          <p:cNvPr id="40" name="Text 26"/>
          <p:cNvSpPr txBox="1"/>
          <p:nvPr/>
        </p:nvSpPr>
        <p:spPr>
          <a:xfrm>
            <a:off x="10724998" y="1404518"/>
            <a:ext cx="657454"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dirty="0">
                <a:solidFill>
                  <a:srgbClr val="10B981"/>
                </a:solidFill>
                <a:latin typeface="Inter" pitchFamily="34" charset="0"/>
                <a:ea typeface="Inter" pitchFamily="34" charset="-122"/>
                <a:cs typeface="Inter" pitchFamily="34" charset="-120"/>
              </a:rPr>
              <a:t>Ready</a:t>
            </a:r>
            <a:endParaRPr lang="en-US" sz="900" dirty="0"/>
          </a:p>
        </p:txBody>
      </p:sp>
      <p:sp>
        <p:nvSpPr>
          <p:cNvPr id="41" name="Shape 27"/>
          <p:cNvSpPr/>
          <p:nvPr/>
        </p:nvSpPr>
        <p:spPr>
          <a:xfrm>
            <a:off x="7667244" y="1880921"/>
            <a:ext cx="3715207" cy="448056"/>
          </a:xfrm>
          <a:prstGeom prst="roundRect">
            <a:avLst>
              <a:gd name="adj" fmla="val 86843"/>
            </a:avLst>
          </a:prstGeom>
          <a:solidFill>
            <a:srgbClr val="F8FAFC">
              <a:alpha val="80000"/>
            </a:srgbClr>
          </a:solidFill>
          <a:ln w="12700">
            <a:solidFill>
              <a:srgbClr val="E2E8F0">
                <a:alpha val="60000"/>
              </a:srgbClr>
            </a:solidFill>
            <a:prstDash val="solid"/>
          </a:ln>
        </p:spPr>
      </p:sp>
      <p:sp>
        <p:nvSpPr>
          <p:cNvPr id="42" name="Shape 28"/>
          <p:cNvSpPr/>
          <p:nvPr/>
        </p:nvSpPr>
        <p:spPr>
          <a:xfrm>
            <a:off x="7830007" y="2066544"/>
            <a:ext cx="75895" cy="75895"/>
          </a:xfrm>
          <a:prstGeom prst="ellipse">
            <a:avLst/>
          </a:prstGeom>
          <a:solidFill>
            <a:srgbClr val="10B981"/>
          </a:solidFill>
          <a:ln w="12700">
            <a:solidFill>
              <a:srgbClr val="FFFFFF">
                <a:alpha val="0"/>
              </a:srgbClr>
            </a:solidFill>
            <a:prstDash val="solid"/>
          </a:ln>
        </p:spPr>
      </p:sp>
      <p:sp>
        <p:nvSpPr>
          <p:cNvPr id="43" name="Text 29"/>
          <p:cNvSpPr txBox="1"/>
          <p:nvPr/>
        </p:nvSpPr>
        <p:spPr>
          <a:xfrm>
            <a:off x="8020202" y="2024482"/>
            <a:ext cx="903427" cy="162763"/>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Ollama CLI</a:t>
            </a:r>
            <a:endParaRPr lang="en-US" sz="1000" dirty="0"/>
          </a:p>
        </p:txBody>
      </p:sp>
      <p:sp>
        <p:nvSpPr>
          <p:cNvPr id="44" name="Text 30"/>
          <p:cNvSpPr txBox="1"/>
          <p:nvPr/>
        </p:nvSpPr>
        <p:spPr>
          <a:xfrm>
            <a:off x="10720426" y="2029054"/>
            <a:ext cx="745236" cy="152705"/>
          </a:xfrm>
          <a:prstGeom prst="rect">
            <a:avLst/>
          </a:prstGeom>
          <a:noFill/>
          <a:ln/>
        </p:spPr>
        <p:txBody>
          <a:bodyPr wrap="squar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Installed</a:t>
            </a:r>
            <a:endParaRPr lang="en-US" sz="900" dirty="0"/>
          </a:p>
        </p:txBody>
      </p:sp>
      <p:sp>
        <p:nvSpPr>
          <p:cNvPr id="45" name="Shape 31"/>
          <p:cNvSpPr/>
          <p:nvPr/>
        </p:nvSpPr>
        <p:spPr>
          <a:xfrm>
            <a:off x="7667244" y="2443277"/>
            <a:ext cx="3715207" cy="448056"/>
          </a:xfrm>
          <a:prstGeom prst="roundRect">
            <a:avLst>
              <a:gd name="adj" fmla="val 86843"/>
            </a:avLst>
          </a:prstGeom>
          <a:solidFill>
            <a:srgbClr val="F8FAFC">
              <a:alpha val="80000"/>
            </a:srgbClr>
          </a:solidFill>
          <a:ln w="12700">
            <a:solidFill>
              <a:srgbClr val="E2E8F0">
                <a:alpha val="60000"/>
              </a:srgbClr>
            </a:solidFill>
            <a:prstDash val="solid"/>
          </a:ln>
        </p:spPr>
      </p:sp>
      <p:sp>
        <p:nvSpPr>
          <p:cNvPr id="46" name="Shape 32"/>
          <p:cNvSpPr/>
          <p:nvPr/>
        </p:nvSpPr>
        <p:spPr>
          <a:xfrm>
            <a:off x="7830007" y="2628900"/>
            <a:ext cx="75895" cy="75895"/>
          </a:xfrm>
          <a:prstGeom prst="ellipse">
            <a:avLst/>
          </a:prstGeom>
          <a:solidFill>
            <a:srgbClr val="10B981"/>
          </a:solidFill>
          <a:ln w="12700">
            <a:solidFill>
              <a:srgbClr val="FFFFFF">
                <a:alpha val="0"/>
              </a:srgbClr>
            </a:solidFill>
            <a:prstDash val="solid"/>
          </a:ln>
        </p:spPr>
      </p:sp>
      <p:sp>
        <p:nvSpPr>
          <p:cNvPr id="47" name="Text 33"/>
          <p:cNvSpPr txBox="1"/>
          <p:nvPr/>
        </p:nvSpPr>
        <p:spPr>
          <a:xfrm>
            <a:off x="8020202" y="2585923"/>
            <a:ext cx="1264615" cy="162763"/>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llama3.2 Model</a:t>
            </a:r>
            <a:endParaRPr lang="en-US" sz="1000" dirty="0"/>
          </a:p>
        </p:txBody>
      </p:sp>
      <p:sp>
        <p:nvSpPr>
          <p:cNvPr id="48" name="Text 34"/>
          <p:cNvSpPr txBox="1"/>
          <p:nvPr/>
        </p:nvSpPr>
        <p:spPr>
          <a:xfrm>
            <a:off x="10822838" y="2590495"/>
            <a:ext cx="506578" cy="152705"/>
          </a:xfrm>
          <a:prstGeom prst="rect">
            <a:avLst/>
          </a:prstGeom>
          <a:noFill/>
          <a:ln/>
        </p:spPr>
        <p:txBody>
          <a:bodyPr wrap="squar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2.0 GB</a:t>
            </a:r>
            <a:endParaRPr lang="en-US" sz="900" dirty="0"/>
          </a:p>
        </p:txBody>
      </p:sp>
      <p:sp>
        <p:nvSpPr>
          <p:cNvPr id="49" name="Shape 35"/>
          <p:cNvSpPr/>
          <p:nvPr/>
        </p:nvSpPr>
        <p:spPr>
          <a:xfrm>
            <a:off x="7667244" y="3004718"/>
            <a:ext cx="3715207" cy="448056"/>
          </a:xfrm>
          <a:prstGeom prst="roundRect">
            <a:avLst>
              <a:gd name="adj" fmla="val 86843"/>
            </a:avLst>
          </a:prstGeom>
          <a:solidFill>
            <a:srgbClr val="F8FAFC">
              <a:alpha val="80000"/>
            </a:srgbClr>
          </a:solidFill>
          <a:ln w="12700">
            <a:solidFill>
              <a:srgbClr val="E2E8F0">
                <a:alpha val="60000"/>
              </a:srgbClr>
            </a:solidFill>
            <a:prstDash val="solid"/>
          </a:ln>
        </p:spPr>
      </p:sp>
      <p:sp>
        <p:nvSpPr>
          <p:cNvPr id="50" name="Shape 36"/>
          <p:cNvSpPr/>
          <p:nvPr/>
        </p:nvSpPr>
        <p:spPr>
          <a:xfrm>
            <a:off x="7830007" y="3191256"/>
            <a:ext cx="75895" cy="75895"/>
          </a:xfrm>
          <a:prstGeom prst="ellipse">
            <a:avLst/>
          </a:prstGeom>
          <a:solidFill>
            <a:srgbClr val="10B981"/>
          </a:solidFill>
          <a:ln w="12700">
            <a:solidFill>
              <a:srgbClr val="FFFFFF">
                <a:alpha val="0"/>
              </a:srgbClr>
            </a:solidFill>
            <a:prstDash val="solid"/>
          </a:ln>
        </p:spPr>
      </p:sp>
      <p:sp>
        <p:nvSpPr>
          <p:cNvPr id="51" name="Text 37"/>
          <p:cNvSpPr txBox="1"/>
          <p:nvPr/>
        </p:nvSpPr>
        <p:spPr>
          <a:xfrm>
            <a:off x="8020202" y="3148279"/>
            <a:ext cx="1457554" cy="162763"/>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nomic-embed-text</a:t>
            </a:r>
            <a:endParaRPr lang="en-US" sz="1000" dirty="0"/>
          </a:p>
        </p:txBody>
      </p:sp>
      <p:sp>
        <p:nvSpPr>
          <p:cNvPr id="52" name="Text 38"/>
          <p:cNvSpPr txBox="1"/>
          <p:nvPr/>
        </p:nvSpPr>
        <p:spPr>
          <a:xfrm>
            <a:off x="10771632" y="3152851"/>
            <a:ext cx="457200" cy="152705"/>
          </a:xfrm>
          <a:prstGeom prst="rect">
            <a:avLst/>
          </a:prstGeom>
          <a:noFill/>
          <a:ln/>
        </p:spPr>
        <p:txBody>
          <a:bodyPr wrap="squar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274 MB</a:t>
            </a:r>
            <a:endParaRPr lang="en-US" sz="900" dirty="0"/>
          </a:p>
        </p:txBody>
      </p:sp>
      <p:pic>
        <p:nvPicPr>
          <p:cNvPr id="53" name="Image 12" descr="preencoded.png">    </p:cNvPr>
          <p:cNvPicPr>
            <a:picLocks noChangeAspect="1"/>
          </p:cNvPicPr>
          <p:nvPr/>
        </p:nvPicPr>
        <p:blipFill>
          <a:blip r:embed="rId13"/>
          <a:srcRect l="0" r="0" t="-13" b="-13"/>
          <a:stretch/>
        </p:blipFill>
        <p:spPr>
          <a:xfrm>
            <a:off x="7429500" y="3919118"/>
            <a:ext cx="4190695" cy="2343607"/>
          </a:xfrm>
          <a:prstGeom prst="rect">
            <a:avLst/>
          </a:prstGeom>
        </p:spPr>
      </p:pic>
      <p:sp>
        <p:nvSpPr>
          <p:cNvPr id="54" name="Text 39"/>
          <p:cNvSpPr txBox="1"/>
          <p:nvPr/>
        </p:nvSpPr>
        <p:spPr>
          <a:xfrm>
            <a:off x="7904988" y="4157777"/>
            <a:ext cx="1599286"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 Preflight Checks </a:t>
            </a:r>
            <a:endParaRPr lang="en-US" sz="1200" dirty="0"/>
          </a:p>
        </p:txBody>
      </p:sp>
      <p:pic>
        <p:nvPicPr>
          <p:cNvPr id="55" name="Image 13" descr="preencoded.png">    </p:cNvPr>
          <p:cNvPicPr>
            <a:picLocks noChangeAspect="1"/>
          </p:cNvPicPr>
          <p:nvPr/>
        </p:nvPicPr>
        <p:blipFill>
          <a:blip r:embed="rId14"/>
          <a:srcRect l="-363" r="-363" t="0" b="0"/>
          <a:stretch/>
        </p:blipFill>
        <p:spPr>
          <a:xfrm>
            <a:off x="7667244" y="4172407"/>
            <a:ext cx="142646" cy="161849"/>
          </a:xfrm>
          <a:prstGeom prst="rect">
            <a:avLst/>
          </a:prstGeom>
        </p:spPr>
      </p:pic>
      <p:sp>
        <p:nvSpPr>
          <p:cNvPr id="56" name="Shape 40"/>
          <p:cNvSpPr/>
          <p:nvPr/>
        </p:nvSpPr>
        <p:spPr>
          <a:xfrm>
            <a:off x="7667244" y="4539082"/>
            <a:ext cx="3715207" cy="418795"/>
          </a:xfrm>
          <a:prstGeom prst="roundRect">
            <a:avLst>
              <a:gd name="adj" fmla="val 99246"/>
            </a:avLst>
          </a:prstGeom>
          <a:solidFill>
            <a:srgbClr val="F8FAFC">
              <a:alpha val="80000"/>
            </a:srgbClr>
          </a:solidFill>
          <a:ln w="12700">
            <a:solidFill>
              <a:srgbClr val="E2E8F0">
                <a:alpha val="60000"/>
              </a:srgbClr>
            </a:solidFill>
            <a:prstDash val="solid"/>
          </a:ln>
        </p:spPr>
      </p:sp>
      <p:sp>
        <p:nvSpPr>
          <p:cNvPr id="57" name="Shape 41"/>
          <p:cNvSpPr/>
          <p:nvPr/>
        </p:nvSpPr>
        <p:spPr>
          <a:xfrm>
            <a:off x="7830007" y="4662526"/>
            <a:ext cx="171907" cy="171907"/>
          </a:xfrm>
          <a:prstGeom prst="ellipse">
            <a:avLst/>
          </a:prstGeom>
          <a:solidFill>
            <a:srgbClr val="10B981"/>
          </a:solidFill>
          <a:ln w="12700">
            <a:solidFill>
              <a:srgbClr val="FFFFFF">
                <a:alpha val="0"/>
              </a:srgbClr>
            </a:solidFill>
            <a:prstDash val="solid"/>
          </a:ln>
        </p:spPr>
      </p:sp>
      <p:pic>
        <p:nvPicPr>
          <p:cNvPr id="58" name="Image 14" descr="preencoded.png">    </p:cNvPr>
          <p:cNvPicPr>
            <a:picLocks noChangeAspect="1"/>
          </p:cNvPicPr>
          <p:nvPr/>
        </p:nvPicPr>
        <p:blipFill>
          <a:blip r:embed="rId15"/>
          <a:srcRect l="-1648" r="-1648" t="0" b="0"/>
          <a:stretch/>
        </p:blipFill>
        <p:spPr>
          <a:xfrm>
            <a:off x="7872070" y="4700930"/>
            <a:ext cx="85954" cy="95098"/>
          </a:xfrm>
          <a:prstGeom prst="rect">
            <a:avLst/>
          </a:prstGeom>
        </p:spPr>
      </p:pic>
      <p:sp>
        <p:nvSpPr>
          <p:cNvPr id="59" name="Text 42"/>
          <p:cNvSpPr txBox="1"/>
          <p:nvPr/>
        </p:nvSpPr>
        <p:spPr>
          <a:xfrm>
            <a:off x="8096098" y="4667098"/>
            <a:ext cx="1540764" cy="162763"/>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Environment Setup</a:t>
            </a:r>
            <a:endParaRPr lang="en-US" sz="1000" dirty="0"/>
          </a:p>
        </p:txBody>
      </p:sp>
      <p:sp>
        <p:nvSpPr>
          <p:cNvPr id="60" name="Text 43"/>
          <p:cNvSpPr txBox="1"/>
          <p:nvPr/>
        </p:nvSpPr>
        <p:spPr>
          <a:xfrm>
            <a:off x="11077956" y="4671670"/>
            <a:ext cx="143561" cy="152705"/>
          </a:xfrm>
          <a:prstGeom prst="rect">
            <a:avLst/>
          </a:prstGeom>
          <a:noFill/>
          <a:ln/>
        </p:spPr>
        <p:txBody>
          <a:bodyPr wrap="square" lIns="0" tIns="0" rIns="0" bIns="0" rtlCol="0" anchor="ctr"/>
          <a:lstStyle/>
          <a:p>
            <a:pPr algn="r" indent="0" marL="0">
              <a:buNone/>
            </a:pPr>
            <a:r>
              <a:rPr lang="en-US" sz="900" dirty="0">
                <a:solidFill>
                  <a:srgbClr val="64748B"/>
                </a:solidFill>
                <a:latin typeface="Inter" pitchFamily="34" charset="0"/>
                <a:ea typeface="Inter" pitchFamily="34" charset="-122"/>
                <a:cs typeface="Inter" pitchFamily="34" charset="-120"/>
              </a:rPr>
              <a:t>✓</a:t>
            </a:r>
            <a:endParaRPr lang="en-US" sz="900" dirty="0"/>
          </a:p>
        </p:txBody>
      </p:sp>
      <p:sp>
        <p:nvSpPr>
          <p:cNvPr id="61" name="Shape 44"/>
          <p:cNvSpPr/>
          <p:nvPr/>
        </p:nvSpPr>
        <p:spPr>
          <a:xfrm>
            <a:off x="7667244" y="5033772"/>
            <a:ext cx="3715207" cy="418795"/>
          </a:xfrm>
          <a:prstGeom prst="roundRect">
            <a:avLst>
              <a:gd name="adj" fmla="val 99246"/>
            </a:avLst>
          </a:prstGeom>
          <a:solidFill>
            <a:srgbClr val="F8FAFC">
              <a:alpha val="80000"/>
            </a:srgbClr>
          </a:solidFill>
          <a:ln w="12700">
            <a:solidFill>
              <a:srgbClr val="E2E8F0">
                <a:alpha val="60000"/>
              </a:srgbClr>
            </a:solidFill>
            <a:prstDash val="solid"/>
          </a:ln>
        </p:spPr>
      </p:sp>
      <p:sp>
        <p:nvSpPr>
          <p:cNvPr id="62" name="Shape 45"/>
          <p:cNvSpPr/>
          <p:nvPr/>
        </p:nvSpPr>
        <p:spPr>
          <a:xfrm>
            <a:off x="7830007" y="5158130"/>
            <a:ext cx="171907" cy="171907"/>
          </a:xfrm>
          <a:prstGeom prst="ellipse">
            <a:avLst/>
          </a:prstGeom>
          <a:solidFill>
            <a:srgbClr val="10B981"/>
          </a:solidFill>
          <a:ln w="12700">
            <a:solidFill>
              <a:srgbClr val="FFFFFF">
                <a:alpha val="0"/>
              </a:srgbClr>
            </a:solidFill>
            <a:prstDash val="solid"/>
          </a:ln>
        </p:spPr>
      </p:sp>
      <p:pic>
        <p:nvPicPr>
          <p:cNvPr id="63" name="Image 15" descr="preencoded.png">    </p:cNvPr>
          <p:cNvPicPr>
            <a:picLocks noChangeAspect="1"/>
          </p:cNvPicPr>
          <p:nvPr/>
        </p:nvPicPr>
        <p:blipFill>
          <a:blip r:embed="rId16"/>
          <a:srcRect l="-1648" r="-1648" t="0" b="0"/>
          <a:stretch/>
        </p:blipFill>
        <p:spPr>
          <a:xfrm>
            <a:off x="7872070" y="5195621"/>
            <a:ext cx="85954" cy="95098"/>
          </a:xfrm>
          <a:prstGeom prst="rect">
            <a:avLst/>
          </a:prstGeom>
        </p:spPr>
      </p:pic>
      <p:sp>
        <p:nvSpPr>
          <p:cNvPr id="64" name="Text 46"/>
          <p:cNvSpPr txBox="1"/>
          <p:nvPr/>
        </p:nvSpPr>
        <p:spPr>
          <a:xfrm>
            <a:off x="8096098" y="5162702"/>
            <a:ext cx="1098194" cy="162763"/>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Dependencies</a:t>
            </a:r>
            <a:endParaRPr lang="en-US" sz="1000" dirty="0"/>
          </a:p>
        </p:txBody>
      </p:sp>
      <p:sp>
        <p:nvSpPr>
          <p:cNvPr id="65" name="Text 47"/>
          <p:cNvSpPr txBox="1"/>
          <p:nvPr/>
        </p:nvSpPr>
        <p:spPr>
          <a:xfrm>
            <a:off x="11077956" y="5167274"/>
            <a:ext cx="143561" cy="152705"/>
          </a:xfrm>
          <a:prstGeom prst="rect">
            <a:avLst/>
          </a:prstGeom>
          <a:noFill/>
          <a:ln/>
        </p:spPr>
        <p:txBody>
          <a:bodyPr wrap="square" lIns="0" tIns="0" rIns="0" bIns="0" rtlCol="0" anchor="ctr"/>
          <a:lstStyle/>
          <a:p>
            <a:pPr algn="r" indent="0" marL="0">
              <a:buNone/>
            </a:pPr>
            <a:r>
              <a:rPr lang="en-US" sz="900" dirty="0">
                <a:solidFill>
                  <a:srgbClr val="64748B"/>
                </a:solidFill>
                <a:latin typeface="Inter" pitchFamily="34" charset="0"/>
                <a:ea typeface="Inter" pitchFamily="34" charset="-122"/>
                <a:cs typeface="Inter" pitchFamily="34" charset="-120"/>
              </a:rPr>
              <a:t>✓</a:t>
            </a:r>
            <a:endParaRPr lang="en-US" sz="900" dirty="0"/>
          </a:p>
        </p:txBody>
      </p:sp>
      <p:sp>
        <p:nvSpPr>
          <p:cNvPr id="66" name="Shape 48"/>
          <p:cNvSpPr/>
          <p:nvPr/>
        </p:nvSpPr>
        <p:spPr>
          <a:xfrm>
            <a:off x="7667244" y="5529377"/>
            <a:ext cx="3715207" cy="418795"/>
          </a:xfrm>
          <a:prstGeom prst="roundRect">
            <a:avLst>
              <a:gd name="adj" fmla="val 99246"/>
            </a:avLst>
          </a:prstGeom>
          <a:solidFill>
            <a:srgbClr val="F8FAFC">
              <a:alpha val="80000"/>
            </a:srgbClr>
          </a:solidFill>
          <a:ln w="12700">
            <a:solidFill>
              <a:srgbClr val="E2E8F0">
                <a:alpha val="60000"/>
              </a:srgbClr>
            </a:solidFill>
            <a:prstDash val="solid"/>
          </a:ln>
        </p:spPr>
      </p:sp>
      <p:sp>
        <p:nvSpPr>
          <p:cNvPr id="67" name="Shape 49"/>
          <p:cNvSpPr/>
          <p:nvPr/>
        </p:nvSpPr>
        <p:spPr>
          <a:xfrm>
            <a:off x="7830007" y="5652821"/>
            <a:ext cx="171907" cy="171907"/>
          </a:xfrm>
          <a:prstGeom prst="ellipse">
            <a:avLst/>
          </a:prstGeom>
          <a:solidFill>
            <a:srgbClr val="F59E0B"/>
          </a:solidFill>
          <a:ln w="12700">
            <a:solidFill>
              <a:srgbClr val="FFFFFF">
                <a:alpha val="0"/>
              </a:srgbClr>
            </a:solidFill>
            <a:prstDash val="solid"/>
          </a:ln>
        </p:spPr>
      </p:sp>
      <p:pic>
        <p:nvPicPr>
          <p:cNvPr id="68" name="Image 16" descr="preencoded.png">    </p:cNvPr>
          <p:cNvPicPr>
            <a:picLocks noChangeAspect="1"/>
          </p:cNvPicPr>
          <p:nvPr/>
        </p:nvPicPr>
        <p:blipFill>
          <a:blip r:embed="rId17"/>
          <a:srcRect l="0" r="0" t="0" b="0"/>
          <a:stretch/>
        </p:blipFill>
        <p:spPr>
          <a:xfrm>
            <a:off x="7867498" y="5691226"/>
            <a:ext cx="95098" cy="95098"/>
          </a:xfrm>
          <a:prstGeom prst="rect">
            <a:avLst/>
          </a:prstGeom>
        </p:spPr>
      </p:pic>
      <p:sp>
        <p:nvSpPr>
          <p:cNvPr id="69" name="Text 50"/>
          <p:cNvSpPr txBox="1"/>
          <p:nvPr/>
        </p:nvSpPr>
        <p:spPr>
          <a:xfrm>
            <a:off x="8096098" y="5658307"/>
            <a:ext cx="1613916" cy="162763"/>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Model Verification</a:t>
            </a:r>
            <a:endParaRPr lang="en-US" sz="1000" dirty="0"/>
          </a:p>
        </p:txBody>
      </p:sp>
      <p:sp>
        <p:nvSpPr>
          <p:cNvPr id="70" name="Text 51"/>
          <p:cNvSpPr txBox="1"/>
          <p:nvPr/>
        </p:nvSpPr>
        <p:spPr>
          <a:xfrm>
            <a:off x="10984687" y="5662879"/>
            <a:ext cx="235915" cy="152705"/>
          </a:xfrm>
          <a:prstGeom prst="rect">
            <a:avLst/>
          </a:prstGeom>
          <a:noFill/>
          <a:ln/>
        </p:spPr>
        <p:txBody>
          <a:bodyPr wrap="square" lIns="0" tIns="0" rIns="0" bIns="0" rtlCol="0" anchor="ctr"/>
          <a:lstStyle/>
          <a:p>
            <a:pPr algn="r" indent="0" marL="0">
              <a:buNone/>
            </a:pPr>
            <a:r>
              <a:rPr lang="en-US" sz="900" dirty="0">
                <a:solidFill>
                  <a:srgbClr val="64748B"/>
                </a:solidFill>
                <a:latin typeface="Inter" pitchFamily="34" charset="0"/>
                <a:ea typeface="Inter" pitchFamily="34" charset="-122"/>
                <a:cs typeface="Inter" pitchFamily="34" charset="-120"/>
              </a:rPr>
              <a:t>...</a:t>
            </a:r>
            <a:endParaRPr lang="en-US" sz="900" dirty="0"/>
          </a:p>
        </p:txBody>
      </p:sp>
      <p:sp>
        <p:nvSpPr>
          <p:cNvPr id="71" name="Shape 52"/>
          <p:cNvSpPr/>
          <p:nvPr/>
        </p:nvSpPr>
        <p:spPr>
          <a:xfrm>
            <a:off x="571500" y="905256"/>
            <a:ext cx="1619402" cy="333756"/>
          </a:xfrm>
          <a:prstGeom prst="roundRect">
            <a:avLst>
              <a:gd name="adj" fmla="val 125245"/>
            </a:avLst>
          </a:prstGeom>
          <a:solidFill>
            <a:srgbClr val="6366F1">
              <a:alpha val="8000"/>
            </a:srgbClr>
          </a:solidFill>
          <a:ln w="12700">
            <a:solidFill>
              <a:srgbClr val="6366F1">
                <a:alpha val="20000"/>
              </a:srgbClr>
            </a:solidFill>
            <a:prstDash val="solid"/>
          </a:ln>
        </p:spPr>
      </p:sp>
      <p:sp>
        <p:nvSpPr>
          <p:cNvPr id="72" name="Text 53"/>
          <p:cNvSpPr txBox="1"/>
          <p:nvPr/>
        </p:nvSpPr>
        <p:spPr>
          <a:xfrm>
            <a:off x="571500" y="905256"/>
            <a:ext cx="1619402" cy="333756"/>
          </a:xfrm>
          <a:prstGeom prst="rect">
            <a:avLst/>
          </a:prstGeom>
          <a:solidFill>
            <a:srgbClr val="FFFFFF">
              <a:alpha val="0"/>
            </a:srgbClr>
          </a:solidFill>
          <a:ln>
            <a:solidFill>
              <a:srgbClr val="FFFFFF">
                <a:alpha val="0"/>
              </a:srgbClr>
            </a:solidFill>
          </a:ln>
        </p:spPr>
        <p:txBody>
          <a:bodyPr wrap="square" lIns="177800" tIns="76200" rIns="177800" bIns="76200" rtlCol="0" anchor="ctr"/>
          <a:lstStyle/>
          <a:p>
            <a:pPr algn="l" indent="0" marL="0">
              <a:buNone/>
            </a:pPr>
            <a:r>
              <a:rPr lang="en-US" sz="1000" b="1" spc="38" kern="0" dirty="0">
                <a:solidFill>
                  <a:srgbClr val="6366F1"/>
                </a:solidFill>
                <a:latin typeface="Inter" pitchFamily="34" charset="0"/>
                <a:ea typeface="Inter" pitchFamily="34" charset="-122"/>
                <a:cs typeface="Inter" pitchFamily="34" charset="-120"/>
              </a:rPr>
              <a:t>WORKSHOP DAY 1</a:t>
            </a:r>
            <a:endParaRPr lang="en-US" sz="1000" dirty="0"/>
          </a:p>
        </p:txBody>
      </p:sp>
      <p:sp>
        <p:nvSpPr>
          <p:cNvPr id="73" name="Shape 54"/>
          <p:cNvSpPr/>
          <p:nvPr/>
        </p:nvSpPr>
        <p:spPr>
          <a:xfrm>
            <a:off x="0" y="0"/>
            <a:ext cx="12191695" cy="761695"/>
          </a:xfrm>
          <a:prstGeom prst="rect">
            <a:avLst/>
          </a:prstGeom>
          <a:solidFill>
            <a:srgbClr val="FFFFFF">
              <a:alpha val="95000"/>
            </a:srgbClr>
          </a:solidFill>
          <a:ln/>
        </p:spPr>
      </p:sp>
      <p:sp>
        <p:nvSpPr>
          <p:cNvPr id="74" name="Shape 55"/>
          <p:cNvSpPr/>
          <p:nvPr/>
        </p:nvSpPr>
        <p:spPr>
          <a:xfrm>
            <a:off x="0" y="752551"/>
            <a:ext cx="12191695" cy="9144"/>
          </a:xfrm>
          <a:prstGeom prst="rect">
            <a:avLst/>
          </a:prstGeom>
          <a:solidFill>
            <a:srgbClr val="E2E8F0">
              <a:alpha val="80000"/>
            </a:srgbClr>
          </a:solidFill>
          <a:ln w="12700">
            <a:solidFill>
              <a:srgbClr val="E2E8F0">
                <a:alpha val="0"/>
              </a:srgbClr>
            </a:solidFill>
            <a:prstDash val="solid"/>
          </a:ln>
        </p:spPr>
      </p:sp>
      <p:pic>
        <p:nvPicPr>
          <p:cNvPr id="75" name="Image 17" descr="preencoded.png">    </p:cNvPr>
          <p:cNvPicPr>
            <a:picLocks noChangeAspect="1"/>
          </p:cNvPicPr>
          <p:nvPr/>
        </p:nvPicPr>
        <p:blipFill>
          <a:blip r:embed="rId18"/>
          <a:srcRect l="0" r="0" t="0" b="0"/>
          <a:stretch/>
        </p:blipFill>
        <p:spPr>
          <a:xfrm>
            <a:off x="571500" y="166421"/>
            <a:ext cx="418795" cy="418795"/>
          </a:xfrm>
          <a:prstGeom prst="rect">
            <a:avLst/>
          </a:prstGeom>
        </p:spPr>
      </p:pic>
      <p:pic>
        <p:nvPicPr>
          <p:cNvPr id="76" name="Image 18" descr="preencoded.png">    </p:cNvPr>
          <p:cNvPicPr>
            <a:picLocks noChangeAspect="1"/>
          </p:cNvPicPr>
          <p:nvPr/>
        </p:nvPicPr>
        <p:blipFill>
          <a:blip r:embed="rId19"/>
          <a:srcRect l="0" r="0" t="0" b="0"/>
          <a:stretch/>
        </p:blipFill>
        <p:spPr>
          <a:xfrm>
            <a:off x="676656" y="271577"/>
            <a:ext cx="209398" cy="209398"/>
          </a:xfrm>
          <a:prstGeom prst="rect">
            <a:avLst/>
          </a:prstGeom>
        </p:spPr>
      </p:pic>
      <p:sp>
        <p:nvSpPr>
          <p:cNvPr id="77" name="Text 56"/>
          <p:cNvSpPr txBox="1"/>
          <p:nvPr/>
        </p:nvSpPr>
        <p:spPr>
          <a:xfrm>
            <a:off x="1143000" y="22860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78" name="Shape 57"/>
          <p:cNvSpPr/>
          <p:nvPr/>
        </p:nvSpPr>
        <p:spPr>
          <a:xfrm>
            <a:off x="9215323" y="181051"/>
            <a:ext cx="2409444" cy="390449"/>
          </a:xfrm>
          <a:prstGeom prst="roundRect">
            <a:avLst>
              <a:gd name="adj" fmla="val 234192"/>
            </a:avLst>
          </a:prstGeom>
          <a:solidFill>
            <a:srgbClr val="6366F1">
              <a:alpha val="8000"/>
            </a:srgbClr>
          </a:solidFill>
          <a:ln w="12700">
            <a:solidFill>
              <a:srgbClr val="6366F1">
                <a:alpha val="15000"/>
              </a:srgbClr>
            </a:solidFill>
            <a:prstDash val="solid"/>
          </a:ln>
        </p:spPr>
      </p:sp>
      <p:pic>
        <p:nvPicPr>
          <p:cNvPr id="79" name="Image 19" descr="preencoded.png">    </p:cNvPr>
          <p:cNvPicPr>
            <a:picLocks noChangeAspect="1"/>
          </p:cNvPicPr>
          <p:nvPr/>
        </p:nvPicPr>
        <p:blipFill>
          <a:blip r:embed="rId20"/>
          <a:srcRect l="0" r="0" t="0" b="0"/>
          <a:stretch/>
        </p:blipFill>
        <p:spPr>
          <a:xfrm>
            <a:off x="9415577" y="309982"/>
            <a:ext cx="133502" cy="133502"/>
          </a:xfrm>
          <a:prstGeom prst="rect">
            <a:avLst/>
          </a:prstGeom>
        </p:spPr>
      </p:pic>
      <p:sp>
        <p:nvSpPr>
          <p:cNvPr id="80" name="Text 58"/>
          <p:cNvSpPr txBox="1"/>
          <p:nvPr/>
        </p:nvSpPr>
        <p:spPr>
          <a:xfrm>
            <a:off x="9644177" y="181051"/>
            <a:ext cx="1781251" cy="391363"/>
          </a:xfrm>
          <a:prstGeom prst="rect">
            <a:avLst/>
          </a:prstGeom>
          <a:noFill/>
          <a:ln/>
        </p:spPr>
        <p:txBody>
          <a:bodyPr wrap="square" lIns="0" tIns="0" rIns="0" bIns="0" rtlCol="0" anchor="ctr"/>
          <a:lstStyle/>
          <a:p>
            <a:pPr algn="l" indent="0" marL="0">
              <a:buNone/>
            </a:pPr>
            <a:r>
              <a:rPr lang="en-US" sz="1100" dirty="0">
                <a:solidFill>
                  <a:srgbClr val="6366F1"/>
                </a:solidFill>
                <a:latin typeface="Inter" pitchFamily="34" charset="0"/>
                <a:ea typeface="Inter" pitchFamily="34" charset="-122"/>
                <a:cs typeface="Inter" pitchFamily="34" charset="-120"/>
              </a:rPr>
              <a:t>Local-First = Privacy-First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0A0F"/>
          </a:solidFill>
          <a:ln w="12700">
            <a:solidFill>
              <a:srgbClr val="FFFFFF">
                <a:alpha val="0"/>
              </a:srgbClr>
            </a:solidFill>
            <a:prstDash val="solid"/>
          </a:ln>
        </p:spPr>
      </p:sp>
      <p:pic>
        <p:nvPicPr>
          <p:cNvPr id="3" name="Image 0" descr="preencoded.png">    </p:cNvPr>
          <p:cNvPicPr>
            <a:picLocks noChangeAspect="1"/>
          </p:cNvPicPr>
          <p:nvPr/>
        </p:nvPicPr>
        <p:blipFill>
          <a:blip r:embed="rId1"/>
          <a:srcRect l="0" r="0" t="-1" b="-1"/>
          <a:stretch/>
        </p:blipFill>
        <p:spPr>
          <a:xfrm>
            <a:off x="0" y="0"/>
            <a:ext cx="12191695" cy="6858000"/>
          </a:xfrm>
          <a:prstGeom prst="rect">
            <a:avLst/>
          </a:prstGeom>
        </p:spPr>
      </p:pic>
      <p:pic>
        <p:nvPicPr>
          <p:cNvPr id="4" name="Image 1" descr="preencoded.png">    </p:cNvPr>
          <p:cNvPicPr>
            <a:picLocks noChangeAspect="1"/>
          </p:cNvPicPr>
          <p:nvPr/>
        </p:nvPicPr>
        <p:blipFill>
          <a:blip r:embed="rId2"/>
          <a:srcRect l="0" r="0" t="-1" b="-1"/>
          <a:stretch/>
        </p:blipFill>
        <p:spPr>
          <a:xfrm>
            <a:off x="0" y="0"/>
            <a:ext cx="12191695" cy="6858000"/>
          </a:xfrm>
          <a:prstGeom prst="rect">
            <a:avLst/>
          </a:prstGeom>
        </p:spPr>
      </p:pic>
      <p:pic>
        <p:nvPicPr>
          <p:cNvPr id="5" name="Image 2" descr="preencoded.png">    </p:cNvPr>
          <p:cNvPicPr>
            <a:picLocks noChangeAspect="1"/>
          </p:cNvPicPr>
          <p:nvPr/>
        </p:nvPicPr>
        <p:blipFill>
          <a:blip r:embed="rId3"/>
          <a:srcRect l="0" r="0" t="0" b="0"/>
          <a:stretch/>
        </p:blipFill>
        <p:spPr>
          <a:xfrm>
            <a:off x="7429500" y="-1904695"/>
            <a:ext cx="5715000" cy="5715000"/>
          </a:xfrm>
          <a:prstGeom prst="rect">
            <a:avLst/>
          </a:prstGeom>
        </p:spPr>
      </p:pic>
      <p:sp>
        <p:nvSpPr>
          <p:cNvPr id="6" name="Text 1"/>
          <p:cNvSpPr txBox="1"/>
          <p:nvPr/>
        </p:nvSpPr>
        <p:spPr>
          <a:xfrm>
            <a:off x="476402" y="1399946"/>
            <a:ext cx="6858000" cy="448056"/>
          </a:xfrm>
          <a:prstGeom prst="rect">
            <a:avLst/>
          </a:prstGeom>
          <a:noFill/>
          <a:ln/>
        </p:spPr>
        <p:txBody>
          <a:bodyPr wrap="square" lIns="0" tIns="0" rIns="0" bIns="0" rtlCol="0" anchor="ctr"/>
          <a:lstStyle/>
          <a:p>
            <a:pPr algn="l" indent="0" marL="0">
              <a:buNone/>
            </a:pPr>
            <a:r>
              <a:rPr lang="en-US" sz="3100" b="1" spc="-75" kern="0" dirty="0">
                <a:solidFill>
                  <a:srgbClr val="FFFFFF"/>
                </a:solidFill>
                <a:latin typeface="Inter" pitchFamily="34" charset="0"/>
                <a:ea typeface="Inter" pitchFamily="34" charset="-122"/>
                <a:cs typeface="Inter" pitchFamily="34" charset="-120"/>
              </a:rPr>
              <a:t>Data Flow &amp; </a:t>
            </a:r>
            <a:pPr algn="l" indent="0" marL="0">
              <a:buNone/>
            </a:pPr>
            <a:r>
              <a:rPr lang="en-US" sz="3100" b="1" spc="-75" kern="0" dirty="0">
                <a:solidFill>
                  <a:srgbClr val="6366F1"/>
                </a:solidFill>
                <a:latin typeface="Inter" pitchFamily="34" charset="0"/>
                <a:ea typeface="Inter" pitchFamily="34" charset="-122"/>
                <a:cs typeface="Inter" pitchFamily="34" charset="-120"/>
              </a:rPr>
              <a:t>Tech Stack</a:t>
            </a:r>
            <a:endParaRPr lang="en-US" sz="3100" dirty="0"/>
          </a:p>
        </p:txBody>
      </p:sp>
      <p:sp>
        <p:nvSpPr>
          <p:cNvPr id="7" name="Text 2"/>
          <p:cNvSpPr txBox="1"/>
          <p:nvPr/>
        </p:nvSpPr>
        <p:spPr>
          <a:xfrm>
            <a:off x="476402" y="1954987"/>
            <a:ext cx="7212787" cy="200254"/>
          </a:xfrm>
          <a:prstGeom prst="rect">
            <a:avLst/>
          </a:prstGeom>
          <a:noFill/>
          <a:ln/>
        </p:spPr>
        <p:txBody>
          <a:bodyPr wrap="square" lIns="0" tIns="0" rIns="0" bIns="0" rtlCol="0" anchor="ctr"/>
          <a:lstStyle/>
          <a:p>
            <a:pPr algn="l" indent="0" marL="0">
              <a:buNone/>
            </a:pPr>
            <a:r>
              <a:rPr lang="en-US" sz="1300" dirty="0">
                <a:solidFill>
                  <a:srgbClr val="94A3B8"/>
                </a:solidFill>
                <a:latin typeface="Inter" pitchFamily="34" charset="0"/>
                <a:ea typeface="Inter" pitchFamily="34" charset="-122"/>
                <a:cs typeface="Inter" pitchFamily="34" charset="-120"/>
              </a:rPr>
              <a:t>Understanding how components interact in the local-first architecture</a:t>
            </a:r>
            <a:endParaRPr lang="en-US" sz="1300" dirty="0"/>
          </a:p>
        </p:txBody>
      </p:sp>
      <p:sp>
        <p:nvSpPr>
          <p:cNvPr id="8" name="Shape 3"/>
          <p:cNvSpPr/>
          <p:nvPr/>
        </p:nvSpPr>
        <p:spPr>
          <a:xfrm>
            <a:off x="476402" y="2669134"/>
            <a:ext cx="6858000" cy="2133295"/>
          </a:xfrm>
          <a:prstGeom prst="roundRect">
            <a:avLst>
              <a:gd name="adj" fmla="val 6123"/>
            </a:avLst>
          </a:prstGeom>
          <a:solidFill>
            <a:srgbClr val="0F0F19">
              <a:alpha val="80000"/>
            </a:srgbClr>
          </a:solidFill>
          <a:ln w="12700">
            <a:solidFill>
              <a:srgbClr val="6366F1">
                <a:alpha val="20000"/>
              </a:srgbClr>
            </a:solidFill>
            <a:prstDash val="solid"/>
          </a:ln>
        </p:spPr>
      </p:sp>
      <p:sp>
        <p:nvSpPr>
          <p:cNvPr id="9" name="Text 4"/>
          <p:cNvSpPr txBox="1"/>
          <p:nvPr/>
        </p:nvSpPr>
        <p:spPr>
          <a:xfrm>
            <a:off x="981151" y="2906878"/>
            <a:ext cx="6115507" cy="191110"/>
          </a:xfrm>
          <a:prstGeom prst="rect">
            <a:avLst/>
          </a:prstGeom>
          <a:noFill/>
          <a:ln/>
        </p:spPr>
        <p:txBody>
          <a:bodyPr wrap="square" lIns="0" tIns="0" rIns="0" bIns="0" rtlCol="0" anchor="ctr"/>
          <a:lstStyle/>
          <a:p>
            <a:pPr algn="l" indent="0" marL="0">
              <a:buNone/>
            </a:pPr>
            <a:r>
              <a:rPr lang="en-US" sz="1200" b="1" dirty="0">
                <a:solidFill>
                  <a:srgbClr val="FFFFFF"/>
                </a:solidFill>
                <a:latin typeface="Inter" pitchFamily="34" charset="0"/>
                <a:ea typeface="Inter" pitchFamily="34" charset="-122"/>
                <a:cs typeface="Inter" pitchFamily="34" charset="-120"/>
              </a:rPr>
              <a:t> Component Data Flow </a:t>
            </a:r>
            <a:endParaRPr lang="en-US" sz="1200" dirty="0"/>
          </a:p>
        </p:txBody>
      </p:sp>
      <p:pic>
        <p:nvPicPr>
          <p:cNvPr id="10" name="Image 3" descr="preencoded.png">    </p:cNvPr>
          <p:cNvPicPr>
            <a:picLocks noChangeAspect="1"/>
          </p:cNvPicPr>
          <p:nvPr/>
        </p:nvPicPr>
        <p:blipFill>
          <a:blip r:embed="rId4"/>
          <a:srcRect l="-33" r="-33" t="0" b="0"/>
          <a:stretch/>
        </p:blipFill>
        <p:spPr>
          <a:xfrm>
            <a:off x="714146" y="2926080"/>
            <a:ext cx="171907" cy="152705"/>
          </a:xfrm>
          <a:prstGeom prst="rect">
            <a:avLst/>
          </a:prstGeom>
        </p:spPr>
      </p:pic>
      <p:sp>
        <p:nvSpPr>
          <p:cNvPr id="11" name="Shape 5"/>
          <p:cNvSpPr/>
          <p:nvPr/>
        </p:nvSpPr>
        <p:spPr>
          <a:xfrm>
            <a:off x="714146" y="3354934"/>
            <a:ext cx="952805" cy="1143000"/>
          </a:xfrm>
          <a:prstGeom prst="roundRect">
            <a:avLst>
              <a:gd name="adj" fmla="val 23033"/>
            </a:avLst>
          </a:prstGeom>
          <a:solidFill>
            <a:srgbClr val="6366F1">
              <a:alpha val="10000"/>
            </a:srgbClr>
          </a:solidFill>
          <a:ln w="12700">
            <a:solidFill>
              <a:srgbClr val="6366F1">
                <a:alpha val="30000"/>
              </a:srgbClr>
            </a:solidFill>
            <a:prstDash val="solid"/>
          </a:ln>
        </p:spPr>
      </p:sp>
      <p:sp>
        <p:nvSpPr>
          <p:cNvPr id="12" name="Shape 6"/>
          <p:cNvSpPr/>
          <p:nvPr/>
        </p:nvSpPr>
        <p:spPr>
          <a:xfrm>
            <a:off x="999439" y="3516782"/>
            <a:ext cx="381305" cy="381305"/>
          </a:xfrm>
          <a:prstGeom prst="roundRect">
            <a:avLst>
              <a:gd name="adj" fmla="val 119904"/>
            </a:avLst>
          </a:prstGeom>
          <a:solidFill>
            <a:srgbClr val="6366F1">
              <a:alpha val="20000"/>
            </a:srgbClr>
          </a:solidFill>
          <a:ln w="12700">
            <a:solidFill>
              <a:srgbClr val="FFFFFF">
                <a:alpha val="0"/>
              </a:srgbClr>
            </a:solidFill>
            <a:prstDash val="solid"/>
          </a:ln>
        </p:spPr>
      </p:sp>
      <p:pic>
        <p:nvPicPr>
          <p:cNvPr id="13" name="Image 4" descr="preencoded.png">    </p:cNvPr>
          <p:cNvPicPr>
            <a:picLocks noChangeAspect="1"/>
          </p:cNvPicPr>
          <p:nvPr/>
        </p:nvPicPr>
        <p:blipFill>
          <a:blip r:embed="rId5"/>
          <a:srcRect l="0" r="0" t="-842" b="-842"/>
          <a:stretch/>
        </p:blipFill>
        <p:spPr>
          <a:xfrm>
            <a:off x="1094537" y="3621024"/>
            <a:ext cx="190195" cy="171907"/>
          </a:xfrm>
          <a:prstGeom prst="rect">
            <a:avLst/>
          </a:prstGeom>
        </p:spPr>
      </p:pic>
      <p:sp>
        <p:nvSpPr>
          <p:cNvPr id="14" name="Text 7"/>
          <p:cNvSpPr txBox="1"/>
          <p:nvPr/>
        </p:nvSpPr>
        <p:spPr>
          <a:xfrm>
            <a:off x="1109167" y="3973982"/>
            <a:ext cx="169164" cy="152705"/>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UI</a:t>
            </a:r>
            <a:endParaRPr lang="en-US" sz="900" dirty="0"/>
          </a:p>
        </p:txBody>
      </p:sp>
      <p:sp>
        <p:nvSpPr>
          <p:cNvPr id="15" name="Text 8"/>
          <p:cNvSpPr txBox="1"/>
          <p:nvPr/>
        </p:nvSpPr>
        <p:spPr>
          <a:xfrm>
            <a:off x="874166" y="4202582"/>
            <a:ext cx="631850" cy="133502"/>
          </a:xfrm>
          <a:prstGeom prst="rect">
            <a:avLst/>
          </a:prstGeom>
          <a:noFill/>
          <a:ln/>
        </p:spPr>
        <p:txBody>
          <a:bodyPr wrap="square" lIns="0" tIns="0" rIns="0" bIns="0" rtlCol="0" anchor="ctr"/>
          <a:lstStyle/>
          <a:p>
            <a:pPr algn="ctr" indent="0" marL="0">
              <a:buNone/>
            </a:pPr>
            <a:r>
              <a:rPr lang="en-US" sz="800" dirty="0">
                <a:solidFill>
                  <a:srgbClr val="94A3B8"/>
                </a:solidFill>
                <a:latin typeface="Inter" pitchFamily="34" charset="0"/>
                <a:ea typeface="Inter" pitchFamily="34" charset="-122"/>
                <a:cs typeface="Inter" pitchFamily="34" charset="-120"/>
              </a:rPr>
              <a:t>Streamlit</a:t>
            </a:r>
            <a:endParaRPr lang="en-US" sz="800" dirty="0"/>
          </a:p>
        </p:txBody>
      </p:sp>
      <p:sp>
        <p:nvSpPr>
          <p:cNvPr id="16" name="Shape 9"/>
          <p:cNvSpPr/>
          <p:nvPr/>
        </p:nvSpPr>
        <p:spPr>
          <a:xfrm>
            <a:off x="2064715" y="3354934"/>
            <a:ext cx="952805" cy="1143000"/>
          </a:xfrm>
          <a:prstGeom prst="roundRect">
            <a:avLst>
              <a:gd name="adj" fmla="val 23033"/>
            </a:avLst>
          </a:prstGeom>
          <a:solidFill>
            <a:srgbClr val="6366F1">
              <a:alpha val="10000"/>
            </a:srgbClr>
          </a:solidFill>
          <a:ln w="12700">
            <a:solidFill>
              <a:srgbClr val="6366F1">
                <a:alpha val="30000"/>
              </a:srgbClr>
            </a:solidFill>
            <a:prstDash val="solid"/>
          </a:ln>
        </p:spPr>
      </p:sp>
      <p:sp>
        <p:nvSpPr>
          <p:cNvPr id="17" name="Shape 10"/>
          <p:cNvSpPr/>
          <p:nvPr/>
        </p:nvSpPr>
        <p:spPr>
          <a:xfrm>
            <a:off x="2349094" y="3516782"/>
            <a:ext cx="381305" cy="381305"/>
          </a:xfrm>
          <a:prstGeom prst="roundRect">
            <a:avLst>
              <a:gd name="adj" fmla="val 119904"/>
            </a:avLst>
          </a:prstGeom>
          <a:solidFill>
            <a:srgbClr val="6366F1">
              <a:alpha val="20000"/>
            </a:srgbClr>
          </a:solidFill>
          <a:ln w="12700">
            <a:solidFill>
              <a:srgbClr val="FFFFFF">
                <a:alpha val="0"/>
              </a:srgbClr>
            </a:solidFill>
            <a:prstDash val="solid"/>
          </a:ln>
        </p:spPr>
      </p:sp>
      <p:pic>
        <p:nvPicPr>
          <p:cNvPr id="18" name="Image 5" descr="preencoded.png">    </p:cNvPr>
          <p:cNvPicPr>
            <a:picLocks noChangeAspect="1"/>
          </p:cNvPicPr>
          <p:nvPr/>
        </p:nvPicPr>
        <p:blipFill>
          <a:blip r:embed="rId6"/>
          <a:srcRect l="-1064" r="-1064" t="0" b="0"/>
          <a:stretch/>
        </p:blipFill>
        <p:spPr>
          <a:xfrm>
            <a:off x="2430475" y="3621024"/>
            <a:ext cx="219456" cy="171907"/>
          </a:xfrm>
          <a:prstGeom prst="rect">
            <a:avLst/>
          </a:prstGeom>
        </p:spPr>
      </p:pic>
      <p:sp>
        <p:nvSpPr>
          <p:cNvPr id="19" name="Text 11"/>
          <p:cNvSpPr txBox="1"/>
          <p:nvPr/>
        </p:nvSpPr>
        <p:spPr>
          <a:xfrm>
            <a:off x="2413102" y="3973982"/>
            <a:ext cx="257861" cy="152705"/>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LLM</a:t>
            </a:r>
            <a:endParaRPr lang="en-US" sz="900" dirty="0"/>
          </a:p>
        </p:txBody>
      </p:sp>
      <p:sp>
        <p:nvSpPr>
          <p:cNvPr id="20" name="Text 12"/>
          <p:cNvSpPr txBox="1"/>
          <p:nvPr/>
        </p:nvSpPr>
        <p:spPr>
          <a:xfrm>
            <a:off x="2258568" y="4202582"/>
            <a:ext cx="566014" cy="133502"/>
          </a:xfrm>
          <a:prstGeom prst="rect">
            <a:avLst/>
          </a:prstGeom>
          <a:noFill/>
          <a:ln/>
        </p:spPr>
        <p:txBody>
          <a:bodyPr wrap="square" lIns="0" tIns="0" rIns="0" bIns="0" rtlCol="0" anchor="ctr"/>
          <a:lstStyle/>
          <a:p>
            <a:pPr algn="ctr" indent="0" marL="0">
              <a:buNone/>
            </a:pPr>
            <a:r>
              <a:rPr lang="en-US" sz="800" dirty="0">
                <a:solidFill>
                  <a:srgbClr val="94A3B8"/>
                </a:solidFill>
                <a:latin typeface="Inter" pitchFamily="34" charset="0"/>
                <a:ea typeface="Inter" pitchFamily="34" charset="-122"/>
                <a:cs typeface="Inter" pitchFamily="34" charset="-120"/>
              </a:rPr>
              <a:t>llama3.2</a:t>
            </a:r>
            <a:endParaRPr lang="en-US" sz="800" dirty="0"/>
          </a:p>
        </p:txBody>
      </p:sp>
      <p:sp>
        <p:nvSpPr>
          <p:cNvPr id="21" name="Shape 13"/>
          <p:cNvSpPr/>
          <p:nvPr/>
        </p:nvSpPr>
        <p:spPr>
          <a:xfrm>
            <a:off x="3415284" y="3288182"/>
            <a:ext cx="952805" cy="1276502"/>
          </a:xfrm>
          <a:prstGeom prst="roundRect">
            <a:avLst>
              <a:gd name="adj" fmla="val 23033"/>
            </a:avLst>
          </a:prstGeom>
          <a:solidFill>
            <a:srgbClr val="6366F1">
              <a:alpha val="10000"/>
            </a:srgbClr>
          </a:solidFill>
          <a:ln w="12700">
            <a:solidFill>
              <a:srgbClr val="6366F1">
                <a:alpha val="30000"/>
              </a:srgbClr>
            </a:solidFill>
            <a:prstDash val="solid"/>
          </a:ln>
        </p:spPr>
      </p:sp>
      <p:sp>
        <p:nvSpPr>
          <p:cNvPr id="22" name="Shape 14"/>
          <p:cNvSpPr/>
          <p:nvPr/>
        </p:nvSpPr>
        <p:spPr>
          <a:xfrm>
            <a:off x="3700577" y="3450031"/>
            <a:ext cx="381305" cy="381305"/>
          </a:xfrm>
          <a:prstGeom prst="roundRect">
            <a:avLst>
              <a:gd name="adj" fmla="val 119904"/>
            </a:avLst>
          </a:prstGeom>
          <a:solidFill>
            <a:srgbClr val="6366F1">
              <a:alpha val="20000"/>
            </a:srgbClr>
          </a:solidFill>
          <a:ln w="12700">
            <a:solidFill>
              <a:srgbClr val="FFFFFF">
                <a:alpha val="0"/>
              </a:srgbClr>
            </a:solidFill>
            <a:prstDash val="solid"/>
          </a:ln>
        </p:spPr>
      </p:sp>
      <p:pic>
        <p:nvPicPr>
          <p:cNvPr id="23" name="Image 6" descr="preencoded.png">    </p:cNvPr>
          <p:cNvPicPr>
            <a:picLocks noChangeAspect="1"/>
          </p:cNvPicPr>
          <p:nvPr/>
        </p:nvPicPr>
        <p:blipFill>
          <a:blip r:embed="rId7"/>
          <a:srcRect l="0" r="0" t="-842" b="-842"/>
          <a:stretch/>
        </p:blipFill>
        <p:spPr>
          <a:xfrm>
            <a:off x="3795674" y="3555187"/>
            <a:ext cx="190195" cy="171907"/>
          </a:xfrm>
          <a:prstGeom prst="rect">
            <a:avLst/>
          </a:prstGeom>
        </p:spPr>
      </p:pic>
      <p:sp>
        <p:nvSpPr>
          <p:cNvPr id="24" name="Text 15"/>
          <p:cNvSpPr txBox="1"/>
          <p:nvPr/>
        </p:nvSpPr>
        <p:spPr>
          <a:xfrm>
            <a:off x="3522269" y="3907231"/>
            <a:ext cx="743407" cy="152705"/>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Embeddings</a:t>
            </a:r>
            <a:endParaRPr lang="en-US" sz="900" dirty="0"/>
          </a:p>
        </p:txBody>
      </p:sp>
      <p:sp>
        <p:nvSpPr>
          <p:cNvPr id="25" name="Text 16"/>
          <p:cNvSpPr txBox="1"/>
          <p:nvPr/>
        </p:nvSpPr>
        <p:spPr>
          <a:xfrm>
            <a:off x="3501238" y="4135831"/>
            <a:ext cx="781812" cy="267005"/>
          </a:xfrm>
          <a:prstGeom prst="rect">
            <a:avLst/>
          </a:prstGeom>
          <a:noFill/>
          <a:ln/>
        </p:spPr>
        <p:txBody>
          <a:bodyPr wrap="square" lIns="0" tIns="0" rIns="0" bIns="0" rtlCol="0" anchor="ctr"/>
          <a:lstStyle/>
          <a:p>
            <a:pPr algn="ctr" indent="0" marL="0">
              <a:buNone/>
            </a:pPr>
            <a:r>
              <a:rPr lang="en-US" sz="800" dirty="0">
                <a:solidFill>
                  <a:srgbClr val="94A3B8"/>
                </a:solidFill>
                <a:latin typeface="Inter" pitchFamily="34" charset="0"/>
                <a:ea typeface="Inter" pitchFamily="34" charset="-122"/>
                <a:cs typeface="Inter" pitchFamily="34" charset="-120"/>
              </a:rPr>
              <a:t>nomic-embed-text</a:t>
            </a:r>
            <a:endParaRPr lang="en-US" sz="800" dirty="0"/>
          </a:p>
        </p:txBody>
      </p:sp>
      <p:sp>
        <p:nvSpPr>
          <p:cNvPr id="26" name="Shape 17"/>
          <p:cNvSpPr/>
          <p:nvPr/>
        </p:nvSpPr>
        <p:spPr>
          <a:xfrm>
            <a:off x="4765853" y="3354934"/>
            <a:ext cx="952805" cy="1143000"/>
          </a:xfrm>
          <a:prstGeom prst="roundRect">
            <a:avLst>
              <a:gd name="adj" fmla="val 23033"/>
            </a:avLst>
          </a:prstGeom>
          <a:solidFill>
            <a:srgbClr val="6366F1">
              <a:alpha val="10000"/>
            </a:srgbClr>
          </a:solidFill>
          <a:ln w="12700">
            <a:solidFill>
              <a:srgbClr val="6366F1">
                <a:alpha val="30000"/>
              </a:srgbClr>
            </a:solidFill>
            <a:prstDash val="solid"/>
          </a:ln>
        </p:spPr>
      </p:sp>
      <p:sp>
        <p:nvSpPr>
          <p:cNvPr id="27" name="Shape 18"/>
          <p:cNvSpPr/>
          <p:nvPr/>
        </p:nvSpPr>
        <p:spPr>
          <a:xfrm>
            <a:off x="5050231" y="3516782"/>
            <a:ext cx="381305" cy="381305"/>
          </a:xfrm>
          <a:prstGeom prst="roundRect">
            <a:avLst>
              <a:gd name="adj" fmla="val 119904"/>
            </a:avLst>
          </a:prstGeom>
          <a:solidFill>
            <a:srgbClr val="6366F1">
              <a:alpha val="20000"/>
            </a:srgbClr>
          </a:solidFill>
          <a:ln w="12700">
            <a:solidFill>
              <a:srgbClr val="FFFFFF">
                <a:alpha val="0"/>
              </a:srgbClr>
            </a:solidFill>
            <a:prstDash val="solid"/>
          </a:ln>
        </p:spPr>
      </p:sp>
      <p:pic>
        <p:nvPicPr>
          <p:cNvPr id="28" name="Image 7" descr="preencoded.png">    </p:cNvPr>
          <p:cNvPicPr>
            <a:picLocks noChangeAspect="1"/>
          </p:cNvPicPr>
          <p:nvPr/>
        </p:nvPicPr>
        <p:blipFill>
          <a:blip r:embed="rId8"/>
          <a:srcRect l="-760" r="-760" t="0" b="0"/>
          <a:stretch/>
        </p:blipFill>
        <p:spPr>
          <a:xfrm>
            <a:off x="5164531" y="3621024"/>
            <a:ext cx="152705" cy="171907"/>
          </a:xfrm>
          <a:prstGeom prst="rect">
            <a:avLst/>
          </a:prstGeom>
        </p:spPr>
      </p:pic>
      <p:sp>
        <p:nvSpPr>
          <p:cNvPr id="29" name="Text 19"/>
          <p:cNvSpPr txBox="1"/>
          <p:nvPr/>
        </p:nvSpPr>
        <p:spPr>
          <a:xfrm>
            <a:off x="4865522" y="3973982"/>
            <a:ext cx="758952" cy="152705"/>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Vector DB</a:t>
            </a:r>
            <a:endParaRPr lang="en-US" sz="900" dirty="0"/>
          </a:p>
        </p:txBody>
      </p:sp>
      <p:sp>
        <p:nvSpPr>
          <p:cNvPr id="30" name="Text 20"/>
          <p:cNvSpPr txBox="1"/>
          <p:nvPr/>
        </p:nvSpPr>
        <p:spPr>
          <a:xfrm>
            <a:off x="4974336" y="4202582"/>
            <a:ext cx="543154" cy="133502"/>
          </a:xfrm>
          <a:prstGeom prst="rect">
            <a:avLst/>
          </a:prstGeom>
          <a:noFill/>
          <a:ln/>
        </p:spPr>
        <p:txBody>
          <a:bodyPr wrap="square" lIns="0" tIns="0" rIns="0" bIns="0" rtlCol="0" anchor="ctr"/>
          <a:lstStyle/>
          <a:p>
            <a:pPr algn="ctr" indent="0" marL="0">
              <a:buNone/>
            </a:pPr>
            <a:r>
              <a:rPr lang="en-US" sz="800" dirty="0">
                <a:solidFill>
                  <a:srgbClr val="94A3B8"/>
                </a:solidFill>
                <a:latin typeface="Inter" pitchFamily="34" charset="0"/>
                <a:ea typeface="Inter" pitchFamily="34" charset="-122"/>
                <a:cs typeface="Inter" pitchFamily="34" charset="-120"/>
              </a:rPr>
              <a:t>ChromaDB</a:t>
            </a:r>
            <a:endParaRPr lang="en-US" sz="800" dirty="0"/>
          </a:p>
        </p:txBody>
      </p:sp>
      <p:sp>
        <p:nvSpPr>
          <p:cNvPr id="31" name="Shape 21"/>
          <p:cNvSpPr/>
          <p:nvPr/>
        </p:nvSpPr>
        <p:spPr>
          <a:xfrm>
            <a:off x="6116422" y="3354934"/>
            <a:ext cx="981151" cy="1143000"/>
          </a:xfrm>
          <a:prstGeom prst="roundRect">
            <a:avLst>
              <a:gd name="adj" fmla="val 21716"/>
            </a:avLst>
          </a:prstGeom>
          <a:solidFill>
            <a:srgbClr val="6366F1">
              <a:alpha val="10000"/>
            </a:srgbClr>
          </a:solidFill>
          <a:ln w="12700">
            <a:solidFill>
              <a:srgbClr val="6366F1">
                <a:alpha val="30000"/>
              </a:srgbClr>
            </a:solidFill>
            <a:prstDash val="solid"/>
          </a:ln>
        </p:spPr>
      </p:sp>
      <p:sp>
        <p:nvSpPr>
          <p:cNvPr id="32" name="Shape 22"/>
          <p:cNvSpPr/>
          <p:nvPr/>
        </p:nvSpPr>
        <p:spPr>
          <a:xfrm>
            <a:off x="6415430" y="3516782"/>
            <a:ext cx="381305" cy="381305"/>
          </a:xfrm>
          <a:prstGeom prst="roundRect">
            <a:avLst>
              <a:gd name="adj" fmla="val 119904"/>
            </a:avLst>
          </a:prstGeom>
          <a:solidFill>
            <a:srgbClr val="6366F1">
              <a:alpha val="20000"/>
            </a:srgbClr>
          </a:solidFill>
          <a:ln w="12700">
            <a:solidFill>
              <a:srgbClr val="FFFFFF">
                <a:alpha val="0"/>
              </a:srgbClr>
            </a:solidFill>
            <a:prstDash val="solid"/>
          </a:ln>
        </p:spPr>
      </p:sp>
      <p:pic>
        <p:nvPicPr>
          <p:cNvPr id="33" name="Image 8" descr="preencoded.png">    </p:cNvPr>
          <p:cNvPicPr>
            <a:picLocks noChangeAspect="1"/>
          </p:cNvPicPr>
          <p:nvPr/>
        </p:nvPicPr>
        <p:blipFill>
          <a:blip r:embed="rId9"/>
          <a:srcRect l="-1064" r="-1064" t="0" b="0"/>
          <a:stretch/>
        </p:blipFill>
        <p:spPr>
          <a:xfrm>
            <a:off x="6496812" y="3621024"/>
            <a:ext cx="219456" cy="171907"/>
          </a:xfrm>
          <a:prstGeom prst="rect">
            <a:avLst/>
          </a:prstGeom>
        </p:spPr>
      </p:pic>
      <p:sp>
        <p:nvSpPr>
          <p:cNvPr id="34" name="Text 23"/>
          <p:cNvSpPr txBox="1"/>
          <p:nvPr/>
        </p:nvSpPr>
        <p:spPr>
          <a:xfrm>
            <a:off x="6063386" y="3973982"/>
            <a:ext cx="1088136" cy="152705"/>
          </a:xfrm>
          <a:prstGeom prst="rect">
            <a:avLst/>
          </a:prstGeom>
          <a:noFill/>
          <a:ln/>
        </p:spPr>
        <p:txBody>
          <a:bodyPr wrap="square" lIns="0" tIns="0" rIns="0" bIns="0" rtlCol="0" anchor="ctr"/>
          <a:lstStyle/>
          <a:p>
            <a:pPr algn="ctr" indent="0" marL="0">
              <a:buNone/>
            </a:pPr>
            <a:r>
              <a:rPr lang="en-US" sz="900" dirty="0">
                <a:solidFill>
                  <a:srgbClr val="CBD5E1"/>
                </a:solidFill>
                <a:latin typeface="Inter" pitchFamily="34" charset="0"/>
                <a:ea typeface="Inter" pitchFamily="34" charset="-122"/>
                <a:cs typeface="Inter" pitchFamily="34" charset="-120"/>
              </a:rPr>
              <a:t>Orchestration</a:t>
            </a:r>
            <a:endParaRPr lang="en-US" sz="900" dirty="0"/>
          </a:p>
        </p:txBody>
      </p:sp>
      <p:sp>
        <p:nvSpPr>
          <p:cNvPr id="35" name="Text 24"/>
          <p:cNvSpPr txBox="1"/>
          <p:nvPr/>
        </p:nvSpPr>
        <p:spPr>
          <a:xfrm>
            <a:off x="6285586" y="4202582"/>
            <a:ext cx="646481" cy="133502"/>
          </a:xfrm>
          <a:prstGeom prst="rect">
            <a:avLst/>
          </a:prstGeom>
          <a:noFill/>
          <a:ln/>
        </p:spPr>
        <p:txBody>
          <a:bodyPr wrap="square" lIns="0" tIns="0" rIns="0" bIns="0" rtlCol="0" anchor="ctr"/>
          <a:lstStyle/>
          <a:p>
            <a:pPr algn="ctr" indent="0" marL="0">
              <a:buNone/>
            </a:pPr>
            <a:r>
              <a:rPr lang="en-US" sz="800" dirty="0">
                <a:solidFill>
                  <a:srgbClr val="94A3B8"/>
                </a:solidFill>
                <a:latin typeface="Inter" pitchFamily="34" charset="0"/>
                <a:ea typeface="Inter" pitchFamily="34" charset="-122"/>
                <a:cs typeface="Inter" pitchFamily="34" charset="-120"/>
              </a:rPr>
              <a:t>LangChain</a:t>
            </a:r>
            <a:endParaRPr lang="en-US" sz="800" dirty="0"/>
          </a:p>
        </p:txBody>
      </p:sp>
      <p:sp>
        <p:nvSpPr>
          <p:cNvPr id="36" name="Shape 25"/>
          <p:cNvSpPr/>
          <p:nvPr/>
        </p:nvSpPr>
        <p:spPr>
          <a:xfrm>
            <a:off x="476402" y="5031029"/>
            <a:ext cx="1228954" cy="323698"/>
          </a:xfrm>
          <a:prstGeom prst="roundRect">
            <a:avLst>
              <a:gd name="adj" fmla="val 132934"/>
            </a:avLst>
          </a:prstGeom>
          <a:solidFill>
            <a:srgbClr val="0F0F19">
              <a:alpha val="80000"/>
            </a:srgbClr>
          </a:solidFill>
          <a:ln w="12700">
            <a:solidFill>
              <a:srgbClr val="6366F1">
                <a:alpha val="20000"/>
              </a:srgbClr>
            </a:solidFill>
            <a:prstDash val="solid"/>
          </a:ln>
        </p:spPr>
      </p:sp>
      <p:pic>
        <p:nvPicPr>
          <p:cNvPr id="37" name="Image 9" descr="preencoded.png">    </p:cNvPr>
          <p:cNvPicPr>
            <a:picLocks noChangeAspect="1"/>
          </p:cNvPicPr>
          <p:nvPr/>
        </p:nvPicPr>
        <p:blipFill>
          <a:blip r:embed="rId10"/>
          <a:srcRect l="-2571" r="-2571" t="0" b="0"/>
          <a:stretch/>
        </p:blipFill>
        <p:spPr>
          <a:xfrm>
            <a:off x="619049" y="5136185"/>
            <a:ext cx="105156" cy="114300"/>
          </a:xfrm>
          <a:prstGeom prst="rect">
            <a:avLst/>
          </a:prstGeom>
        </p:spPr>
      </p:pic>
      <p:sp>
        <p:nvSpPr>
          <p:cNvPr id="38" name="Text 26"/>
          <p:cNvSpPr txBox="1"/>
          <p:nvPr/>
        </p:nvSpPr>
        <p:spPr>
          <a:xfrm>
            <a:off x="800100" y="5031029"/>
            <a:ext cx="762610" cy="324612"/>
          </a:xfrm>
          <a:prstGeom prst="rect">
            <a:avLst/>
          </a:prstGeom>
          <a:noFill/>
          <a:ln/>
        </p:spPr>
        <p:txBody>
          <a:bodyPr wrap="squar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Python 3.10+</a:t>
            </a:r>
            <a:endParaRPr lang="en-US" sz="900" dirty="0"/>
          </a:p>
        </p:txBody>
      </p:sp>
      <p:sp>
        <p:nvSpPr>
          <p:cNvPr id="39" name="Shape 27"/>
          <p:cNvSpPr/>
          <p:nvPr/>
        </p:nvSpPr>
        <p:spPr>
          <a:xfrm>
            <a:off x="1813255" y="5031029"/>
            <a:ext cx="1399946" cy="323698"/>
          </a:xfrm>
          <a:prstGeom prst="roundRect">
            <a:avLst>
              <a:gd name="adj" fmla="val 132934"/>
            </a:avLst>
          </a:prstGeom>
          <a:solidFill>
            <a:srgbClr val="0F0F19">
              <a:alpha val="80000"/>
            </a:srgbClr>
          </a:solidFill>
          <a:ln w="12700">
            <a:solidFill>
              <a:srgbClr val="6366F1">
                <a:alpha val="20000"/>
              </a:srgbClr>
            </a:solidFill>
            <a:prstDash val="solid"/>
          </a:ln>
        </p:spPr>
      </p:sp>
      <p:pic>
        <p:nvPicPr>
          <p:cNvPr id="40" name="Image 10" descr="preencoded.png">    </p:cNvPr>
          <p:cNvPicPr>
            <a:picLocks noChangeAspect="1"/>
          </p:cNvPicPr>
          <p:nvPr/>
        </p:nvPicPr>
        <p:blipFill>
          <a:blip r:embed="rId11"/>
          <a:srcRect l="0" r="0" t="-80" b="-80"/>
          <a:stretch/>
        </p:blipFill>
        <p:spPr>
          <a:xfrm>
            <a:off x="1955902" y="5136185"/>
            <a:ext cx="142646" cy="114300"/>
          </a:xfrm>
          <a:prstGeom prst="rect">
            <a:avLst/>
          </a:prstGeom>
        </p:spPr>
      </p:pic>
      <p:sp>
        <p:nvSpPr>
          <p:cNvPr id="41" name="Text 28"/>
          <p:cNvSpPr txBox="1"/>
          <p:nvPr/>
        </p:nvSpPr>
        <p:spPr>
          <a:xfrm>
            <a:off x="2174443" y="5031029"/>
            <a:ext cx="896112" cy="324612"/>
          </a:xfrm>
          <a:prstGeom prst="rect">
            <a:avLst/>
          </a:prstGeom>
          <a:noFill/>
          <a:ln/>
        </p:spPr>
        <p:txBody>
          <a:bodyPr wrap="squar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Ollama (2.0GB)</a:t>
            </a:r>
            <a:endParaRPr lang="en-US" sz="900" dirty="0"/>
          </a:p>
        </p:txBody>
      </p:sp>
      <p:sp>
        <p:nvSpPr>
          <p:cNvPr id="42" name="Shape 29"/>
          <p:cNvSpPr/>
          <p:nvPr/>
        </p:nvSpPr>
        <p:spPr>
          <a:xfrm>
            <a:off x="3319272" y="5031029"/>
            <a:ext cx="1123798" cy="323698"/>
          </a:xfrm>
          <a:prstGeom prst="roundRect">
            <a:avLst>
              <a:gd name="adj" fmla="val 132934"/>
            </a:avLst>
          </a:prstGeom>
          <a:solidFill>
            <a:srgbClr val="0F0F19">
              <a:alpha val="80000"/>
            </a:srgbClr>
          </a:solidFill>
          <a:ln w="12700">
            <a:solidFill>
              <a:srgbClr val="6366F1">
                <a:alpha val="20000"/>
              </a:srgbClr>
            </a:solidFill>
            <a:prstDash val="solid"/>
          </a:ln>
        </p:spPr>
      </p:sp>
      <p:pic>
        <p:nvPicPr>
          <p:cNvPr id="43" name="Image 11" descr="preencoded.png">    </p:cNvPr>
          <p:cNvPicPr>
            <a:picLocks noChangeAspect="1"/>
          </p:cNvPicPr>
          <p:nvPr/>
        </p:nvPicPr>
        <p:blipFill>
          <a:blip r:embed="rId12"/>
          <a:srcRect l="-1911" r="-1911" t="0" b="0"/>
          <a:stretch/>
        </p:blipFill>
        <p:spPr>
          <a:xfrm>
            <a:off x="3461918" y="5136185"/>
            <a:ext cx="133502" cy="114300"/>
          </a:xfrm>
          <a:prstGeom prst="rect">
            <a:avLst/>
          </a:prstGeom>
        </p:spPr>
      </p:pic>
      <p:sp>
        <p:nvSpPr>
          <p:cNvPr id="44" name="Text 30"/>
          <p:cNvSpPr txBox="1"/>
          <p:nvPr/>
        </p:nvSpPr>
        <p:spPr>
          <a:xfrm>
            <a:off x="3671316" y="5031029"/>
            <a:ext cx="629107" cy="324612"/>
          </a:xfrm>
          <a:prstGeom prst="rect">
            <a:avLst/>
          </a:prstGeom>
          <a:noFill/>
          <a:ln/>
        </p:spPr>
        <p:txBody>
          <a:bodyPr wrap="squar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LangChain</a:t>
            </a:r>
            <a:endParaRPr lang="en-US" sz="900" dirty="0"/>
          </a:p>
        </p:txBody>
      </p:sp>
      <p:sp>
        <p:nvSpPr>
          <p:cNvPr id="45" name="Shape 31"/>
          <p:cNvSpPr/>
          <p:nvPr/>
        </p:nvSpPr>
        <p:spPr>
          <a:xfrm>
            <a:off x="4553712" y="5031029"/>
            <a:ext cx="1104595" cy="323698"/>
          </a:xfrm>
          <a:prstGeom prst="roundRect">
            <a:avLst>
              <a:gd name="adj" fmla="val 132934"/>
            </a:avLst>
          </a:prstGeom>
          <a:solidFill>
            <a:srgbClr val="0F0F19">
              <a:alpha val="80000"/>
            </a:srgbClr>
          </a:solidFill>
          <a:ln w="12700">
            <a:solidFill>
              <a:srgbClr val="6366F1">
                <a:alpha val="20000"/>
              </a:srgbClr>
            </a:solidFill>
            <a:prstDash val="solid"/>
          </a:ln>
        </p:spPr>
      </p:sp>
      <p:pic>
        <p:nvPicPr>
          <p:cNvPr id="46" name="Image 12" descr="preencoded.png">    </p:cNvPr>
          <p:cNvPicPr>
            <a:picLocks noChangeAspect="1"/>
          </p:cNvPicPr>
          <p:nvPr/>
        </p:nvPicPr>
        <p:blipFill>
          <a:blip r:embed="rId13"/>
          <a:srcRect l="-2571" r="-2571" t="0" b="0"/>
          <a:stretch/>
        </p:blipFill>
        <p:spPr>
          <a:xfrm>
            <a:off x="4696358" y="5136185"/>
            <a:ext cx="105156" cy="114300"/>
          </a:xfrm>
          <a:prstGeom prst="rect">
            <a:avLst/>
          </a:prstGeom>
        </p:spPr>
      </p:pic>
      <p:sp>
        <p:nvSpPr>
          <p:cNvPr id="47" name="Text 32"/>
          <p:cNvSpPr txBox="1"/>
          <p:nvPr/>
        </p:nvSpPr>
        <p:spPr>
          <a:xfrm>
            <a:off x="4877410" y="5031029"/>
            <a:ext cx="638251" cy="324612"/>
          </a:xfrm>
          <a:prstGeom prst="rect">
            <a:avLst/>
          </a:prstGeom>
          <a:noFill/>
          <a:ln/>
        </p:spPr>
        <p:txBody>
          <a:bodyPr wrap="squar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ChromaDB</a:t>
            </a:r>
            <a:endParaRPr lang="en-US" sz="900" dirty="0"/>
          </a:p>
        </p:txBody>
      </p:sp>
      <p:sp>
        <p:nvSpPr>
          <p:cNvPr id="48" name="Shape 33"/>
          <p:cNvSpPr/>
          <p:nvPr/>
        </p:nvSpPr>
        <p:spPr>
          <a:xfrm>
            <a:off x="5765292" y="5031029"/>
            <a:ext cx="1000354" cy="323698"/>
          </a:xfrm>
          <a:prstGeom prst="roundRect">
            <a:avLst>
              <a:gd name="adj" fmla="val 132934"/>
            </a:avLst>
          </a:prstGeom>
          <a:solidFill>
            <a:srgbClr val="0F0F19">
              <a:alpha val="80000"/>
            </a:srgbClr>
          </a:solidFill>
          <a:ln w="12700">
            <a:solidFill>
              <a:srgbClr val="6366F1">
                <a:alpha val="20000"/>
              </a:srgbClr>
            </a:solidFill>
            <a:prstDash val="solid"/>
          </a:ln>
        </p:spPr>
      </p:sp>
      <p:pic>
        <p:nvPicPr>
          <p:cNvPr id="49" name="Image 13" descr="preencoded.png">    </p:cNvPr>
          <p:cNvPicPr>
            <a:picLocks noChangeAspect="1"/>
          </p:cNvPicPr>
          <p:nvPr/>
        </p:nvPicPr>
        <p:blipFill>
          <a:blip r:embed="rId14"/>
          <a:srcRect l="0" r="0" t="0" b="0"/>
          <a:stretch/>
        </p:blipFill>
        <p:spPr>
          <a:xfrm>
            <a:off x="5908853" y="5136185"/>
            <a:ext cx="114300" cy="114300"/>
          </a:xfrm>
          <a:prstGeom prst="rect">
            <a:avLst/>
          </a:prstGeom>
        </p:spPr>
      </p:pic>
      <p:sp>
        <p:nvSpPr>
          <p:cNvPr id="50" name="Text 34"/>
          <p:cNvSpPr txBox="1"/>
          <p:nvPr/>
        </p:nvSpPr>
        <p:spPr>
          <a:xfrm>
            <a:off x="6099048" y="5031029"/>
            <a:ext cx="523951" cy="324612"/>
          </a:xfrm>
          <a:prstGeom prst="rect">
            <a:avLst/>
          </a:prstGeom>
          <a:noFill/>
          <a:ln/>
        </p:spPr>
        <p:txBody>
          <a:bodyPr wrap="squar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Streamlit</a:t>
            </a:r>
            <a:endParaRPr lang="en-US" sz="900" dirty="0"/>
          </a:p>
        </p:txBody>
      </p:sp>
      <p:sp>
        <p:nvSpPr>
          <p:cNvPr id="51" name="Shape 35"/>
          <p:cNvSpPr/>
          <p:nvPr/>
        </p:nvSpPr>
        <p:spPr>
          <a:xfrm>
            <a:off x="476402" y="5469026"/>
            <a:ext cx="1248156" cy="323698"/>
          </a:xfrm>
          <a:prstGeom prst="roundRect">
            <a:avLst>
              <a:gd name="adj" fmla="val 132934"/>
            </a:avLst>
          </a:prstGeom>
          <a:solidFill>
            <a:srgbClr val="0F0F19">
              <a:alpha val="80000"/>
            </a:srgbClr>
          </a:solidFill>
          <a:ln w="12700">
            <a:solidFill>
              <a:srgbClr val="6366F1">
                <a:alpha val="20000"/>
              </a:srgbClr>
            </a:solidFill>
            <a:prstDash val="solid"/>
          </a:ln>
        </p:spPr>
      </p:sp>
      <p:pic>
        <p:nvPicPr>
          <p:cNvPr id="52" name="Image 14" descr="preencoded.png">    </p:cNvPr>
          <p:cNvPicPr>
            <a:picLocks noChangeAspect="1"/>
          </p:cNvPicPr>
          <p:nvPr/>
        </p:nvPicPr>
        <p:blipFill>
          <a:blip r:embed="rId15"/>
          <a:srcRect l="0" r="0" t="0" b="0"/>
          <a:stretch/>
        </p:blipFill>
        <p:spPr>
          <a:xfrm>
            <a:off x="619049" y="5574182"/>
            <a:ext cx="114300" cy="114300"/>
          </a:xfrm>
          <a:prstGeom prst="rect">
            <a:avLst/>
          </a:prstGeom>
        </p:spPr>
      </p:pic>
      <p:sp>
        <p:nvSpPr>
          <p:cNvPr id="53" name="Text 36"/>
          <p:cNvSpPr txBox="1"/>
          <p:nvPr/>
        </p:nvSpPr>
        <p:spPr>
          <a:xfrm>
            <a:off x="809244" y="5469026"/>
            <a:ext cx="771754" cy="324612"/>
          </a:xfrm>
          <a:prstGeom prst="rect">
            <a:avLst/>
          </a:prstGeom>
          <a:noFill/>
          <a:ln/>
        </p:spPr>
        <p:txBody>
          <a:bodyPr wrap="squar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DuckDuckGo</a:t>
            </a:r>
            <a:endParaRPr lang="en-US" sz="900" dirty="0"/>
          </a:p>
        </p:txBody>
      </p:sp>
      <p:sp>
        <p:nvSpPr>
          <p:cNvPr id="54" name="Shape 37"/>
          <p:cNvSpPr/>
          <p:nvPr/>
        </p:nvSpPr>
        <p:spPr>
          <a:xfrm>
            <a:off x="7715707" y="952805"/>
            <a:ext cx="4000500" cy="2809951"/>
          </a:xfrm>
          <a:prstGeom prst="roundRect">
            <a:avLst>
              <a:gd name="adj" fmla="val 3530"/>
            </a:avLst>
          </a:prstGeom>
          <a:solidFill>
            <a:srgbClr val="0F0F19">
              <a:alpha val="80000"/>
            </a:srgbClr>
          </a:solidFill>
          <a:ln w="12700">
            <a:solidFill>
              <a:srgbClr val="6366F1">
                <a:alpha val="20000"/>
              </a:srgbClr>
            </a:solidFill>
            <a:prstDash val="solid"/>
          </a:ln>
        </p:spPr>
      </p:sp>
      <p:sp>
        <p:nvSpPr>
          <p:cNvPr id="55" name="Text 38"/>
          <p:cNvSpPr txBox="1"/>
          <p:nvPr/>
        </p:nvSpPr>
        <p:spPr>
          <a:xfrm>
            <a:off x="8201254" y="1214323"/>
            <a:ext cx="1667866" cy="191110"/>
          </a:xfrm>
          <a:prstGeom prst="rect">
            <a:avLst/>
          </a:prstGeom>
          <a:noFill/>
          <a:ln/>
        </p:spPr>
        <p:txBody>
          <a:bodyPr wrap="square" lIns="0" tIns="0" rIns="0" bIns="0" rtlCol="0" anchor="ctr"/>
          <a:lstStyle/>
          <a:p>
            <a:pPr algn="l" indent="0" marL="0">
              <a:buNone/>
            </a:pPr>
            <a:r>
              <a:rPr lang="en-US" sz="1200" b="1" dirty="0">
                <a:solidFill>
                  <a:srgbClr val="FFFFFF"/>
                </a:solidFill>
                <a:latin typeface="Inter" pitchFamily="34" charset="0"/>
                <a:ea typeface="Inter" pitchFamily="34" charset="-122"/>
                <a:cs typeface="Inter" pitchFamily="34" charset="-120"/>
              </a:rPr>
              <a:t> Tech Stack Details </a:t>
            </a:r>
            <a:endParaRPr lang="en-US" sz="1200" dirty="0"/>
          </a:p>
        </p:txBody>
      </p:sp>
      <p:pic>
        <p:nvPicPr>
          <p:cNvPr id="56" name="Image 15" descr="preencoded.png">    </p:cNvPr>
          <p:cNvPicPr>
            <a:picLocks noChangeAspect="1"/>
          </p:cNvPicPr>
          <p:nvPr/>
        </p:nvPicPr>
        <p:blipFill>
          <a:blip r:embed="rId16"/>
          <a:srcRect l="0" r="0" t="0" b="0"/>
          <a:stretch/>
        </p:blipFill>
        <p:spPr>
          <a:xfrm>
            <a:off x="7953451" y="1233526"/>
            <a:ext cx="152705" cy="152705"/>
          </a:xfrm>
          <a:prstGeom prst="rect">
            <a:avLst/>
          </a:prstGeom>
        </p:spPr>
      </p:pic>
      <p:sp>
        <p:nvSpPr>
          <p:cNvPr id="57" name="Shape 39"/>
          <p:cNvSpPr/>
          <p:nvPr/>
        </p:nvSpPr>
        <p:spPr>
          <a:xfrm>
            <a:off x="10891418" y="1190549"/>
            <a:ext cx="590702" cy="237744"/>
          </a:xfrm>
          <a:prstGeom prst="roundRect">
            <a:avLst>
              <a:gd name="adj" fmla="val 184615"/>
            </a:avLst>
          </a:prstGeom>
          <a:solidFill>
            <a:srgbClr val="10B981">
              <a:alpha val="10000"/>
            </a:srgbClr>
          </a:solidFill>
          <a:ln w="12700">
            <a:solidFill>
              <a:srgbClr val="10B981">
                <a:alpha val="30000"/>
              </a:srgbClr>
            </a:solidFill>
            <a:prstDash val="solid"/>
          </a:ln>
        </p:spPr>
      </p:sp>
      <p:sp>
        <p:nvSpPr>
          <p:cNvPr id="58" name="Text 40"/>
          <p:cNvSpPr txBox="1"/>
          <p:nvPr/>
        </p:nvSpPr>
        <p:spPr>
          <a:xfrm>
            <a:off x="10891418" y="1190549"/>
            <a:ext cx="590702" cy="23865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algn="l" indent="0" marL="0">
              <a:buNone/>
            </a:pPr>
            <a:r>
              <a:rPr lang="en-US" sz="900" dirty="0">
                <a:solidFill>
                  <a:srgbClr val="10B981"/>
                </a:solidFill>
                <a:latin typeface="Inter" pitchFamily="34" charset="0"/>
                <a:ea typeface="Inter" pitchFamily="34" charset="-122"/>
                <a:cs typeface="Inter" pitchFamily="34" charset="-120"/>
              </a:rPr>
              <a:t>Ready</a:t>
            </a:r>
            <a:endParaRPr lang="en-US" sz="900" dirty="0"/>
          </a:p>
        </p:txBody>
      </p:sp>
      <p:sp>
        <p:nvSpPr>
          <p:cNvPr id="59" name="Shape 41"/>
          <p:cNvSpPr/>
          <p:nvPr/>
        </p:nvSpPr>
        <p:spPr>
          <a:xfrm>
            <a:off x="7953451" y="1619402"/>
            <a:ext cx="3524098" cy="390449"/>
          </a:xfrm>
          <a:prstGeom prst="roundRect">
            <a:avLst>
              <a:gd name="adj" fmla="val 114240"/>
            </a:avLst>
          </a:prstGeom>
          <a:solidFill>
            <a:srgbClr val="0F0F19">
              <a:alpha val="60000"/>
            </a:srgbClr>
          </a:solidFill>
          <a:ln w="12700">
            <a:solidFill>
              <a:srgbClr val="FFFFFF">
                <a:alpha val="0"/>
              </a:srgbClr>
            </a:solidFill>
            <a:prstDash val="solid"/>
          </a:ln>
        </p:spPr>
      </p:sp>
      <p:sp>
        <p:nvSpPr>
          <p:cNvPr id="60" name="Shape 42"/>
          <p:cNvSpPr/>
          <p:nvPr/>
        </p:nvSpPr>
        <p:spPr>
          <a:xfrm>
            <a:off x="8106156" y="1776679"/>
            <a:ext cx="75895" cy="75895"/>
          </a:xfrm>
          <a:prstGeom prst="ellipse">
            <a:avLst/>
          </a:prstGeom>
          <a:solidFill>
            <a:srgbClr val="10B981"/>
          </a:solidFill>
          <a:ln w="12700">
            <a:solidFill>
              <a:srgbClr val="FFFFFF">
                <a:alpha val="0"/>
              </a:srgbClr>
            </a:solidFill>
            <a:prstDash val="solid"/>
          </a:ln>
        </p:spPr>
      </p:sp>
      <p:sp>
        <p:nvSpPr>
          <p:cNvPr id="61" name="Text 43"/>
          <p:cNvSpPr txBox="1"/>
          <p:nvPr/>
        </p:nvSpPr>
        <p:spPr>
          <a:xfrm>
            <a:off x="8296351" y="1733702"/>
            <a:ext cx="1083564"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Python 3.10+</a:t>
            </a:r>
            <a:endParaRPr lang="en-US" sz="1000" dirty="0"/>
          </a:p>
        </p:txBody>
      </p:sp>
      <p:sp>
        <p:nvSpPr>
          <p:cNvPr id="62" name="Text 44"/>
          <p:cNvSpPr txBox="1"/>
          <p:nvPr/>
        </p:nvSpPr>
        <p:spPr>
          <a:xfrm>
            <a:off x="11201400" y="1738274"/>
            <a:ext cx="124358" cy="152705"/>
          </a:xfrm>
          <a:prstGeom prst="rect">
            <a:avLst/>
          </a:prstGeom>
          <a:noFill/>
          <a:ln/>
        </p:spPr>
        <p:txBody>
          <a:bodyPr wrap="squar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a:t>
            </a:r>
            <a:endParaRPr lang="en-US" sz="900" dirty="0"/>
          </a:p>
        </p:txBody>
      </p:sp>
      <p:sp>
        <p:nvSpPr>
          <p:cNvPr id="63" name="Shape 45"/>
          <p:cNvSpPr/>
          <p:nvPr/>
        </p:nvSpPr>
        <p:spPr>
          <a:xfrm>
            <a:off x="7953451" y="2124151"/>
            <a:ext cx="3524098" cy="390449"/>
          </a:xfrm>
          <a:prstGeom prst="roundRect">
            <a:avLst>
              <a:gd name="adj" fmla="val 114240"/>
            </a:avLst>
          </a:prstGeom>
          <a:solidFill>
            <a:srgbClr val="0F0F19">
              <a:alpha val="60000"/>
            </a:srgbClr>
          </a:solidFill>
          <a:ln w="12700">
            <a:solidFill>
              <a:srgbClr val="FFFFFF">
                <a:alpha val="0"/>
              </a:srgbClr>
            </a:solidFill>
            <a:prstDash val="solid"/>
          </a:ln>
        </p:spPr>
      </p:sp>
      <p:sp>
        <p:nvSpPr>
          <p:cNvPr id="64" name="Shape 46"/>
          <p:cNvSpPr/>
          <p:nvPr/>
        </p:nvSpPr>
        <p:spPr>
          <a:xfrm>
            <a:off x="8106156" y="2281428"/>
            <a:ext cx="75895" cy="75895"/>
          </a:xfrm>
          <a:prstGeom prst="ellipse">
            <a:avLst/>
          </a:prstGeom>
          <a:solidFill>
            <a:srgbClr val="10B981"/>
          </a:solidFill>
          <a:ln w="12700">
            <a:solidFill>
              <a:srgbClr val="FFFFFF">
                <a:alpha val="0"/>
              </a:srgbClr>
            </a:solidFill>
            <a:prstDash val="solid"/>
          </a:ln>
        </p:spPr>
      </p:sp>
      <p:sp>
        <p:nvSpPr>
          <p:cNvPr id="65" name="Text 47"/>
          <p:cNvSpPr txBox="1"/>
          <p:nvPr/>
        </p:nvSpPr>
        <p:spPr>
          <a:xfrm>
            <a:off x="8296351" y="2238451"/>
            <a:ext cx="1264615"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llama3.2 Model</a:t>
            </a:r>
            <a:endParaRPr lang="en-US" sz="1000" dirty="0"/>
          </a:p>
        </p:txBody>
      </p:sp>
      <p:sp>
        <p:nvSpPr>
          <p:cNvPr id="66" name="Text 48"/>
          <p:cNvSpPr txBox="1"/>
          <p:nvPr/>
        </p:nvSpPr>
        <p:spPr>
          <a:xfrm>
            <a:off x="10930738" y="2243023"/>
            <a:ext cx="506578" cy="152705"/>
          </a:xfrm>
          <a:prstGeom prst="rect">
            <a:avLst/>
          </a:prstGeom>
          <a:noFill/>
          <a:ln/>
        </p:spPr>
        <p:txBody>
          <a:bodyPr wrap="squar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2.0 GB</a:t>
            </a:r>
            <a:endParaRPr lang="en-US" sz="900" dirty="0"/>
          </a:p>
        </p:txBody>
      </p:sp>
      <p:sp>
        <p:nvSpPr>
          <p:cNvPr id="67" name="Shape 49"/>
          <p:cNvSpPr/>
          <p:nvPr/>
        </p:nvSpPr>
        <p:spPr>
          <a:xfrm>
            <a:off x="7953451" y="2628900"/>
            <a:ext cx="3524098" cy="390449"/>
          </a:xfrm>
          <a:prstGeom prst="roundRect">
            <a:avLst>
              <a:gd name="adj" fmla="val 114240"/>
            </a:avLst>
          </a:prstGeom>
          <a:solidFill>
            <a:srgbClr val="0F0F19">
              <a:alpha val="60000"/>
            </a:srgbClr>
          </a:solidFill>
          <a:ln w="12700">
            <a:solidFill>
              <a:srgbClr val="FFFFFF">
                <a:alpha val="0"/>
              </a:srgbClr>
            </a:solidFill>
            <a:prstDash val="solid"/>
          </a:ln>
        </p:spPr>
      </p:sp>
      <p:sp>
        <p:nvSpPr>
          <p:cNvPr id="68" name="Shape 50"/>
          <p:cNvSpPr/>
          <p:nvPr/>
        </p:nvSpPr>
        <p:spPr>
          <a:xfrm>
            <a:off x="8106156" y="2786177"/>
            <a:ext cx="75895" cy="75895"/>
          </a:xfrm>
          <a:prstGeom prst="ellipse">
            <a:avLst/>
          </a:prstGeom>
          <a:solidFill>
            <a:srgbClr val="10B981"/>
          </a:solidFill>
          <a:ln w="12700">
            <a:solidFill>
              <a:srgbClr val="FFFFFF">
                <a:alpha val="0"/>
              </a:srgbClr>
            </a:solidFill>
            <a:prstDash val="solid"/>
          </a:ln>
        </p:spPr>
      </p:sp>
      <p:sp>
        <p:nvSpPr>
          <p:cNvPr id="69" name="Text 51"/>
          <p:cNvSpPr txBox="1"/>
          <p:nvPr/>
        </p:nvSpPr>
        <p:spPr>
          <a:xfrm>
            <a:off x="8296351" y="2743200"/>
            <a:ext cx="1457554"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nomic-embed-text</a:t>
            </a:r>
            <a:endParaRPr lang="en-US" sz="1000" dirty="0"/>
          </a:p>
        </p:txBody>
      </p:sp>
      <p:sp>
        <p:nvSpPr>
          <p:cNvPr id="70" name="Text 52"/>
          <p:cNvSpPr txBox="1"/>
          <p:nvPr/>
        </p:nvSpPr>
        <p:spPr>
          <a:xfrm>
            <a:off x="10878617" y="2747772"/>
            <a:ext cx="448056" cy="152705"/>
          </a:xfrm>
          <a:prstGeom prst="rect">
            <a:avLst/>
          </a:prstGeom>
          <a:noFill/>
          <a:ln/>
        </p:spPr>
        <p:txBody>
          <a:bodyPr wrap="squar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274 MB</a:t>
            </a:r>
            <a:endParaRPr lang="en-US" sz="900" dirty="0"/>
          </a:p>
        </p:txBody>
      </p:sp>
      <p:sp>
        <p:nvSpPr>
          <p:cNvPr id="71" name="Shape 53"/>
          <p:cNvSpPr/>
          <p:nvPr/>
        </p:nvSpPr>
        <p:spPr>
          <a:xfrm>
            <a:off x="7953451" y="3133649"/>
            <a:ext cx="3524098" cy="390449"/>
          </a:xfrm>
          <a:prstGeom prst="roundRect">
            <a:avLst>
              <a:gd name="adj" fmla="val 114240"/>
            </a:avLst>
          </a:prstGeom>
          <a:solidFill>
            <a:srgbClr val="0F0F19">
              <a:alpha val="60000"/>
            </a:srgbClr>
          </a:solidFill>
          <a:ln w="12700">
            <a:solidFill>
              <a:srgbClr val="FFFFFF">
                <a:alpha val="0"/>
              </a:srgbClr>
            </a:solidFill>
            <a:prstDash val="solid"/>
          </a:ln>
        </p:spPr>
      </p:sp>
      <p:sp>
        <p:nvSpPr>
          <p:cNvPr id="72" name="Shape 54"/>
          <p:cNvSpPr/>
          <p:nvPr/>
        </p:nvSpPr>
        <p:spPr>
          <a:xfrm>
            <a:off x="8106156" y="3290926"/>
            <a:ext cx="75895" cy="75895"/>
          </a:xfrm>
          <a:prstGeom prst="ellipse">
            <a:avLst/>
          </a:prstGeom>
          <a:solidFill>
            <a:srgbClr val="10B981"/>
          </a:solidFill>
          <a:ln w="12700">
            <a:solidFill>
              <a:srgbClr val="FFFFFF">
                <a:alpha val="0"/>
              </a:srgbClr>
            </a:solidFill>
            <a:prstDash val="solid"/>
          </a:ln>
        </p:spPr>
      </p:sp>
      <p:sp>
        <p:nvSpPr>
          <p:cNvPr id="73" name="Text 55"/>
          <p:cNvSpPr txBox="1"/>
          <p:nvPr/>
        </p:nvSpPr>
        <p:spPr>
          <a:xfrm>
            <a:off x="8296351" y="3247949"/>
            <a:ext cx="685800"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ChromaDB</a:t>
            </a:r>
            <a:endParaRPr lang="en-US" sz="1000" dirty="0"/>
          </a:p>
        </p:txBody>
      </p:sp>
      <p:sp>
        <p:nvSpPr>
          <p:cNvPr id="74" name="Text 56"/>
          <p:cNvSpPr txBox="1"/>
          <p:nvPr/>
        </p:nvSpPr>
        <p:spPr>
          <a:xfrm>
            <a:off x="11201400" y="3252521"/>
            <a:ext cx="124358" cy="152705"/>
          </a:xfrm>
          <a:prstGeom prst="rect">
            <a:avLst/>
          </a:prstGeom>
          <a:noFill/>
          <a:ln/>
        </p:spPr>
        <p:txBody>
          <a:bodyPr wrap="squar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a:t>
            </a:r>
            <a:endParaRPr lang="en-US" sz="900" dirty="0"/>
          </a:p>
        </p:txBody>
      </p:sp>
      <p:sp>
        <p:nvSpPr>
          <p:cNvPr id="75" name="Shape 57"/>
          <p:cNvSpPr/>
          <p:nvPr/>
        </p:nvSpPr>
        <p:spPr>
          <a:xfrm>
            <a:off x="7715707" y="3952951"/>
            <a:ext cx="4000500" cy="2038198"/>
          </a:xfrm>
          <a:prstGeom prst="roundRect">
            <a:avLst>
              <a:gd name="adj" fmla="val 6709"/>
            </a:avLst>
          </a:prstGeom>
          <a:solidFill>
            <a:srgbClr val="0F0F19">
              <a:alpha val="80000"/>
            </a:srgbClr>
          </a:solidFill>
          <a:ln w="12700">
            <a:solidFill>
              <a:srgbClr val="6366F1">
                <a:alpha val="20000"/>
              </a:srgbClr>
            </a:solidFill>
            <a:prstDash val="solid"/>
          </a:ln>
        </p:spPr>
      </p:sp>
      <p:sp>
        <p:nvSpPr>
          <p:cNvPr id="76" name="Text 58"/>
          <p:cNvSpPr txBox="1"/>
          <p:nvPr/>
        </p:nvSpPr>
        <p:spPr>
          <a:xfrm>
            <a:off x="8201254" y="4190695"/>
            <a:ext cx="1770278" cy="191110"/>
          </a:xfrm>
          <a:prstGeom prst="rect">
            <a:avLst/>
          </a:prstGeom>
          <a:noFill/>
          <a:ln/>
        </p:spPr>
        <p:txBody>
          <a:bodyPr wrap="square" lIns="0" tIns="0" rIns="0" bIns="0" rtlCol="0" anchor="ctr"/>
          <a:lstStyle/>
          <a:p>
            <a:pPr algn="l" indent="0" marL="0">
              <a:buNone/>
            </a:pPr>
            <a:r>
              <a:rPr lang="en-US" sz="1200" b="1" dirty="0">
                <a:solidFill>
                  <a:srgbClr val="FFFFFF"/>
                </a:solidFill>
                <a:latin typeface="Inter" pitchFamily="34" charset="0"/>
                <a:ea typeface="Inter" pitchFamily="34" charset="-122"/>
                <a:cs typeface="Inter" pitchFamily="34" charset="-120"/>
              </a:rPr>
              <a:t> Local-First Benefits </a:t>
            </a:r>
            <a:endParaRPr lang="en-US" sz="1200" dirty="0"/>
          </a:p>
        </p:txBody>
      </p:sp>
      <p:pic>
        <p:nvPicPr>
          <p:cNvPr id="77" name="Image 16" descr="preencoded.png">    </p:cNvPr>
          <p:cNvPicPr>
            <a:picLocks noChangeAspect="1"/>
          </p:cNvPicPr>
          <p:nvPr/>
        </p:nvPicPr>
        <p:blipFill>
          <a:blip r:embed="rId17"/>
          <a:srcRect l="0" r="0" t="0" b="0"/>
          <a:stretch/>
        </p:blipFill>
        <p:spPr>
          <a:xfrm>
            <a:off x="7953451" y="4209898"/>
            <a:ext cx="152705" cy="152705"/>
          </a:xfrm>
          <a:prstGeom prst="rect">
            <a:avLst/>
          </a:prstGeom>
        </p:spPr>
      </p:pic>
      <p:sp>
        <p:nvSpPr>
          <p:cNvPr id="78" name="Shape 59"/>
          <p:cNvSpPr/>
          <p:nvPr/>
        </p:nvSpPr>
        <p:spPr>
          <a:xfrm>
            <a:off x="7953451" y="4572000"/>
            <a:ext cx="1705356" cy="533095"/>
          </a:xfrm>
          <a:prstGeom prst="roundRect">
            <a:avLst>
              <a:gd name="adj" fmla="val 61260"/>
            </a:avLst>
          </a:prstGeom>
          <a:solidFill>
            <a:srgbClr val="0F0F19">
              <a:alpha val="60000"/>
            </a:srgbClr>
          </a:solidFill>
          <a:ln w="12700">
            <a:solidFill>
              <a:srgbClr val="FFFFFF">
                <a:alpha val="0"/>
              </a:srgbClr>
            </a:solidFill>
            <a:prstDash val="solid"/>
          </a:ln>
        </p:spPr>
      </p:sp>
      <p:sp>
        <p:nvSpPr>
          <p:cNvPr id="79" name="Shape 60"/>
          <p:cNvSpPr/>
          <p:nvPr/>
        </p:nvSpPr>
        <p:spPr>
          <a:xfrm>
            <a:off x="8067751" y="4686300"/>
            <a:ext cx="304495" cy="304495"/>
          </a:xfrm>
          <a:prstGeom prst="roundRect">
            <a:avLst>
              <a:gd name="adj" fmla="val 150150"/>
            </a:avLst>
          </a:prstGeom>
          <a:solidFill>
            <a:srgbClr val="6366F1">
              <a:alpha val="10000"/>
            </a:srgbClr>
          </a:solidFill>
          <a:ln w="12700">
            <a:solidFill>
              <a:srgbClr val="FFFFFF">
                <a:alpha val="0"/>
              </a:srgbClr>
            </a:solidFill>
            <a:prstDash val="solid"/>
          </a:ln>
        </p:spPr>
      </p:sp>
      <p:pic>
        <p:nvPicPr>
          <p:cNvPr id="80" name="Image 17" descr="preencoded.png">    </p:cNvPr>
          <p:cNvPicPr>
            <a:picLocks noChangeAspect="1"/>
          </p:cNvPicPr>
          <p:nvPr/>
        </p:nvPicPr>
        <p:blipFill>
          <a:blip r:embed="rId18"/>
          <a:srcRect l="0" r="0" t="-1100" b="-1100"/>
          <a:stretch/>
        </p:blipFill>
        <p:spPr>
          <a:xfrm>
            <a:off x="8162849" y="4772254"/>
            <a:ext cx="114300" cy="133502"/>
          </a:xfrm>
          <a:prstGeom prst="rect">
            <a:avLst/>
          </a:prstGeom>
        </p:spPr>
      </p:pic>
      <p:sp>
        <p:nvSpPr>
          <p:cNvPr id="81" name="Text 61"/>
          <p:cNvSpPr txBox="1"/>
          <p:nvPr/>
        </p:nvSpPr>
        <p:spPr>
          <a:xfrm>
            <a:off x="8467344" y="4695444"/>
            <a:ext cx="790956" cy="152705"/>
          </a:xfrm>
          <a:prstGeom prst="rect">
            <a:avLst/>
          </a:prstGeom>
          <a:noFill/>
          <a:ln/>
        </p:spPr>
        <p:txBody>
          <a:bodyPr wrap="square" lIns="0" tIns="0" rIns="0" bIns="0" rtlCol="0" anchor="ctr"/>
          <a:lstStyle/>
          <a:p>
            <a:pPr algn="l" indent="0" marL="0">
              <a:buNone/>
            </a:pPr>
            <a:r>
              <a:rPr lang="en-US" sz="900" dirty="0">
                <a:solidFill>
                  <a:srgbClr val="CBD5E1"/>
                </a:solidFill>
                <a:latin typeface="Inter" pitchFamily="34" charset="0"/>
                <a:ea typeface="Inter" pitchFamily="34" charset="-122"/>
                <a:cs typeface="Inter" pitchFamily="34" charset="-120"/>
              </a:rPr>
              <a:t>Privacy</a:t>
            </a:r>
            <a:endParaRPr lang="en-US" sz="900" dirty="0"/>
          </a:p>
        </p:txBody>
      </p:sp>
      <p:sp>
        <p:nvSpPr>
          <p:cNvPr id="82" name="Text 62"/>
          <p:cNvSpPr txBox="1"/>
          <p:nvPr/>
        </p:nvSpPr>
        <p:spPr>
          <a:xfrm>
            <a:off x="8467344" y="4848149"/>
            <a:ext cx="1124712" cy="133502"/>
          </a:xfrm>
          <a:prstGeom prst="rect">
            <a:avLst/>
          </a:prstGeom>
          <a:noFill/>
          <a:ln/>
        </p:spPr>
        <p:txBody>
          <a:bodyPr wrap="square" lIns="0" tIns="0" rIns="0" bIns="0" rtlCol="0" anchor="ctr"/>
          <a:lstStyle/>
          <a:p>
            <a:pPr algn="l" indent="0" marL="0">
              <a:buNone/>
            </a:pPr>
            <a:r>
              <a:rPr lang="en-US" sz="800" dirty="0">
                <a:solidFill>
                  <a:srgbClr val="94A3B8"/>
                </a:solidFill>
                <a:latin typeface="Inter" pitchFamily="34" charset="0"/>
                <a:ea typeface="Inter" pitchFamily="34" charset="-122"/>
                <a:cs typeface="Inter" pitchFamily="34" charset="-120"/>
              </a:rPr>
              <a:t>Data stays local</a:t>
            </a:r>
            <a:endParaRPr lang="en-US" sz="800" dirty="0"/>
          </a:p>
        </p:txBody>
      </p:sp>
      <p:sp>
        <p:nvSpPr>
          <p:cNvPr id="83" name="Shape 63"/>
          <p:cNvSpPr/>
          <p:nvPr/>
        </p:nvSpPr>
        <p:spPr>
          <a:xfrm>
            <a:off x="9773107" y="4572000"/>
            <a:ext cx="1705356" cy="533095"/>
          </a:xfrm>
          <a:prstGeom prst="roundRect">
            <a:avLst>
              <a:gd name="adj" fmla="val 61260"/>
            </a:avLst>
          </a:prstGeom>
          <a:solidFill>
            <a:srgbClr val="0F0F19">
              <a:alpha val="60000"/>
            </a:srgbClr>
          </a:solidFill>
          <a:ln w="12700">
            <a:solidFill>
              <a:srgbClr val="FFFFFF">
                <a:alpha val="0"/>
              </a:srgbClr>
            </a:solidFill>
            <a:prstDash val="solid"/>
          </a:ln>
        </p:spPr>
      </p:sp>
      <p:sp>
        <p:nvSpPr>
          <p:cNvPr id="84" name="Shape 64"/>
          <p:cNvSpPr/>
          <p:nvPr/>
        </p:nvSpPr>
        <p:spPr>
          <a:xfrm>
            <a:off x="9887407" y="4686300"/>
            <a:ext cx="304495" cy="304495"/>
          </a:xfrm>
          <a:prstGeom prst="roundRect">
            <a:avLst>
              <a:gd name="adj" fmla="val 150150"/>
            </a:avLst>
          </a:prstGeom>
          <a:solidFill>
            <a:srgbClr val="6366F1">
              <a:alpha val="10000"/>
            </a:srgbClr>
          </a:solidFill>
          <a:ln w="12700">
            <a:solidFill>
              <a:srgbClr val="FFFFFF">
                <a:alpha val="0"/>
              </a:srgbClr>
            </a:solidFill>
            <a:prstDash val="solid"/>
          </a:ln>
        </p:spPr>
      </p:sp>
      <p:pic>
        <p:nvPicPr>
          <p:cNvPr id="85" name="Image 18" descr="preencoded.png">    </p:cNvPr>
          <p:cNvPicPr>
            <a:picLocks noChangeAspect="1"/>
          </p:cNvPicPr>
          <p:nvPr/>
        </p:nvPicPr>
        <p:blipFill>
          <a:blip r:embed="rId19"/>
          <a:srcRect l="-1507" r="-1507" t="0" b="0"/>
          <a:stretch/>
        </p:blipFill>
        <p:spPr>
          <a:xfrm>
            <a:off x="9996221" y="4772254"/>
            <a:ext cx="85954" cy="133502"/>
          </a:xfrm>
          <a:prstGeom prst="rect">
            <a:avLst/>
          </a:prstGeom>
        </p:spPr>
      </p:pic>
      <p:sp>
        <p:nvSpPr>
          <p:cNvPr id="86" name="Text 65"/>
          <p:cNvSpPr txBox="1"/>
          <p:nvPr/>
        </p:nvSpPr>
        <p:spPr>
          <a:xfrm>
            <a:off x="10287000" y="4695444"/>
            <a:ext cx="1002182" cy="152705"/>
          </a:xfrm>
          <a:prstGeom prst="rect">
            <a:avLst/>
          </a:prstGeom>
          <a:noFill/>
          <a:ln/>
        </p:spPr>
        <p:txBody>
          <a:bodyPr wrap="square" lIns="0" tIns="0" rIns="0" bIns="0" rtlCol="0" anchor="ctr"/>
          <a:lstStyle/>
          <a:p>
            <a:pPr algn="l" indent="0" marL="0">
              <a:buNone/>
            </a:pPr>
            <a:r>
              <a:rPr lang="en-US" sz="900" dirty="0">
                <a:solidFill>
                  <a:srgbClr val="CBD5E1"/>
                </a:solidFill>
                <a:latin typeface="Inter" pitchFamily="34" charset="0"/>
                <a:ea typeface="Inter" pitchFamily="34" charset="-122"/>
                <a:cs typeface="Inter" pitchFamily="34" charset="-120"/>
              </a:rPr>
              <a:t>Cost Control</a:t>
            </a:r>
            <a:endParaRPr lang="en-US" sz="900" dirty="0"/>
          </a:p>
        </p:txBody>
      </p:sp>
      <p:sp>
        <p:nvSpPr>
          <p:cNvPr id="87" name="Text 66"/>
          <p:cNvSpPr txBox="1"/>
          <p:nvPr/>
        </p:nvSpPr>
        <p:spPr>
          <a:xfrm>
            <a:off x="10287000" y="4848149"/>
            <a:ext cx="734263" cy="133502"/>
          </a:xfrm>
          <a:prstGeom prst="rect">
            <a:avLst/>
          </a:prstGeom>
          <a:noFill/>
          <a:ln/>
        </p:spPr>
        <p:txBody>
          <a:bodyPr wrap="square" lIns="0" tIns="0" rIns="0" bIns="0" rtlCol="0" anchor="ctr"/>
          <a:lstStyle/>
          <a:p>
            <a:pPr algn="l" indent="0" marL="0">
              <a:buNone/>
            </a:pPr>
            <a:r>
              <a:rPr lang="en-US" sz="800" dirty="0">
                <a:solidFill>
                  <a:srgbClr val="94A3B8"/>
                </a:solidFill>
                <a:latin typeface="Inter" pitchFamily="34" charset="0"/>
                <a:ea typeface="Inter" pitchFamily="34" charset="-122"/>
                <a:cs typeface="Inter" pitchFamily="34" charset="-120"/>
              </a:rPr>
              <a:t>No API fees</a:t>
            </a:r>
            <a:endParaRPr lang="en-US" sz="800" dirty="0"/>
          </a:p>
        </p:txBody>
      </p:sp>
      <p:sp>
        <p:nvSpPr>
          <p:cNvPr id="88" name="Shape 67"/>
          <p:cNvSpPr/>
          <p:nvPr/>
        </p:nvSpPr>
        <p:spPr>
          <a:xfrm>
            <a:off x="7953451" y="5219395"/>
            <a:ext cx="1705356" cy="533095"/>
          </a:xfrm>
          <a:prstGeom prst="roundRect">
            <a:avLst>
              <a:gd name="adj" fmla="val 61260"/>
            </a:avLst>
          </a:prstGeom>
          <a:solidFill>
            <a:srgbClr val="0F0F19">
              <a:alpha val="60000"/>
            </a:srgbClr>
          </a:solidFill>
          <a:ln w="12700">
            <a:solidFill>
              <a:srgbClr val="FFFFFF">
                <a:alpha val="0"/>
              </a:srgbClr>
            </a:solidFill>
            <a:prstDash val="solid"/>
          </a:ln>
        </p:spPr>
      </p:sp>
      <p:sp>
        <p:nvSpPr>
          <p:cNvPr id="89" name="Shape 68"/>
          <p:cNvSpPr/>
          <p:nvPr/>
        </p:nvSpPr>
        <p:spPr>
          <a:xfrm>
            <a:off x="8067751" y="5333695"/>
            <a:ext cx="304495" cy="304495"/>
          </a:xfrm>
          <a:prstGeom prst="roundRect">
            <a:avLst>
              <a:gd name="adj" fmla="val 150150"/>
            </a:avLst>
          </a:prstGeom>
          <a:solidFill>
            <a:srgbClr val="6366F1">
              <a:alpha val="10000"/>
            </a:srgbClr>
          </a:solidFill>
          <a:ln w="12700">
            <a:solidFill>
              <a:srgbClr val="FFFFFF">
                <a:alpha val="0"/>
              </a:srgbClr>
            </a:solidFill>
            <a:prstDash val="solid"/>
          </a:ln>
        </p:spPr>
      </p:sp>
      <p:pic>
        <p:nvPicPr>
          <p:cNvPr id="90" name="Image 19" descr="preencoded.png">    </p:cNvPr>
          <p:cNvPicPr>
            <a:picLocks noChangeAspect="1"/>
          </p:cNvPicPr>
          <p:nvPr/>
        </p:nvPicPr>
        <p:blipFill>
          <a:blip r:embed="rId20"/>
          <a:srcRect l="0" r="0" t="-1100" b="-1100"/>
          <a:stretch/>
        </p:blipFill>
        <p:spPr>
          <a:xfrm>
            <a:off x="8162849" y="5419649"/>
            <a:ext cx="114300" cy="133502"/>
          </a:xfrm>
          <a:prstGeom prst="rect">
            <a:avLst/>
          </a:prstGeom>
        </p:spPr>
      </p:pic>
      <p:sp>
        <p:nvSpPr>
          <p:cNvPr id="91" name="Text 69"/>
          <p:cNvSpPr txBox="1"/>
          <p:nvPr/>
        </p:nvSpPr>
        <p:spPr>
          <a:xfrm>
            <a:off x="8467344" y="5343754"/>
            <a:ext cx="1019556" cy="152705"/>
          </a:xfrm>
          <a:prstGeom prst="rect">
            <a:avLst/>
          </a:prstGeom>
          <a:noFill/>
          <a:ln/>
        </p:spPr>
        <p:txBody>
          <a:bodyPr wrap="square" lIns="0" tIns="0" rIns="0" bIns="0" rtlCol="0" anchor="ctr"/>
          <a:lstStyle/>
          <a:p>
            <a:pPr algn="l" indent="0" marL="0">
              <a:buNone/>
            </a:pPr>
            <a:r>
              <a:rPr lang="en-US" sz="900" dirty="0">
                <a:solidFill>
                  <a:srgbClr val="CBD5E1"/>
                </a:solidFill>
                <a:latin typeface="Inter" pitchFamily="34" charset="0"/>
                <a:ea typeface="Inter" pitchFamily="34" charset="-122"/>
                <a:cs typeface="Inter" pitchFamily="34" charset="-120"/>
              </a:rPr>
              <a:t>Low Latency</a:t>
            </a:r>
            <a:endParaRPr lang="en-US" sz="900" dirty="0"/>
          </a:p>
        </p:txBody>
      </p:sp>
      <p:sp>
        <p:nvSpPr>
          <p:cNvPr id="92" name="Text 70"/>
          <p:cNvSpPr txBox="1"/>
          <p:nvPr/>
        </p:nvSpPr>
        <p:spPr>
          <a:xfrm>
            <a:off x="8467344" y="5495544"/>
            <a:ext cx="1347826" cy="133502"/>
          </a:xfrm>
          <a:prstGeom prst="rect">
            <a:avLst/>
          </a:prstGeom>
          <a:noFill/>
          <a:ln/>
        </p:spPr>
        <p:txBody>
          <a:bodyPr wrap="square" lIns="0" tIns="0" rIns="0" bIns="0" rtlCol="0" anchor="ctr"/>
          <a:lstStyle/>
          <a:p>
            <a:pPr algn="l" indent="0" marL="0">
              <a:buNone/>
            </a:pPr>
            <a:r>
              <a:rPr lang="en-US" sz="800" dirty="0">
                <a:solidFill>
                  <a:srgbClr val="94A3B8"/>
                </a:solidFill>
                <a:latin typeface="Inter" pitchFamily="34" charset="0"/>
                <a:ea typeface="Inter" pitchFamily="34" charset="-122"/>
                <a:cs typeface="Inter" pitchFamily="34" charset="-120"/>
              </a:rPr>
              <a:t>On-device inference</a:t>
            </a:r>
            <a:endParaRPr lang="en-US" sz="800" dirty="0"/>
          </a:p>
        </p:txBody>
      </p:sp>
      <p:sp>
        <p:nvSpPr>
          <p:cNvPr id="93" name="Shape 71"/>
          <p:cNvSpPr/>
          <p:nvPr/>
        </p:nvSpPr>
        <p:spPr>
          <a:xfrm>
            <a:off x="9773107" y="5219395"/>
            <a:ext cx="1705356" cy="533095"/>
          </a:xfrm>
          <a:prstGeom prst="roundRect">
            <a:avLst>
              <a:gd name="adj" fmla="val 61260"/>
            </a:avLst>
          </a:prstGeom>
          <a:solidFill>
            <a:srgbClr val="0F0F19">
              <a:alpha val="60000"/>
            </a:srgbClr>
          </a:solidFill>
          <a:ln w="12700">
            <a:solidFill>
              <a:srgbClr val="FFFFFF">
                <a:alpha val="0"/>
              </a:srgbClr>
            </a:solidFill>
            <a:prstDash val="solid"/>
          </a:ln>
        </p:spPr>
      </p:sp>
      <p:sp>
        <p:nvSpPr>
          <p:cNvPr id="94" name="Shape 72"/>
          <p:cNvSpPr/>
          <p:nvPr/>
        </p:nvSpPr>
        <p:spPr>
          <a:xfrm>
            <a:off x="9887407" y="5333695"/>
            <a:ext cx="304495" cy="304495"/>
          </a:xfrm>
          <a:prstGeom prst="roundRect">
            <a:avLst>
              <a:gd name="adj" fmla="val 150150"/>
            </a:avLst>
          </a:prstGeom>
          <a:solidFill>
            <a:srgbClr val="6366F1">
              <a:alpha val="10000"/>
            </a:srgbClr>
          </a:solidFill>
          <a:ln w="12700">
            <a:solidFill>
              <a:srgbClr val="FFFFFF">
                <a:alpha val="0"/>
              </a:srgbClr>
            </a:solidFill>
            <a:prstDash val="solid"/>
          </a:ln>
        </p:spPr>
      </p:sp>
      <p:sp>
        <p:nvSpPr>
          <p:cNvPr id="95" name="Text 73"/>
          <p:cNvSpPr txBox="1"/>
          <p:nvPr/>
        </p:nvSpPr>
        <p:spPr>
          <a:xfrm>
            <a:off x="10287000" y="5343754"/>
            <a:ext cx="916229" cy="152705"/>
          </a:xfrm>
          <a:prstGeom prst="rect">
            <a:avLst/>
          </a:prstGeom>
          <a:noFill/>
          <a:ln/>
        </p:spPr>
        <p:txBody>
          <a:bodyPr wrap="square" lIns="0" tIns="0" rIns="0" bIns="0" rtlCol="0" anchor="ctr"/>
          <a:lstStyle/>
          <a:p>
            <a:pPr algn="l" indent="0" marL="0">
              <a:buNone/>
            </a:pPr>
            <a:r>
              <a:rPr lang="en-US" sz="900" dirty="0">
                <a:solidFill>
                  <a:srgbClr val="CBD5E1"/>
                </a:solidFill>
                <a:latin typeface="Inter" pitchFamily="34" charset="0"/>
                <a:ea typeface="Inter" pitchFamily="34" charset="-122"/>
                <a:cs typeface="Inter" pitchFamily="34" charset="-120"/>
              </a:rPr>
              <a:t>Reliability</a:t>
            </a:r>
            <a:endParaRPr lang="en-US" sz="900" dirty="0"/>
          </a:p>
        </p:txBody>
      </p:sp>
      <p:sp>
        <p:nvSpPr>
          <p:cNvPr id="96" name="Text 74"/>
          <p:cNvSpPr txBox="1"/>
          <p:nvPr/>
        </p:nvSpPr>
        <p:spPr>
          <a:xfrm>
            <a:off x="10287000" y="5495544"/>
            <a:ext cx="916229" cy="133502"/>
          </a:xfrm>
          <a:prstGeom prst="rect">
            <a:avLst/>
          </a:prstGeom>
          <a:noFill/>
          <a:ln/>
        </p:spPr>
        <p:txBody>
          <a:bodyPr wrap="square" lIns="0" tIns="0" rIns="0" bIns="0" rtlCol="0" anchor="ctr"/>
          <a:lstStyle/>
          <a:p>
            <a:pPr algn="l" indent="0" marL="0">
              <a:buNone/>
            </a:pPr>
            <a:r>
              <a:rPr lang="en-US" sz="800" dirty="0">
                <a:solidFill>
                  <a:srgbClr val="94A3B8"/>
                </a:solidFill>
                <a:latin typeface="Inter" pitchFamily="34" charset="0"/>
                <a:ea typeface="Inter" pitchFamily="34" charset="-122"/>
                <a:cs typeface="Inter" pitchFamily="34" charset="-120"/>
              </a:rPr>
              <a:t>Works offline</a:t>
            </a:r>
            <a:endParaRPr lang="en-US" sz="800" dirty="0"/>
          </a:p>
        </p:txBody>
      </p:sp>
      <p:sp>
        <p:nvSpPr>
          <p:cNvPr id="97" name="Shape 75"/>
          <p:cNvSpPr/>
          <p:nvPr/>
        </p:nvSpPr>
        <p:spPr>
          <a:xfrm>
            <a:off x="476402" y="952805"/>
            <a:ext cx="1962302" cy="295351"/>
          </a:xfrm>
          <a:prstGeom prst="roundRect">
            <a:avLst>
              <a:gd name="adj" fmla="val 119844"/>
            </a:avLst>
          </a:prstGeom>
          <a:solidFill>
            <a:srgbClr val="6366F1">
              <a:alpha val="10000"/>
            </a:srgbClr>
          </a:solidFill>
          <a:ln w="12700">
            <a:solidFill>
              <a:srgbClr val="6366F1">
                <a:alpha val="30000"/>
              </a:srgbClr>
            </a:solidFill>
            <a:prstDash val="solid"/>
          </a:ln>
        </p:spPr>
      </p:sp>
      <p:sp>
        <p:nvSpPr>
          <p:cNvPr id="98" name="Text 76"/>
          <p:cNvSpPr txBox="1"/>
          <p:nvPr/>
        </p:nvSpPr>
        <p:spPr>
          <a:xfrm>
            <a:off x="476402" y="952805"/>
            <a:ext cx="1962302" cy="295351"/>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algn="l" indent="0" marL="0">
              <a:buNone/>
            </a:pPr>
            <a:r>
              <a:rPr lang="en-US" sz="1000" b="1" dirty="0">
                <a:solidFill>
                  <a:srgbClr val="6366F1"/>
                </a:solidFill>
                <a:latin typeface="Inter" pitchFamily="34" charset="0"/>
                <a:ea typeface="Inter" pitchFamily="34" charset="-122"/>
                <a:cs typeface="Inter" pitchFamily="34" charset="-120"/>
              </a:rPr>
              <a:t>SYSTEM ARCHITECTURE</a:t>
            </a:r>
            <a:endParaRPr lang="en-US" sz="1000" dirty="0"/>
          </a:p>
        </p:txBody>
      </p:sp>
      <p:pic>
        <p:nvPicPr>
          <p:cNvPr id="99" name="Image 20" descr="preencoded.png">    </p:cNvPr>
          <p:cNvPicPr>
            <a:picLocks noChangeAspect="1"/>
          </p:cNvPicPr>
          <p:nvPr/>
        </p:nvPicPr>
        <p:blipFill>
          <a:blip r:embed="rId21"/>
          <a:srcRect l="-1648" r="-1648" t="0" b="0"/>
          <a:stretch/>
        </p:blipFill>
        <p:spPr>
          <a:xfrm>
            <a:off x="1779422" y="3825850"/>
            <a:ext cx="171907" cy="190195"/>
          </a:xfrm>
          <a:prstGeom prst="rect">
            <a:avLst/>
          </a:prstGeom>
        </p:spPr>
      </p:pic>
      <p:pic>
        <p:nvPicPr>
          <p:cNvPr id="100" name="Image 21" descr="preencoded.png">    </p:cNvPr>
          <p:cNvPicPr>
            <a:picLocks noChangeAspect="1"/>
          </p:cNvPicPr>
          <p:nvPr/>
        </p:nvPicPr>
        <p:blipFill>
          <a:blip r:embed="rId22"/>
          <a:srcRect l="-1648" r="-1648" t="0" b="0"/>
          <a:stretch/>
        </p:blipFill>
        <p:spPr>
          <a:xfrm>
            <a:off x="3129991" y="3825850"/>
            <a:ext cx="171907" cy="190195"/>
          </a:xfrm>
          <a:prstGeom prst="rect">
            <a:avLst/>
          </a:prstGeom>
        </p:spPr>
      </p:pic>
      <p:pic>
        <p:nvPicPr>
          <p:cNvPr id="101" name="Image 22" descr="preencoded.png">    </p:cNvPr>
          <p:cNvPicPr>
            <a:picLocks noChangeAspect="1"/>
          </p:cNvPicPr>
          <p:nvPr/>
        </p:nvPicPr>
        <p:blipFill>
          <a:blip r:embed="rId23"/>
          <a:srcRect l="-1648" r="-1648" t="0" b="0"/>
          <a:stretch/>
        </p:blipFill>
        <p:spPr>
          <a:xfrm>
            <a:off x="4480560" y="3825850"/>
            <a:ext cx="171907" cy="190195"/>
          </a:xfrm>
          <a:prstGeom prst="rect">
            <a:avLst/>
          </a:prstGeom>
        </p:spPr>
      </p:pic>
      <p:pic>
        <p:nvPicPr>
          <p:cNvPr id="102" name="Image 23" descr="preencoded.png">    </p:cNvPr>
          <p:cNvPicPr>
            <a:picLocks noChangeAspect="1"/>
          </p:cNvPicPr>
          <p:nvPr/>
        </p:nvPicPr>
        <p:blipFill>
          <a:blip r:embed="rId24"/>
          <a:srcRect l="-1648" r="-1648" t="0" b="0"/>
          <a:stretch/>
        </p:blipFill>
        <p:spPr>
          <a:xfrm>
            <a:off x="5830214" y="3825850"/>
            <a:ext cx="171907" cy="190195"/>
          </a:xfrm>
          <a:prstGeom prst="rect">
            <a:avLst/>
          </a:prstGeom>
        </p:spPr>
      </p:pic>
      <p:sp>
        <p:nvSpPr>
          <p:cNvPr id="103" name="Shape 77"/>
          <p:cNvSpPr/>
          <p:nvPr/>
        </p:nvSpPr>
        <p:spPr>
          <a:xfrm>
            <a:off x="0" y="0"/>
            <a:ext cx="12191695" cy="761695"/>
          </a:xfrm>
          <a:prstGeom prst="rect">
            <a:avLst/>
          </a:prstGeom>
          <a:solidFill>
            <a:srgbClr val="0F0F19">
              <a:alpha val="80000"/>
            </a:srgbClr>
          </a:solidFill>
          <a:ln/>
        </p:spPr>
      </p:sp>
      <p:sp>
        <p:nvSpPr>
          <p:cNvPr id="104" name="Shape 78"/>
          <p:cNvSpPr/>
          <p:nvPr/>
        </p:nvSpPr>
        <p:spPr>
          <a:xfrm>
            <a:off x="0" y="752551"/>
            <a:ext cx="12191695" cy="9144"/>
          </a:xfrm>
          <a:prstGeom prst="rect">
            <a:avLst/>
          </a:prstGeom>
          <a:solidFill>
            <a:srgbClr val="6366F1">
              <a:alpha val="10000"/>
            </a:srgbClr>
          </a:solidFill>
          <a:ln w="12700">
            <a:solidFill>
              <a:srgbClr val="6366F1">
                <a:alpha val="0"/>
              </a:srgbClr>
            </a:solidFill>
            <a:prstDash val="solid"/>
          </a:ln>
        </p:spPr>
      </p:sp>
      <p:pic>
        <p:nvPicPr>
          <p:cNvPr id="105" name="Image 24" descr="preencoded.png">    </p:cNvPr>
          <p:cNvPicPr>
            <a:picLocks noChangeAspect="1"/>
          </p:cNvPicPr>
          <p:nvPr/>
        </p:nvPicPr>
        <p:blipFill>
          <a:blip r:embed="rId25"/>
          <a:srcRect l="0" r="0" t="0" b="0"/>
          <a:stretch/>
        </p:blipFill>
        <p:spPr>
          <a:xfrm>
            <a:off x="476402" y="185623"/>
            <a:ext cx="381305" cy="381305"/>
          </a:xfrm>
          <a:prstGeom prst="rect">
            <a:avLst/>
          </a:prstGeom>
        </p:spPr>
      </p:pic>
      <p:pic>
        <p:nvPicPr>
          <p:cNvPr id="106" name="Image 25" descr="preencoded.png">    </p:cNvPr>
          <p:cNvPicPr>
            <a:picLocks noChangeAspect="1"/>
          </p:cNvPicPr>
          <p:nvPr/>
        </p:nvPicPr>
        <p:blipFill>
          <a:blip r:embed="rId26"/>
          <a:srcRect l="0" r="0" t="0" b="0"/>
          <a:stretch/>
        </p:blipFill>
        <p:spPr>
          <a:xfrm>
            <a:off x="571500" y="280721"/>
            <a:ext cx="190195" cy="190195"/>
          </a:xfrm>
          <a:prstGeom prst="rect">
            <a:avLst/>
          </a:prstGeom>
        </p:spPr>
      </p:pic>
      <p:sp>
        <p:nvSpPr>
          <p:cNvPr id="107" name="Text 79"/>
          <p:cNvSpPr txBox="1"/>
          <p:nvPr/>
        </p:nvSpPr>
        <p:spPr>
          <a:xfrm>
            <a:off x="1009498" y="237744"/>
            <a:ext cx="1427378" cy="277063"/>
          </a:xfrm>
          <a:prstGeom prst="rect">
            <a:avLst/>
          </a:prstGeom>
          <a:noFill/>
          <a:ln/>
        </p:spPr>
        <p:txBody>
          <a:bodyPr wrap="square" lIns="0" tIns="0" rIns="0" bIns="0" rtlCol="0" anchor="ctr"/>
          <a:lstStyle/>
          <a:p>
            <a:pPr algn="l" indent="0" marL="0">
              <a:buNone/>
            </a:pPr>
            <a:r>
              <a:rPr lang="en-US" sz="1800" b="1" spc="-37" kern="0" dirty="0">
                <a:solidFill>
                  <a:srgbClr val="FFFFFF"/>
                </a:solidFill>
                <a:latin typeface="Inter" pitchFamily="34" charset="0"/>
                <a:ea typeface="Inter" pitchFamily="34" charset="-122"/>
                <a:cs typeface="Inter" pitchFamily="34" charset="-120"/>
              </a:rPr>
              <a:t>News</a:t>
            </a:r>
            <a:pPr algn="l" indent="0" marL="0">
              <a:buNone/>
            </a:pPr>
            <a:r>
              <a:rPr lang="en-US" sz="1800" b="1" spc="-37" kern="0" dirty="0">
                <a:solidFill>
                  <a:srgbClr val="6366F1"/>
                </a:solidFill>
                <a:latin typeface="Inter" pitchFamily="34" charset="0"/>
                <a:ea typeface="Inter" pitchFamily="34" charset="-122"/>
                <a:cs typeface="Inter" pitchFamily="34" charset="-120"/>
              </a:rPr>
              <a:t>Nexus</a:t>
            </a:r>
            <a:endParaRPr lang="en-US" sz="1800" dirty="0"/>
          </a:p>
        </p:txBody>
      </p:sp>
      <p:sp>
        <p:nvSpPr>
          <p:cNvPr id="108" name="Shape 80"/>
          <p:cNvSpPr/>
          <p:nvPr/>
        </p:nvSpPr>
        <p:spPr>
          <a:xfrm>
            <a:off x="9506102" y="209398"/>
            <a:ext cx="2210105" cy="333756"/>
          </a:xfrm>
          <a:prstGeom prst="roundRect">
            <a:avLst>
              <a:gd name="adj" fmla="val 273973"/>
            </a:avLst>
          </a:prstGeom>
          <a:solidFill>
            <a:srgbClr val="6366F1">
              <a:alpha val="10000"/>
            </a:srgbClr>
          </a:solidFill>
          <a:ln w="12700">
            <a:solidFill>
              <a:srgbClr val="6366F1">
                <a:alpha val="20000"/>
              </a:srgbClr>
            </a:solidFill>
            <a:prstDash val="solid"/>
          </a:ln>
        </p:spPr>
      </p:sp>
      <p:pic>
        <p:nvPicPr>
          <p:cNvPr id="109" name="Image 26" descr="preencoded.png">    </p:cNvPr>
          <p:cNvPicPr>
            <a:picLocks noChangeAspect="1"/>
          </p:cNvPicPr>
          <p:nvPr/>
        </p:nvPicPr>
        <p:blipFill>
          <a:blip r:embed="rId27"/>
          <a:srcRect l="0" r="0" t="0" b="0"/>
          <a:stretch/>
        </p:blipFill>
        <p:spPr>
          <a:xfrm>
            <a:off x="9687154" y="319126"/>
            <a:ext cx="114300" cy="114300"/>
          </a:xfrm>
          <a:prstGeom prst="rect">
            <a:avLst/>
          </a:prstGeom>
        </p:spPr>
      </p:pic>
      <p:sp>
        <p:nvSpPr>
          <p:cNvPr id="110" name="Text 81"/>
          <p:cNvSpPr txBox="1"/>
          <p:nvPr/>
        </p:nvSpPr>
        <p:spPr>
          <a:xfrm>
            <a:off x="9896551" y="209398"/>
            <a:ext cx="1638605" cy="333756"/>
          </a:xfrm>
          <a:prstGeom prst="rect">
            <a:avLst/>
          </a:prstGeom>
          <a:noFill/>
          <a:ln/>
        </p:spPr>
        <p:txBody>
          <a:bodyPr wrap="square" lIns="0" tIns="0" rIns="0" bIns="0" rtlCol="0" anchor="ctr"/>
          <a:lstStyle/>
          <a:p>
            <a:pPr algn="l" indent="0" marL="0">
              <a:buNone/>
            </a:pPr>
            <a:r>
              <a:rPr lang="en-US" sz="1000" dirty="0">
                <a:solidFill>
                  <a:srgbClr val="A5B4FC"/>
                </a:solidFill>
                <a:latin typeface="Inter" pitchFamily="34" charset="0"/>
                <a:ea typeface="Inter" pitchFamily="34" charset="-122"/>
                <a:cs typeface="Inter" pitchFamily="34" charset="-120"/>
              </a:rPr>
              <a:t>Local-First = Privacy-First</a:t>
            </a:r>
            <a:endParaRPr lang="en-US" sz="1000" dirty="0"/>
          </a:p>
        </p:txBody>
      </p:sp>
      <p:sp>
        <p:nvSpPr>
          <p:cNvPr id="111" name="Shape 82"/>
          <p:cNvSpPr/>
          <p:nvPr/>
        </p:nvSpPr>
        <p:spPr>
          <a:xfrm>
            <a:off x="0" y="6286500"/>
            <a:ext cx="12191695" cy="571500"/>
          </a:xfrm>
          <a:prstGeom prst="rect">
            <a:avLst/>
          </a:prstGeom>
          <a:solidFill>
            <a:srgbClr val="0F0F19">
              <a:alpha val="80000"/>
            </a:srgbClr>
          </a:solidFill>
          <a:ln/>
        </p:spPr>
      </p:sp>
      <p:sp>
        <p:nvSpPr>
          <p:cNvPr id="112" name="Shape 83"/>
          <p:cNvSpPr/>
          <p:nvPr/>
        </p:nvSpPr>
        <p:spPr>
          <a:xfrm>
            <a:off x="0" y="6286500"/>
            <a:ext cx="12191695" cy="9144"/>
          </a:xfrm>
          <a:prstGeom prst="rect">
            <a:avLst/>
          </a:prstGeom>
          <a:solidFill>
            <a:srgbClr val="6366F1">
              <a:alpha val="10000"/>
            </a:srgbClr>
          </a:solidFill>
          <a:ln w="12700">
            <a:solidFill>
              <a:srgbClr val="6366F1">
                <a:alpha val="0"/>
              </a:srgbClr>
            </a:solidFill>
            <a:prstDash val="solid"/>
          </a:ln>
        </p:spPr>
      </p:sp>
      <p:pic>
        <p:nvPicPr>
          <p:cNvPr id="113" name="Image 27" descr="preencoded.png">    </p:cNvPr>
          <p:cNvPicPr>
            <a:picLocks noChangeAspect="1"/>
          </p:cNvPicPr>
          <p:nvPr/>
        </p:nvPicPr>
        <p:blipFill>
          <a:blip r:embed="rId28"/>
          <a:srcRect l="0" r="0" t="0" b="0"/>
          <a:stretch/>
        </p:blipFill>
        <p:spPr>
          <a:xfrm>
            <a:off x="476402" y="6510528"/>
            <a:ext cx="133502" cy="133502"/>
          </a:xfrm>
          <a:prstGeom prst="rect">
            <a:avLst/>
          </a:prstGeom>
        </p:spPr>
      </p:pic>
      <p:sp>
        <p:nvSpPr>
          <p:cNvPr id="114" name="Text 84"/>
          <p:cNvSpPr txBox="1"/>
          <p:nvPr/>
        </p:nvSpPr>
        <p:spPr>
          <a:xfrm>
            <a:off x="724205" y="6486754"/>
            <a:ext cx="612648" cy="181051"/>
          </a:xfrm>
          <a:prstGeom prst="rect">
            <a:avLst/>
          </a:prstGeom>
          <a:noFill/>
          <a:ln/>
        </p:spPr>
        <p:txBody>
          <a:bodyPr wrap="square" lIns="0" tIns="0" rIns="0" bIns="0" rtlCol="0" anchor="ctr"/>
          <a:lstStyle/>
          <a:p>
            <a:pPr algn="l" indent="0" marL="0">
              <a:buNone/>
            </a:pPr>
            <a:r>
              <a:rPr lang="en-US" sz="1100" dirty="0">
                <a:solidFill>
                  <a:srgbClr val="94A3B8"/>
                </a:solidFill>
                <a:latin typeface="Inter" pitchFamily="34" charset="0"/>
                <a:ea typeface="Inter" pitchFamily="34" charset="-122"/>
                <a:cs typeface="Inter" pitchFamily="34" charset="-120"/>
              </a:rPr>
              <a:t>6 hours</a:t>
            </a:r>
            <a:endParaRPr lang="en-US" sz="1100" dirty="0"/>
          </a:p>
        </p:txBody>
      </p:sp>
      <p:pic>
        <p:nvPicPr>
          <p:cNvPr id="115" name="Image 28" descr="preencoded.png">    </p:cNvPr>
          <p:cNvPicPr>
            <a:picLocks noChangeAspect="1"/>
          </p:cNvPicPr>
          <p:nvPr/>
        </p:nvPicPr>
        <p:blipFill>
          <a:blip r:embed="rId29"/>
          <a:srcRect l="-1507" r="-1507" t="0" b="0"/>
          <a:stretch/>
        </p:blipFill>
        <p:spPr>
          <a:xfrm>
            <a:off x="1522476" y="6510528"/>
            <a:ext cx="171907" cy="133502"/>
          </a:xfrm>
          <a:prstGeom prst="rect">
            <a:avLst/>
          </a:prstGeom>
        </p:spPr>
      </p:pic>
      <p:sp>
        <p:nvSpPr>
          <p:cNvPr id="116" name="Text 85"/>
          <p:cNvSpPr txBox="1"/>
          <p:nvPr/>
        </p:nvSpPr>
        <p:spPr>
          <a:xfrm>
            <a:off x="1807769" y="6486754"/>
            <a:ext cx="695858" cy="181051"/>
          </a:xfrm>
          <a:prstGeom prst="rect">
            <a:avLst/>
          </a:prstGeom>
          <a:noFill/>
          <a:ln/>
        </p:spPr>
        <p:txBody>
          <a:bodyPr wrap="square" lIns="0" tIns="0" rIns="0" bIns="0" rtlCol="0" anchor="ctr"/>
          <a:lstStyle/>
          <a:p>
            <a:pPr algn="l" indent="0" marL="0">
              <a:buNone/>
            </a:pPr>
            <a:r>
              <a:rPr lang="en-US" sz="1100" dirty="0">
                <a:solidFill>
                  <a:srgbClr val="94A3B8"/>
                </a:solidFill>
                <a:latin typeface="Inter" pitchFamily="34" charset="0"/>
                <a:ea typeface="Inter" pitchFamily="34" charset="-122"/>
                <a:cs typeface="Inter" pitchFamily="34" charset="-120"/>
              </a:rPr>
              <a:t>Workshop</a:t>
            </a:r>
            <a:endParaRPr lang="en-US" sz="1100" dirty="0"/>
          </a:p>
        </p:txBody>
      </p:sp>
      <p:pic>
        <p:nvPicPr>
          <p:cNvPr id="117" name="Image 29" descr="preencoded.png">    </p:cNvPr>
          <p:cNvPicPr>
            <a:picLocks noChangeAspect="1"/>
          </p:cNvPicPr>
          <p:nvPr/>
        </p:nvPicPr>
        <p:blipFill>
          <a:blip r:embed="rId30"/>
          <a:srcRect l="-1507" r="-1507" t="0" b="0"/>
          <a:stretch/>
        </p:blipFill>
        <p:spPr>
          <a:xfrm>
            <a:off x="2780690" y="6510528"/>
            <a:ext cx="171907" cy="133502"/>
          </a:xfrm>
          <a:prstGeom prst="rect">
            <a:avLst/>
          </a:prstGeom>
        </p:spPr>
      </p:pic>
      <p:sp>
        <p:nvSpPr>
          <p:cNvPr id="118" name="Text 86"/>
          <p:cNvSpPr txBox="1"/>
          <p:nvPr/>
        </p:nvSpPr>
        <p:spPr>
          <a:xfrm>
            <a:off x="3065983" y="6486754"/>
            <a:ext cx="713232" cy="181051"/>
          </a:xfrm>
          <a:prstGeom prst="rect">
            <a:avLst/>
          </a:prstGeom>
          <a:noFill/>
          <a:ln/>
        </p:spPr>
        <p:txBody>
          <a:bodyPr wrap="square" lIns="0" tIns="0" rIns="0" bIns="0" rtlCol="0" anchor="ctr"/>
          <a:lstStyle/>
          <a:p>
            <a:pPr algn="l" indent="0" marL="0">
              <a:buNone/>
            </a:pPr>
            <a:r>
              <a:rPr lang="en-US" sz="1100" dirty="0">
                <a:solidFill>
                  <a:srgbClr val="94A3B8"/>
                </a:solidFill>
                <a:latin typeface="Inter" pitchFamily="34" charset="0"/>
                <a:ea typeface="Inter" pitchFamily="34" charset="-122"/>
                <a:cs typeface="Inter" pitchFamily="34" charset="-120"/>
              </a:rPr>
              <a:t>Hands-on</a:t>
            </a:r>
            <a:endParaRPr lang="en-US" sz="1100" dirty="0"/>
          </a:p>
        </p:txBody>
      </p:sp>
      <p:pic>
        <p:nvPicPr>
          <p:cNvPr id="119" name="Image 30" descr="preencoded.png">    </p:cNvPr>
          <p:cNvPicPr>
            <a:picLocks noChangeAspect="1"/>
          </p:cNvPicPr>
          <p:nvPr/>
        </p:nvPicPr>
        <p:blipFill>
          <a:blip r:embed="rId31"/>
          <a:srcRect l="0" r="0" t="0" b="0"/>
          <a:stretch/>
        </p:blipFill>
        <p:spPr>
          <a:xfrm>
            <a:off x="9749333" y="6519672"/>
            <a:ext cx="114300" cy="114300"/>
          </a:xfrm>
          <a:prstGeom prst="rect">
            <a:avLst/>
          </a:prstGeom>
        </p:spPr>
      </p:pic>
      <p:sp>
        <p:nvSpPr>
          <p:cNvPr id="120" name="Text 87"/>
          <p:cNvSpPr txBox="1"/>
          <p:nvPr/>
        </p:nvSpPr>
        <p:spPr>
          <a:xfrm>
            <a:off x="9959645" y="6495898"/>
            <a:ext cx="725119" cy="162763"/>
          </a:xfrm>
          <a:prstGeom prst="rect">
            <a:avLst/>
          </a:prstGeom>
          <a:noFill/>
          <a:ln/>
        </p:spPr>
        <p:txBody>
          <a:bodyPr wrap="square" lIns="0" tIns="0" rIns="0" bIns="0" rtlCol="0" anchor="ctr"/>
          <a:lstStyle/>
          <a:p>
            <a:pPr algn="l" indent="0" marL="0">
              <a:buNone/>
            </a:pPr>
            <a:r>
              <a:rPr lang="en-US" sz="1000" dirty="0">
                <a:solidFill>
                  <a:srgbClr val="94A3B8"/>
                </a:solidFill>
                <a:latin typeface="Inter" pitchFamily="34" charset="0"/>
                <a:ea typeface="Inter" pitchFamily="34" charset="-122"/>
                <a:cs typeface="Inter" pitchFamily="34" charset="-120"/>
              </a:rPr>
              <a:t>4 Stages</a:t>
            </a:r>
            <a:endParaRPr lang="en-US" sz="1000" dirty="0"/>
          </a:p>
        </p:txBody>
      </p:sp>
      <p:pic>
        <p:nvPicPr>
          <p:cNvPr id="121" name="Image 31" descr="preencoded.png">    </p:cNvPr>
          <p:cNvPicPr>
            <a:picLocks noChangeAspect="1"/>
          </p:cNvPicPr>
          <p:nvPr/>
        </p:nvPicPr>
        <p:blipFill>
          <a:blip r:embed="rId32"/>
          <a:srcRect l="0" r="0" t="0" b="0"/>
          <a:stretch/>
        </p:blipFill>
        <p:spPr>
          <a:xfrm>
            <a:off x="10708538" y="6519672"/>
            <a:ext cx="114300" cy="114300"/>
          </a:xfrm>
          <a:prstGeom prst="rect">
            <a:avLst/>
          </a:prstGeom>
        </p:spPr>
      </p:pic>
      <p:sp>
        <p:nvSpPr>
          <p:cNvPr id="122" name="Text 88"/>
          <p:cNvSpPr txBox="1"/>
          <p:nvPr/>
        </p:nvSpPr>
        <p:spPr>
          <a:xfrm>
            <a:off x="10917936" y="6495898"/>
            <a:ext cx="1160374" cy="162763"/>
          </a:xfrm>
          <a:prstGeom prst="rect">
            <a:avLst/>
          </a:prstGeom>
          <a:noFill/>
          <a:ln/>
        </p:spPr>
        <p:txBody>
          <a:bodyPr wrap="square" lIns="0" tIns="0" rIns="0" bIns="0" rtlCol="0" anchor="ctr"/>
          <a:lstStyle/>
          <a:p>
            <a:pPr algn="l" indent="0" marL="0">
              <a:buNone/>
            </a:pPr>
            <a:r>
              <a:rPr lang="en-US" sz="1000" dirty="0">
                <a:solidFill>
                  <a:srgbClr val="94A3B8"/>
                </a:solidFill>
                <a:latin typeface="Inter" pitchFamily="34" charset="0"/>
                <a:ea typeface="Inter" pitchFamily="34" charset="-122"/>
                <a:cs typeface="Inter" pitchFamily="34" charset="-120"/>
              </a:rPr>
              <a:t>Privacy-First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0A0F"/>
          </a:solidFill>
          <a:ln w="12700">
            <a:solidFill>
              <a:srgbClr val="FFFFFF">
                <a:alpha val="0"/>
              </a:srgbClr>
            </a:solidFill>
            <a:prstDash val="solid"/>
          </a:ln>
        </p:spPr>
      </p:sp>
      <p:pic>
        <p:nvPicPr>
          <p:cNvPr id="3" name="Image 0" descr="preencoded.png">    </p:cNvPr>
          <p:cNvPicPr>
            <a:picLocks noChangeAspect="1"/>
          </p:cNvPicPr>
          <p:nvPr/>
        </p:nvPicPr>
        <p:blipFill>
          <a:blip r:embed="rId1"/>
          <a:srcRect l="0" r="0" t="-1" b="-1"/>
          <a:stretch/>
        </p:blipFill>
        <p:spPr>
          <a:xfrm>
            <a:off x="0" y="0"/>
            <a:ext cx="12191695" cy="6858000"/>
          </a:xfrm>
          <a:prstGeom prst="rect">
            <a:avLst/>
          </a:prstGeom>
        </p:spPr>
      </p:pic>
      <p:pic>
        <p:nvPicPr>
          <p:cNvPr id="4" name="Image 1" descr="preencoded.png">    </p:cNvPr>
          <p:cNvPicPr>
            <a:picLocks noChangeAspect="1"/>
          </p:cNvPicPr>
          <p:nvPr/>
        </p:nvPicPr>
        <p:blipFill>
          <a:blip r:embed="rId2"/>
          <a:srcRect l="0" r="0" t="-1" b="-1"/>
          <a:stretch/>
        </p:blipFill>
        <p:spPr>
          <a:xfrm>
            <a:off x="0" y="0"/>
            <a:ext cx="12191695" cy="6858000"/>
          </a:xfrm>
          <a:prstGeom prst="rect">
            <a:avLst/>
          </a:prstGeom>
        </p:spPr>
      </p:pic>
      <p:pic>
        <p:nvPicPr>
          <p:cNvPr id="5" name="Image 2" descr="preencoded.png">    </p:cNvPr>
          <p:cNvPicPr>
            <a:picLocks noChangeAspect="1"/>
          </p:cNvPicPr>
          <p:nvPr/>
        </p:nvPicPr>
        <p:blipFill>
          <a:blip r:embed="rId3"/>
          <a:srcRect l="0" r="0" t="0" b="0"/>
          <a:stretch/>
        </p:blipFill>
        <p:spPr>
          <a:xfrm>
            <a:off x="7429500" y="-1904695"/>
            <a:ext cx="5715000" cy="5715000"/>
          </a:xfrm>
          <a:prstGeom prst="rect">
            <a:avLst/>
          </a:prstGeom>
        </p:spPr>
      </p:pic>
      <p:sp>
        <p:nvSpPr>
          <p:cNvPr id="6" name="Text 1"/>
          <p:cNvSpPr txBox="1"/>
          <p:nvPr/>
        </p:nvSpPr>
        <p:spPr>
          <a:xfrm>
            <a:off x="476402" y="1399946"/>
            <a:ext cx="11239805" cy="448056"/>
          </a:xfrm>
          <a:prstGeom prst="rect">
            <a:avLst/>
          </a:prstGeom>
          <a:noFill/>
          <a:ln/>
        </p:spPr>
        <p:txBody>
          <a:bodyPr wrap="square" lIns="0" tIns="0" rIns="0" bIns="0" rtlCol="0" anchor="ctr"/>
          <a:lstStyle/>
          <a:p>
            <a:pPr algn="l" indent="0" marL="0">
              <a:buNone/>
            </a:pPr>
            <a:r>
              <a:rPr lang="en-US" sz="3100" b="1" spc="-75" kern="0" dirty="0">
                <a:solidFill>
                  <a:srgbClr val="FFFFFF"/>
                </a:solidFill>
                <a:latin typeface="Inter" pitchFamily="34" charset="0"/>
                <a:ea typeface="Inter" pitchFamily="34" charset="-122"/>
                <a:cs typeface="Inter" pitchFamily="34" charset="-120"/>
              </a:rPr>
              <a:t>The 4 Stages of </a:t>
            </a:r>
            <a:pPr algn="l" indent="0" marL="0">
              <a:buNone/>
            </a:pPr>
            <a:r>
              <a:rPr lang="en-US" sz="3100" b="1" spc="-75" kern="0" dirty="0">
                <a:solidFill>
                  <a:srgbClr val="6366F1"/>
                </a:solidFill>
                <a:latin typeface="Inter" pitchFamily="34" charset="0"/>
                <a:ea typeface="Inter" pitchFamily="34" charset="-122"/>
                <a:cs typeface="Inter" pitchFamily="34" charset="-120"/>
              </a:rPr>
              <a:t>Day 1</a:t>
            </a:r>
            <a:endParaRPr lang="en-US" sz="3100" dirty="0"/>
          </a:p>
        </p:txBody>
      </p:sp>
      <p:sp>
        <p:nvSpPr>
          <p:cNvPr id="7" name="Text 2"/>
          <p:cNvSpPr txBox="1"/>
          <p:nvPr/>
        </p:nvSpPr>
        <p:spPr>
          <a:xfrm>
            <a:off x="476402" y="1916582"/>
            <a:ext cx="11239805" cy="200254"/>
          </a:xfrm>
          <a:prstGeom prst="rect">
            <a:avLst/>
          </a:prstGeom>
          <a:noFill/>
          <a:ln/>
        </p:spPr>
        <p:txBody>
          <a:bodyPr wrap="square" lIns="0" tIns="0" rIns="0" bIns="0" rtlCol="0" anchor="ctr"/>
          <a:lstStyle/>
          <a:p>
            <a:pPr algn="l" indent="0" marL="0">
              <a:buNone/>
            </a:pPr>
            <a:r>
              <a:rPr lang="en-US" sz="1300" dirty="0">
                <a:solidFill>
                  <a:srgbClr val="94A3B8"/>
                </a:solidFill>
                <a:latin typeface="Inter" pitchFamily="34" charset="0"/>
                <a:ea typeface="Inter" pitchFamily="34" charset="-122"/>
                <a:cs typeface="Inter" pitchFamily="34" charset="-120"/>
              </a:rPr>
              <a:t>From architecture orientation to first successful app launch</a:t>
            </a:r>
            <a:endParaRPr lang="en-US" sz="1300" dirty="0"/>
          </a:p>
        </p:txBody>
      </p:sp>
      <p:sp>
        <p:nvSpPr>
          <p:cNvPr id="8" name="Shape 3"/>
          <p:cNvSpPr/>
          <p:nvPr/>
        </p:nvSpPr>
        <p:spPr>
          <a:xfrm>
            <a:off x="476402" y="952805"/>
            <a:ext cx="1429207" cy="295351"/>
          </a:xfrm>
          <a:prstGeom prst="roundRect">
            <a:avLst>
              <a:gd name="adj" fmla="val 119844"/>
            </a:avLst>
          </a:prstGeom>
          <a:solidFill>
            <a:srgbClr val="6366F1">
              <a:alpha val="10000"/>
            </a:srgbClr>
          </a:solidFill>
          <a:ln w="12700">
            <a:solidFill>
              <a:srgbClr val="6366F1">
                <a:alpha val="30000"/>
              </a:srgbClr>
            </a:solidFill>
            <a:prstDash val="solid"/>
          </a:ln>
        </p:spPr>
      </p:sp>
      <p:sp>
        <p:nvSpPr>
          <p:cNvPr id="9" name="Text 4"/>
          <p:cNvSpPr txBox="1"/>
          <p:nvPr/>
        </p:nvSpPr>
        <p:spPr>
          <a:xfrm>
            <a:off x="476402" y="952805"/>
            <a:ext cx="1429207" cy="295351"/>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algn="l" indent="0" marL="0">
              <a:buNone/>
            </a:pPr>
            <a:r>
              <a:rPr lang="en-US" sz="1000" b="1" dirty="0">
                <a:solidFill>
                  <a:srgbClr val="6366F1"/>
                </a:solidFill>
                <a:latin typeface="Inter" pitchFamily="34" charset="0"/>
                <a:ea typeface="Inter" pitchFamily="34" charset="-122"/>
                <a:cs typeface="Inter" pitchFamily="34" charset="-120"/>
              </a:rPr>
              <a:t>SETUP PROCESS</a:t>
            </a:r>
            <a:endParaRPr lang="en-US" sz="1000" dirty="0"/>
          </a:p>
        </p:txBody>
      </p:sp>
      <p:sp>
        <p:nvSpPr>
          <p:cNvPr id="10" name="Shape 5"/>
          <p:cNvSpPr/>
          <p:nvPr/>
        </p:nvSpPr>
        <p:spPr>
          <a:xfrm>
            <a:off x="476402" y="2421331"/>
            <a:ext cx="5524805" cy="1733702"/>
          </a:xfrm>
          <a:prstGeom prst="roundRect">
            <a:avLst>
              <a:gd name="adj" fmla="val 9273"/>
            </a:avLst>
          </a:prstGeom>
          <a:solidFill>
            <a:srgbClr val="0F0F19">
              <a:alpha val="80000"/>
            </a:srgbClr>
          </a:solidFill>
          <a:ln w="12700">
            <a:solidFill>
              <a:srgbClr val="6366F1">
                <a:alpha val="20000"/>
              </a:srgbClr>
            </a:solidFill>
            <a:prstDash val="solid"/>
          </a:ln>
        </p:spPr>
      </p:sp>
      <p:sp>
        <p:nvSpPr>
          <p:cNvPr id="11" name="Shape 6"/>
          <p:cNvSpPr/>
          <p:nvPr/>
        </p:nvSpPr>
        <p:spPr>
          <a:xfrm>
            <a:off x="638251" y="2583180"/>
            <a:ext cx="457200" cy="457200"/>
          </a:xfrm>
          <a:prstGeom prst="roundRect">
            <a:avLst>
              <a:gd name="adj" fmla="val 100000"/>
            </a:avLst>
          </a:prstGeom>
          <a:solidFill>
            <a:srgbClr val="6366F1">
              <a:alpha val="10000"/>
            </a:srgbClr>
          </a:solidFill>
          <a:ln w="12700">
            <a:solidFill>
              <a:srgbClr val="FFFFFF">
                <a:alpha val="0"/>
              </a:srgbClr>
            </a:solidFill>
            <a:prstDash val="solid"/>
          </a:ln>
        </p:spPr>
      </p:sp>
      <p:pic>
        <p:nvPicPr>
          <p:cNvPr id="12" name="Image 3" descr="preencoded.png">    </p:cNvPr>
          <p:cNvPicPr>
            <a:picLocks noChangeAspect="1"/>
          </p:cNvPicPr>
          <p:nvPr/>
        </p:nvPicPr>
        <p:blipFill>
          <a:blip r:embed="rId4"/>
          <a:srcRect l="0" r="0" t="0" b="0"/>
          <a:stretch/>
        </p:blipFill>
        <p:spPr>
          <a:xfrm>
            <a:off x="752551" y="2697480"/>
            <a:ext cx="228600" cy="228600"/>
          </a:xfrm>
          <a:prstGeom prst="rect">
            <a:avLst/>
          </a:prstGeom>
        </p:spPr>
      </p:pic>
      <p:sp>
        <p:nvSpPr>
          <p:cNvPr id="13" name="Text 7"/>
          <p:cNvSpPr txBox="1"/>
          <p:nvPr/>
        </p:nvSpPr>
        <p:spPr>
          <a:xfrm>
            <a:off x="1248156" y="2592324"/>
            <a:ext cx="4591202" cy="200254"/>
          </a:xfrm>
          <a:prstGeom prst="rect">
            <a:avLst/>
          </a:prstGeom>
          <a:noFill/>
          <a:ln/>
        </p:spPr>
        <p:txBody>
          <a:bodyPr wrap="square" lIns="0" tIns="0" rIns="0" bIns="0" rtlCol="0" anchor="ctr"/>
          <a:lstStyle/>
          <a:p>
            <a:pPr algn="l" indent="0" marL="0">
              <a:buNone/>
            </a:pPr>
            <a:r>
              <a:rPr lang="en-US" sz="1000" b="1" dirty="0">
                <a:solidFill>
                  <a:srgbClr val="6366F1"/>
                </a:solidFill>
                <a:latin typeface="Inter" pitchFamily="34" charset="0"/>
                <a:ea typeface="Inter" pitchFamily="34" charset="-122"/>
                <a:cs typeface="Inter" pitchFamily="34" charset="-120"/>
              </a:rPr>
              <a:t>Stage A:</a:t>
            </a:r>
            <a:pPr algn="l" indent="0" marL="0">
              <a:buNone/>
            </a:pPr>
            <a:r>
              <a:rPr lang="en-US" sz="1300" b="1" dirty="0">
                <a:solidFill>
                  <a:srgbClr val="FFFFFF"/>
                </a:solidFill>
                <a:latin typeface="Inter" pitchFamily="34" charset="0"/>
                <a:ea typeface="Inter" pitchFamily="34" charset="-122"/>
                <a:cs typeface="Inter" pitchFamily="34" charset="-120"/>
              </a:rPr>
              <a:t> Architecture Orientation </a:t>
            </a:r>
            <a:endParaRPr lang="en-US" sz="1300" dirty="0"/>
          </a:p>
        </p:txBody>
      </p:sp>
      <p:sp>
        <p:nvSpPr>
          <p:cNvPr id="14" name="Text 8"/>
          <p:cNvSpPr txBox="1"/>
          <p:nvPr/>
        </p:nvSpPr>
        <p:spPr>
          <a:xfrm>
            <a:off x="1248156" y="2830982"/>
            <a:ext cx="4995367" cy="200254"/>
          </a:xfrm>
          <a:prstGeom prst="rect">
            <a:avLst/>
          </a:prstGeom>
          <a:noFill/>
          <a:ln/>
        </p:spPr>
        <p:txBody>
          <a:bodyPr wrap="square" lIns="0" tIns="0" rIns="0" bIns="0" rtlCol="0" anchor="ctr"/>
          <a:lstStyle/>
          <a:p>
            <a:pPr algn="l" indent="0" marL="0">
              <a:buNone/>
            </a:pPr>
            <a:r>
              <a:rPr lang="en-US" sz="1000" dirty="0">
                <a:solidFill>
                  <a:srgbClr val="94A3B8"/>
                </a:solidFill>
                <a:latin typeface="Inter" pitchFamily="34" charset="0"/>
                <a:ea typeface="Inter" pitchFamily="34" charset="-122"/>
                <a:cs typeface="Inter" pitchFamily="34" charset="-120"/>
              </a:rPr>
              <a:t>Map components and data flow; align on local-first principles</a:t>
            </a:r>
            <a:endParaRPr lang="en-US" sz="1000" dirty="0"/>
          </a:p>
        </p:txBody>
      </p:sp>
      <p:sp>
        <p:nvSpPr>
          <p:cNvPr id="15" name="Shape 9"/>
          <p:cNvSpPr/>
          <p:nvPr/>
        </p:nvSpPr>
        <p:spPr>
          <a:xfrm>
            <a:off x="638251" y="3154680"/>
            <a:ext cx="5201107" cy="381305"/>
          </a:xfrm>
          <a:prstGeom prst="roundRect">
            <a:avLst>
              <a:gd name="adj" fmla="val 95923"/>
            </a:avLst>
          </a:prstGeom>
          <a:solidFill>
            <a:srgbClr val="0F0F19">
              <a:alpha val="60000"/>
            </a:srgbClr>
          </a:solidFill>
          <a:ln w="12700">
            <a:solidFill>
              <a:srgbClr val="FFFFFF">
                <a:alpha val="0"/>
              </a:srgbClr>
            </a:solidFill>
            <a:prstDash val="solid"/>
          </a:ln>
        </p:spPr>
      </p:sp>
      <p:sp>
        <p:nvSpPr>
          <p:cNvPr id="16" name="Shape 10"/>
          <p:cNvSpPr/>
          <p:nvPr/>
        </p:nvSpPr>
        <p:spPr>
          <a:xfrm>
            <a:off x="752551" y="3230575"/>
            <a:ext cx="228600" cy="228600"/>
          </a:xfrm>
          <a:prstGeom prst="roundRect">
            <a:avLst>
              <a:gd name="adj" fmla="val 200000"/>
            </a:avLst>
          </a:prstGeom>
          <a:solidFill>
            <a:srgbClr val="6366F1">
              <a:alpha val="10000"/>
            </a:srgbClr>
          </a:solidFill>
          <a:ln w="12700">
            <a:solidFill>
              <a:srgbClr val="FFFFFF">
                <a:alpha val="0"/>
              </a:srgbClr>
            </a:solidFill>
            <a:prstDash val="solid"/>
          </a:ln>
        </p:spPr>
      </p:sp>
      <p:pic>
        <p:nvPicPr>
          <p:cNvPr id="17" name="Image 4" descr="preencoded.png">    </p:cNvPr>
          <p:cNvPicPr>
            <a:picLocks noChangeAspect="1"/>
          </p:cNvPicPr>
          <p:nvPr/>
        </p:nvPicPr>
        <p:blipFill>
          <a:blip r:embed="rId5"/>
          <a:srcRect l="-1911" r="-1911" t="0" b="0"/>
          <a:stretch/>
        </p:blipFill>
        <p:spPr>
          <a:xfrm>
            <a:off x="800100" y="3288182"/>
            <a:ext cx="133502" cy="114300"/>
          </a:xfrm>
          <a:prstGeom prst="rect">
            <a:avLst/>
          </a:prstGeom>
        </p:spPr>
      </p:pic>
      <p:sp>
        <p:nvSpPr>
          <p:cNvPr id="18" name="Text 11"/>
          <p:cNvSpPr txBox="1"/>
          <p:nvPr/>
        </p:nvSpPr>
        <p:spPr>
          <a:xfrm>
            <a:off x="1095451" y="3264408"/>
            <a:ext cx="4086454"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Understand GenAI architecture</a:t>
            </a:r>
            <a:endParaRPr lang="en-US" sz="1000" dirty="0"/>
          </a:p>
        </p:txBody>
      </p:sp>
      <p:pic>
        <p:nvPicPr>
          <p:cNvPr id="19" name="Image 5" descr="preencoded.png">    </p:cNvPr>
          <p:cNvPicPr>
            <a:picLocks noChangeAspect="1"/>
          </p:cNvPicPr>
          <p:nvPr/>
        </p:nvPicPr>
        <p:blipFill>
          <a:blip r:embed="rId6"/>
          <a:srcRect l="0" r="0" t="0" b="0"/>
          <a:stretch/>
        </p:blipFill>
        <p:spPr>
          <a:xfrm>
            <a:off x="5287061" y="3297326"/>
            <a:ext cx="95098" cy="95098"/>
          </a:xfrm>
          <a:prstGeom prst="rect">
            <a:avLst/>
          </a:prstGeom>
        </p:spPr>
      </p:pic>
      <p:sp>
        <p:nvSpPr>
          <p:cNvPr id="20" name="Text 12"/>
          <p:cNvSpPr txBox="1"/>
          <p:nvPr/>
        </p:nvSpPr>
        <p:spPr>
          <a:xfrm>
            <a:off x="5438851" y="3273552"/>
            <a:ext cx="286207" cy="143561"/>
          </a:xfrm>
          <a:prstGeom prst="rect">
            <a:avLst/>
          </a:prstGeom>
          <a:noFill/>
          <a:ln/>
        </p:spPr>
        <p:txBody>
          <a:bodyPr wrap="square" lIns="0" tIns="0" rIns="0" bIns="0" rtlCol="0" anchor="ctr"/>
          <a:lstStyle/>
          <a:p>
            <a:pPr algn="l" indent="0" marL="0">
              <a:buNone/>
            </a:pPr>
            <a:r>
              <a:rPr lang="en-US" sz="900" dirty="0">
                <a:solidFill>
                  <a:srgbClr val="10B981"/>
                </a:solidFill>
                <a:latin typeface="Inter" pitchFamily="34" charset="0"/>
                <a:ea typeface="Inter" pitchFamily="34" charset="-122"/>
                <a:cs typeface="Inter" pitchFamily="34" charset="-120"/>
              </a:rPr>
              <a:t>Done</a:t>
            </a:r>
            <a:endParaRPr lang="en-US" sz="900" dirty="0"/>
          </a:p>
        </p:txBody>
      </p:sp>
      <p:sp>
        <p:nvSpPr>
          <p:cNvPr id="21" name="Shape 13"/>
          <p:cNvSpPr/>
          <p:nvPr/>
        </p:nvSpPr>
        <p:spPr>
          <a:xfrm>
            <a:off x="638251" y="3611880"/>
            <a:ext cx="5201107" cy="381305"/>
          </a:xfrm>
          <a:prstGeom prst="roundRect">
            <a:avLst>
              <a:gd name="adj" fmla="val 95923"/>
            </a:avLst>
          </a:prstGeom>
          <a:solidFill>
            <a:srgbClr val="0F0F19">
              <a:alpha val="60000"/>
            </a:srgbClr>
          </a:solidFill>
          <a:ln w="12700">
            <a:solidFill>
              <a:srgbClr val="FFFFFF">
                <a:alpha val="0"/>
              </a:srgbClr>
            </a:solidFill>
            <a:prstDash val="solid"/>
          </a:ln>
        </p:spPr>
      </p:sp>
      <p:sp>
        <p:nvSpPr>
          <p:cNvPr id="22" name="Shape 14"/>
          <p:cNvSpPr/>
          <p:nvPr/>
        </p:nvSpPr>
        <p:spPr>
          <a:xfrm>
            <a:off x="752551" y="3687775"/>
            <a:ext cx="228600" cy="228600"/>
          </a:xfrm>
          <a:prstGeom prst="roundRect">
            <a:avLst>
              <a:gd name="adj" fmla="val 200000"/>
            </a:avLst>
          </a:prstGeom>
          <a:solidFill>
            <a:srgbClr val="6366F1">
              <a:alpha val="10000"/>
            </a:srgbClr>
          </a:solidFill>
          <a:ln w="12700">
            <a:solidFill>
              <a:srgbClr val="FFFFFF">
                <a:alpha val="0"/>
              </a:srgbClr>
            </a:solidFill>
            <a:prstDash val="solid"/>
          </a:ln>
        </p:spPr>
      </p:sp>
      <p:pic>
        <p:nvPicPr>
          <p:cNvPr id="23" name="Image 6" descr="preencoded.png">    </p:cNvPr>
          <p:cNvPicPr>
            <a:picLocks noChangeAspect="1"/>
          </p:cNvPicPr>
          <p:nvPr/>
        </p:nvPicPr>
        <p:blipFill>
          <a:blip r:embed="rId7"/>
          <a:srcRect l="0" r="0" t="0" b="0"/>
          <a:stretch/>
        </p:blipFill>
        <p:spPr>
          <a:xfrm>
            <a:off x="809244" y="3745382"/>
            <a:ext cx="114300" cy="114300"/>
          </a:xfrm>
          <a:prstGeom prst="rect">
            <a:avLst/>
          </a:prstGeom>
        </p:spPr>
      </p:pic>
      <p:sp>
        <p:nvSpPr>
          <p:cNvPr id="24" name="Text 15"/>
          <p:cNvSpPr txBox="1"/>
          <p:nvPr/>
        </p:nvSpPr>
        <p:spPr>
          <a:xfrm>
            <a:off x="1095451" y="3721608"/>
            <a:ext cx="4086454"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Learn local-first benefits</a:t>
            </a:r>
            <a:endParaRPr lang="en-US" sz="1000" dirty="0"/>
          </a:p>
        </p:txBody>
      </p:sp>
      <p:pic>
        <p:nvPicPr>
          <p:cNvPr id="25" name="Image 7" descr="preencoded.png">    </p:cNvPr>
          <p:cNvPicPr>
            <a:picLocks noChangeAspect="1"/>
          </p:cNvPicPr>
          <p:nvPr/>
        </p:nvPicPr>
        <p:blipFill>
          <a:blip r:embed="rId8"/>
          <a:srcRect l="0" r="0" t="0" b="0"/>
          <a:stretch/>
        </p:blipFill>
        <p:spPr>
          <a:xfrm>
            <a:off x="5287061" y="3754526"/>
            <a:ext cx="95098" cy="95098"/>
          </a:xfrm>
          <a:prstGeom prst="rect">
            <a:avLst/>
          </a:prstGeom>
        </p:spPr>
      </p:pic>
      <p:sp>
        <p:nvSpPr>
          <p:cNvPr id="26" name="Text 16"/>
          <p:cNvSpPr txBox="1"/>
          <p:nvPr/>
        </p:nvSpPr>
        <p:spPr>
          <a:xfrm>
            <a:off x="5438851" y="3730752"/>
            <a:ext cx="286207" cy="143561"/>
          </a:xfrm>
          <a:prstGeom prst="rect">
            <a:avLst/>
          </a:prstGeom>
          <a:noFill/>
          <a:ln/>
        </p:spPr>
        <p:txBody>
          <a:bodyPr wrap="square" lIns="0" tIns="0" rIns="0" bIns="0" rtlCol="0" anchor="ctr"/>
          <a:lstStyle/>
          <a:p>
            <a:pPr algn="l" indent="0" marL="0">
              <a:buNone/>
            </a:pPr>
            <a:r>
              <a:rPr lang="en-US" sz="900" dirty="0">
                <a:solidFill>
                  <a:srgbClr val="10B981"/>
                </a:solidFill>
                <a:latin typeface="Inter" pitchFamily="34" charset="0"/>
                <a:ea typeface="Inter" pitchFamily="34" charset="-122"/>
                <a:cs typeface="Inter" pitchFamily="34" charset="-120"/>
              </a:rPr>
              <a:t>Done</a:t>
            </a:r>
            <a:endParaRPr lang="en-US" sz="900" dirty="0"/>
          </a:p>
        </p:txBody>
      </p:sp>
      <p:sp>
        <p:nvSpPr>
          <p:cNvPr id="27" name="Shape 17"/>
          <p:cNvSpPr/>
          <p:nvPr/>
        </p:nvSpPr>
        <p:spPr>
          <a:xfrm>
            <a:off x="6191402" y="2421331"/>
            <a:ext cx="5524805" cy="1733702"/>
          </a:xfrm>
          <a:prstGeom prst="roundRect">
            <a:avLst>
              <a:gd name="adj" fmla="val 9273"/>
            </a:avLst>
          </a:prstGeom>
          <a:solidFill>
            <a:srgbClr val="0F0F19">
              <a:alpha val="80000"/>
            </a:srgbClr>
          </a:solidFill>
          <a:ln w="12700">
            <a:solidFill>
              <a:srgbClr val="6366F1">
                <a:alpha val="20000"/>
              </a:srgbClr>
            </a:solidFill>
            <a:prstDash val="solid"/>
          </a:ln>
        </p:spPr>
      </p:sp>
      <p:sp>
        <p:nvSpPr>
          <p:cNvPr id="28" name="Shape 18"/>
          <p:cNvSpPr/>
          <p:nvPr/>
        </p:nvSpPr>
        <p:spPr>
          <a:xfrm>
            <a:off x="6353251" y="2583180"/>
            <a:ext cx="457200" cy="457200"/>
          </a:xfrm>
          <a:prstGeom prst="roundRect">
            <a:avLst>
              <a:gd name="adj" fmla="val 100000"/>
            </a:avLst>
          </a:prstGeom>
          <a:solidFill>
            <a:srgbClr val="6366F1">
              <a:alpha val="10000"/>
            </a:srgbClr>
          </a:solidFill>
          <a:ln w="12700">
            <a:solidFill>
              <a:srgbClr val="FFFFFF">
                <a:alpha val="0"/>
              </a:srgbClr>
            </a:solidFill>
            <a:prstDash val="solid"/>
          </a:ln>
        </p:spPr>
      </p:sp>
      <p:pic>
        <p:nvPicPr>
          <p:cNvPr id="29" name="Image 8" descr="preencoded.png">    </p:cNvPr>
          <p:cNvPicPr>
            <a:picLocks noChangeAspect="1"/>
          </p:cNvPicPr>
          <p:nvPr/>
        </p:nvPicPr>
        <p:blipFill>
          <a:blip r:embed="rId9"/>
          <a:srcRect l="0" r="0" t="0" b="0"/>
          <a:stretch/>
        </p:blipFill>
        <p:spPr>
          <a:xfrm>
            <a:off x="6467551" y="2697480"/>
            <a:ext cx="228600" cy="228600"/>
          </a:xfrm>
          <a:prstGeom prst="rect">
            <a:avLst/>
          </a:prstGeom>
        </p:spPr>
      </p:pic>
      <p:sp>
        <p:nvSpPr>
          <p:cNvPr id="30" name="Text 19"/>
          <p:cNvSpPr txBox="1"/>
          <p:nvPr/>
        </p:nvSpPr>
        <p:spPr>
          <a:xfrm>
            <a:off x="6963156" y="2592324"/>
            <a:ext cx="4591202" cy="200254"/>
          </a:xfrm>
          <a:prstGeom prst="rect">
            <a:avLst/>
          </a:prstGeom>
          <a:noFill/>
          <a:ln/>
        </p:spPr>
        <p:txBody>
          <a:bodyPr wrap="square" lIns="0" tIns="0" rIns="0" bIns="0" rtlCol="0" anchor="ctr"/>
          <a:lstStyle/>
          <a:p>
            <a:pPr algn="l" indent="0" marL="0">
              <a:buNone/>
            </a:pPr>
            <a:r>
              <a:rPr lang="en-US" sz="1000" b="1" dirty="0">
                <a:solidFill>
                  <a:srgbClr val="6366F1"/>
                </a:solidFill>
                <a:latin typeface="Inter" pitchFamily="34" charset="0"/>
                <a:ea typeface="Inter" pitchFamily="34" charset="-122"/>
                <a:cs typeface="Inter" pitchFamily="34" charset="-120"/>
              </a:rPr>
              <a:t>Stage B:</a:t>
            </a:r>
            <a:pPr algn="l" indent="0" marL="0">
              <a:buNone/>
            </a:pPr>
            <a:r>
              <a:rPr lang="en-US" sz="1300" b="1" dirty="0">
                <a:solidFill>
                  <a:srgbClr val="FFFFFF"/>
                </a:solidFill>
                <a:latin typeface="Inter" pitchFamily="34" charset="0"/>
                <a:ea typeface="Inter" pitchFamily="34" charset="-122"/>
                <a:cs typeface="Inter" pitchFamily="34" charset="-120"/>
              </a:rPr>
              <a:t> Environment &amp; Dependencies </a:t>
            </a:r>
            <a:endParaRPr lang="en-US" sz="1300" dirty="0"/>
          </a:p>
        </p:txBody>
      </p:sp>
      <p:sp>
        <p:nvSpPr>
          <p:cNvPr id="31" name="Text 20"/>
          <p:cNvSpPr txBox="1"/>
          <p:nvPr/>
        </p:nvSpPr>
        <p:spPr>
          <a:xfrm>
            <a:off x="6963156" y="2830982"/>
            <a:ext cx="4591202" cy="200254"/>
          </a:xfrm>
          <a:prstGeom prst="rect">
            <a:avLst/>
          </a:prstGeom>
          <a:noFill/>
          <a:ln/>
        </p:spPr>
        <p:txBody>
          <a:bodyPr wrap="square" lIns="0" tIns="0" rIns="0" bIns="0" rtlCol="0" anchor="ctr"/>
          <a:lstStyle/>
          <a:p>
            <a:pPr algn="l" indent="0" marL="0">
              <a:buNone/>
            </a:pPr>
            <a:r>
              <a:rPr lang="en-US" sz="1000" dirty="0">
                <a:solidFill>
                  <a:srgbClr val="94A3B8"/>
                </a:solidFill>
                <a:latin typeface="Inter" pitchFamily="34" charset="0"/>
                <a:ea typeface="Inter" pitchFamily="34" charset="-122"/>
                <a:cs typeface="Inter" pitchFamily="34" charset="-120"/>
              </a:rPr>
              <a:t>Create venv; pip install; verify with pip list</a:t>
            </a:r>
            <a:endParaRPr lang="en-US" sz="1000" dirty="0"/>
          </a:p>
        </p:txBody>
      </p:sp>
      <p:sp>
        <p:nvSpPr>
          <p:cNvPr id="32" name="Shape 21"/>
          <p:cNvSpPr/>
          <p:nvPr/>
        </p:nvSpPr>
        <p:spPr>
          <a:xfrm>
            <a:off x="6353251" y="3154680"/>
            <a:ext cx="5201107" cy="381305"/>
          </a:xfrm>
          <a:prstGeom prst="roundRect">
            <a:avLst>
              <a:gd name="adj" fmla="val 95923"/>
            </a:avLst>
          </a:prstGeom>
          <a:solidFill>
            <a:srgbClr val="0F0F19">
              <a:alpha val="60000"/>
            </a:srgbClr>
          </a:solidFill>
          <a:ln w="12700">
            <a:solidFill>
              <a:srgbClr val="FFFFFF">
                <a:alpha val="0"/>
              </a:srgbClr>
            </a:solidFill>
            <a:prstDash val="solid"/>
          </a:ln>
        </p:spPr>
      </p:sp>
      <p:sp>
        <p:nvSpPr>
          <p:cNvPr id="33" name="Shape 22"/>
          <p:cNvSpPr/>
          <p:nvPr/>
        </p:nvSpPr>
        <p:spPr>
          <a:xfrm>
            <a:off x="6467551" y="3230575"/>
            <a:ext cx="228600" cy="228600"/>
          </a:xfrm>
          <a:prstGeom prst="roundRect">
            <a:avLst>
              <a:gd name="adj" fmla="val 200000"/>
            </a:avLst>
          </a:prstGeom>
          <a:solidFill>
            <a:srgbClr val="6366F1">
              <a:alpha val="10000"/>
            </a:srgbClr>
          </a:solidFill>
          <a:ln w="12700">
            <a:solidFill>
              <a:srgbClr val="FFFFFF">
                <a:alpha val="0"/>
              </a:srgbClr>
            </a:solidFill>
            <a:prstDash val="solid"/>
          </a:ln>
        </p:spPr>
      </p:sp>
      <p:pic>
        <p:nvPicPr>
          <p:cNvPr id="34" name="Image 9" descr="preencoded.png">    </p:cNvPr>
          <p:cNvPicPr>
            <a:picLocks noChangeAspect="1"/>
          </p:cNvPicPr>
          <p:nvPr/>
        </p:nvPicPr>
        <p:blipFill>
          <a:blip r:embed="rId10"/>
          <a:srcRect l="-1911" r="-1911" t="0" b="0"/>
          <a:stretch/>
        </p:blipFill>
        <p:spPr>
          <a:xfrm>
            <a:off x="6515100" y="3288182"/>
            <a:ext cx="133502" cy="114300"/>
          </a:xfrm>
          <a:prstGeom prst="rect">
            <a:avLst/>
          </a:prstGeom>
        </p:spPr>
      </p:pic>
      <p:sp>
        <p:nvSpPr>
          <p:cNvPr id="35" name="Text 23"/>
          <p:cNvSpPr txBox="1"/>
          <p:nvPr/>
        </p:nvSpPr>
        <p:spPr>
          <a:xfrm>
            <a:off x="6810451" y="3264408"/>
            <a:ext cx="4086454"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python -m venv .venv</a:t>
            </a:r>
            <a:endParaRPr lang="en-US" sz="1000" dirty="0"/>
          </a:p>
        </p:txBody>
      </p:sp>
      <p:pic>
        <p:nvPicPr>
          <p:cNvPr id="36" name="Image 10" descr="preencoded.png">    </p:cNvPr>
          <p:cNvPicPr>
            <a:picLocks noChangeAspect="1"/>
          </p:cNvPicPr>
          <p:nvPr/>
        </p:nvPicPr>
        <p:blipFill>
          <a:blip r:embed="rId11"/>
          <a:srcRect l="0" r="0" t="0" b="0"/>
          <a:stretch/>
        </p:blipFill>
        <p:spPr>
          <a:xfrm>
            <a:off x="11002061" y="3297326"/>
            <a:ext cx="95098" cy="95098"/>
          </a:xfrm>
          <a:prstGeom prst="rect">
            <a:avLst/>
          </a:prstGeom>
        </p:spPr>
      </p:pic>
      <p:sp>
        <p:nvSpPr>
          <p:cNvPr id="37" name="Text 24"/>
          <p:cNvSpPr txBox="1"/>
          <p:nvPr/>
        </p:nvSpPr>
        <p:spPr>
          <a:xfrm>
            <a:off x="11153851" y="3273552"/>
            <a:ext cx="286207" cy="143561"/>
          </a:xfrm>
          <a:prstGeom prst="rect">
            <a:avLst/>
          </a:prstGeom>
          <a:noFill/>
          <a:ln/>
        </p:spPr>
        <p:txBody>
          <a:bodyPr wrap="square" lIns="0" tIns="0" rIns="0" bIns="0" rtlCol="0" anchor="ctr"/>
          <a:lstStyle/>
          <a:p>
            <a:pPr algn="l" indent="0" marL="0">
              <a:buNone/>
            </a:pPr>
            <a:r>
              <a:rPr lang="en-US" sz="900" dirty="0">
                <a:solidFill>
                  <a:srgbClr val="10B981"/>
                </a:solidFill>
                <a:latin typeface="Inter" pitchFamily="34" charset="0"/>
                <a:ea typeface="Inter" pitchFamily="34" charset="-122"/>
                <a:cs typeface="Inter" pitchFamily="34" charset="-120"/>
              </a:rPr>
              <a:t>Done</a:t>
            </a:r>
            <a:endParaRPr lang="en-US" sz="900" dirty="0"/>
          </a:p>
        </p:txBody>
      </p:sp>
      <p:sp>
        <p:nvSpPr>
          <p:cNvPr id="38" name="Shape 25"/>
          <p:cNvSpPr/>
          <p:nvPr/>
        </p:nvSpPr>
        <p:spPr>
          <a:xfrm>
            <a:off x="6353251" y="3611880"/>
            <a:ext cx="5201107" cy="381305"/>
          </a:xfrm>
          <a:prstGeom prst="roundRect">
            <a:avLst>
              <a:gd name="adj" fmla="val 95923"/>
            </a:avLst>
          </a:prstGeom>
          <a:solidFill>
            <a:srgbClr val="0F0F19">
              <a:alpha val="60000"/>
            </a:srgbClr>
          </a:solidFill>
          <a:ln w="12700">
            <a:solidFill>
              <a:srgbClr val="FFFFFF">
                <a:alpha val="0"/>
              </a:srgbClr>
            </a:solidFill>
            <a:prstDash val="solid"/>
          </a:ln>
        </p:spPr>
      </p:sp>
      <p:sp>
        <p:nvSpPr>
          <p:cNvPr id="39" name="Shape 26"/>
          <p:cNvSpPr/>
          <p:nvPr/>
        </p:nvSpPr>
        <p:spPr>
          <a:xfrm>
            <a:off x="6467551" y="3687775"/>
            <a:ext cx="228600" cy="228600"/>
          </a:xfrm>
          <a:prstGeom prst="roundRect">
            <a:avLst>
              <a:gd name="adj" fmla="val 200000"/>
            </a:avLst>
          </a:prstGeom>
          <a:solidFill>
            <a:srgbClr val="6366F1">
              <a:alpha val="10000"/>
            </a:srgbClr>
          </a:solidFill>
          <a:ln w="12700">
            <a:solidFill>
              <a:srgbClr val="FFFFFF">
                <a:alpha val="0"/>
              </a:srgbClr>
            </a:solidFill>
            <a:prstDash val="solid"/>
          </a:ln>
        </p:spPr>
      </p:sp>
      <p:pic>
        <p:nvPicPr>
          <p:cNvPr id="40" name="Image 11" descr="preencoded.png">    </p:cNvPr>
          <p:cNvPicPr>
            <a:picLocks noChangeAspect="1"/>
          </p:cNvPicPr>
          <p:nvPr/>
        </p:nvPicPr>
        <p:blipFill>
          <a:blip r:embed="rId12"/>
          <a:srcRect l="0" r="0" t="0" b="0"/>
          <a:stretch/>
        </p:blipFill>
        <p:spPr>
          <a:xfrm>
            <a:off x="6524244" y="3745382"/>
            <a:ext cx="114300" cy="114300"/>
          </a:xfrm>
          <a:prstGeom prst="rect">
            <a:avLst/>
          </a:prstGeom>
        </p:spPr>
      </p:pic>
      <p:sp>
        <p:nvSpPr>
          <p:cNvPr id="41" name="Text 27"/>
          <p:cNvSpPr txBox="1"/>
          <p:nvPr/>
        </p:nvSpPr>
        <p:spPr>
          <a:xfrm>
            <a:off x="6810451" y="3721608"/>
            <a:ext cx="3924605"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pip install -r requirements.txt</a:t>
            </a:r>
            <a:endParaRPr lang="en-US" sz="1000" dirty="0"/>
          </a:p>
        </p:txBody>
      </p:sp>
      <p:pic>
        <p:nvPicPr>
          <p:cNvPr id="42" name="Image 12" descr="preencoded.png">    </p:cNvPr>
          <p:cNvPicPr>
            <a:picLocks noChangeAspect="1"/>
          </p:cNvPicPr>
          <p:nvPr/>
        </p:nvPicPr>
        <p:blipFill>
          <a:blip r:embed="rId13"/>
          <a:srcRect l="0" r="0" t="0" b="0"/>
          <a:stretch/>
        </p:blipFill>
        <p:spPr>
          <a:xfrm>
            <a:off x="10845698" y="3754526"/>
            <a:ext cx="95098" cy="95098"/>
          </a:xfrm>
          <a:prstGeom prst="rect">
            <a:avLst/>
          </a:prstGeom>
        </p:spPr>
      </p:pic>
      <p:sp>
        <p:nvSpPr>
          <p:cNvPr id="43" name="Text 28"/>
          <p:cNvSpPr txBox="1"/>
          <p:nvPr/>
        </p:nvSpPr>
        <p:spPr>
          <a:xfrm>
            <a:off x="10998403" y="3730752"/>
            <a:ext cx="547726" cy="143561"/>
          </a:xfrm>
          <a:prstGeom prst="rect">
            <a:avLst/>
          </a:prstGeom>
          <a:noFill/>
          <a:ln/>
        </p:spPr>
        <p:txBody>
          <a:bodyPr wrap="square" lIns="0" tIns="0" rIns="0" bIns="0" rtlCol="0" anchor="ctr"/>
          <a:lstStyle/>
          <a:p>
            <a:pPr algn="l" indent="0" marL="0">
              <a:buNone/>
            </a:pPr>
            <a:r>
              <a:rPr lang="en-US" sz="900" dirty="0">
                <a:solidFill>
                  <a:srgbClr val="F59E0B"/>
                </a:solidFill>
                <a:latin typeface="Inter" pitchFamily="34" charset="0"/>
                <a:ea typeface="Inter" pitchFamily="34" charset="-122"/>
                <a:cs typeface="Inter" pitchFamily="34" charset="-120"/>
              </a:rPr>
              <a:t>Running</a:t>
            </a:r>
            <a:endParaRPr lang="en-US" sz="900" dirty="0"/>
          </a:p>
        </p:txBody>
      </p:sp>
      <p:sp>
        <p:nvSpPr>
          <p:cNvPr id="44" name="Shape 29"/>
          <p:cNvSpPr/>
          <p:nvPr/>
        </p:nvSpPr>
        <p:spPr>
          <a:xfrm>
            <a:off x="476402" y="4306824"/>
            <a:ext cx="5524805" cy="1733702"/>
          </a:xfrm>
          <a:prstGeom prst="roundRect">
            <a:avLst>
              <a:gd name="adj" fmla="val 9273"/>
            </a:avLst>
          </a:prstGeom>
          <a:solidFill>
            <a:srgbClr val="0F0F19">
              <a:alpha val="80000"/>
            </a:srgbClr>
          </a:solidFill>
          <a:ln w="12700">
            <a:solidFill>
              <a:srgbClr val="6366F1">
                <a:alpha val="20000"/>
              </a:srgbClr>
            </a:solidFill>
            <a:prstDash val="solid"/>
          </a:ln>
        </p:spPr>
      </p:sp>
      <p:sp>
        <p:nvSpPr>
          <p:cNvPr id="45" name="Shape 30"/>
          <p:cNvSpPr/>
          <p:nvPr/>
        </p:nvSpPr>
        <p:spPr>
          <a:xfrm>
            <a:off x="638251" y="4469587"/>
            <a:ext cx="457200" cy="457200"/>
          </a:xfrm>
          <a:prstGeom prst="roundRect">
            <a:avLst>
              <a:gd name="adj" fmla="val 100000"/>
            </a:avLst>
          </a:prstGeom>
          <a:solidFill>
            <a:srgbClr val="6366F1">
              <a:alpha val="10000"/>
            </a:srgbClr>
          </a:solidFill>
          <a:ln w="12700">
            <a:solidFill>
              <a:srgbClr val="FFFFFF">
                <a:alpha val="0"/>
              </a:srgbClr>
            </a:solidFill>
            <a:prstDash val="solid"/>
          </a:ln>
        </p:spPr>
      </p:sp>
      <p:pic>
        <p:nvPicPr>
          <p:cNvPr id="46" name="Image 13" descr="preencoded.png">    </p:cNvPr>
          <p:cNvPicPr>
            <a:picLocks noChangeAspect="1"/>
          </p:cNvPicPr>
          <p:nvPr/>
        </p:nvPicPr>
        <p:blipFill>
          <a:blip r:embed="rId14"/>
          <a:srcRect l="-57" r="-57" t="0" b="0"/>
          <a:stretch/>
        </p:blipFill>
        <p:spPr>
          <a:xfrm>
            <a:off x="767182" y="4583887"/>
            <a:ext cx="200254" cy="228600"/>
          </a:xfrm>
          <a:prstGeom prst="rect">
            <a:avLst/>
          </a:prstGeom>
        </p:spPr>
      </p:pic>
      <p:sp>
        <p:nvSpPr>
          <p:cNvPr id="47" name="Text 31"/>
          <p:cNvSpPr txBox="1"/>
          <p:nvPr/>
        </p:nvSpPr>
        <p:spPr>
          <a:xfrm>
            <a:off x="1248156" y="4478731"/>
            <a:ext cx="4591202" cy="200254"/>
          </a:xfrm>
          <a:prstGeom prst="rect">
            <a:avLst/>
          </a:prstGeom>
          <a:noFill/>
          <a:ln/>
        </p:spPr>
        <p:txBody>
          <a:bodyPr wrap="square" lIns="0" tIns="0" rIns="0" bIns="0" rtlCol="0" anchor="ctr"/>
          <a:lstStyle/>
          <a:p>
            <a:pPr algn="l" indent="0" marL="0">
              <a:buNone/>
            </a:pPr>
            <a:r>
              <a:rPr lang="en-US" sz="1000" b="1" dirty="0">
                <a:solidFill>
                  <a:srgbClr val="6366F1"/>
                </a:solidFill>
                <a:latin typeface="Inter" pitchFamily="34" charset="0"/>
                <a:ea typeface="Inter" pitchFamily="34" charset="-122"/>
                <a:cs typeface="Inter" pitchFamily="34" charset="-120"/>
              </a:rPr>
              <a:t>Stage C:</a:t>
            </a:r>
            <a:pPr algn="l" indent="0" marL="0">
              <a:buNone/>
            </a:pPr>
            <a:r>
              <a:rPr lang="en-US" sz="1300" b="1" dirty="0">
                <a:solidFill>
                  <a:srgbClr val="FFFFFF"/>
                </a:solidFill>
                <a:latin typeface="Inter" pitchFamily="34" charset="0"/>
                <a:ea typeface="Inter" pitchFamily="34" charset="-122"/>
                <a:cs typeface="Inter" pitchFamily="34" charset="-120"/>
              </a:rPr>
              <a:t> Preflight Checks </a:t>
            </a:r>
            <a:endParaRPr lang="en-US" sz="1300" dirty="0"/>
          </a:p>
        </p:txBody>
      </p:sp>
      <p:sp>
        <p:nvSpPr>
          <p:cNvPr id="48" name="Text 32"/>
          <p:cNvSpPr txBox="1"/>
          <p:nvPr/>
        </p:nvSpPr>
        <p:spPr>
          <a:xfrm>
            <a:off x="1248156" y="4716475"/>
            <a:ext cx="4591202" cy="200254"/>
          </a:xfrm>
          <a:prstGeom prst="rect">
            <a:avLst/>
          </a:prstGeom>
          <a:noFill/>
          <a:ln/>
        </p:spPr>
        <p:txBody>
          <a:bodyPr wrap="square" lIns="0" tIns="0" rIns="0" bIns="0" rtlCol="0" anchor="ctr"/>
          <a:lstStyle/>
          <a:p>
            <a:pPr algn="l" indent="0" marL="0">
              <a:buNone/>
            </a:pPr>
            <a:r>
              <a:rPr lang="en-US" sz="1000" dirty="0">
                <a:solidFill>
                  <a:srgbClr val="94A3B8"/>
                </a:solidFill>
                <a:latin typeface="Inter" pitchFamily="34" charset="0"/>
                <a:ea typeface="Inter" pitchFamily="34" charset="-122"/>
                <a:cs typeface="Inter" pitchFamily="34" charset="-120"/>
              </a:rPr>
              <a:t>Run: ollama list → confirm models installed</a:t>
            </a:r>
            <a:endParaRPr lang="en-US" sz="1000" dirty="0"/>
          </a:p>
        </p:txBody>
      </p:sp>
      <p:sp>
        <p:nvSpPr>
          <p:cNvPr id="49" name="Shape 33"/>
          <p:cNvSpPr/>
          <p:nvPr/>
        </p:nvSpPr>
        <p:spPr>
          <a:xfrm>
            <a:off x="638251" y="5041087"/>
            <a:ext cx="5201107" cy="381305"/>
          </a:xfrm>
          <a:prstGeom prst="roundRect">
            <a:avLst>
              <a:gd name="adj" fmla="val 95923"/>
            </a:avLst>
          </a:prstGeom>
          <a:solidFill>
            <a:srgbClr val="0F0F19">
              <a:alpha val="60000"/>
            </a:srgbClr>
          </a:solidFill>
          <a:ln w="12700">
            <a:solidFill>
              <a:srgbClr val="FFFFFF">
                <a:alpha val="0"/>
              </a:srgbClr>
            </a:solidFill>
            <a:prstDash val="solid"/>
          </a:ln>
        </p:spPr>
      </p:sp>
      <p:sp>
        <p:nvSpPr>
          <p:cNvPr id="50" name="Shape 34"/>
          <p:cNvSpPr/>
          <p:nvPr/>
        </p:nvSpPr>
        <p:spPr>
          <a:xfrm>
            <a:off x="752551" y="5116982"/>
            <a:ext cx="228600" cy="228600"/>
          </a:xfrm>
          <a:prstGeom prst="roundRect">
            <a:avLst>
              <a:gd name="adj" fmla="val 200000"/>
            </a:avLst>
          </a:prstGeom>
          <a:solidFill>
            <a:srgbClr val="6366F1">
              <a:alpha val="10000"/>
            </a:srgbClr>
          </a:solidFill>
          <a:ln w="12700">
            <a:solidFill>
              <a:srgbClr val="FFFFFF">
                <a:alpha val="0"/>
              </a:srgbClr>
            </a:solidFill>
            <a:prstDash val="solid"/>
          </a:ln>
        </p:spPr>
      </p:sp>
      <p:pic>
        <p:nvPicPr>
          <p:cNvPr id="51" name="Image 14" descr="preencoded.png">    </p:cNvPr>
          <p:cNvPicPr>
            <a:picLocks noChangeAspect="1"/>
          </p:cNvPicPr>
          <p:nvPr/>
        </p:nvPicPr>
        <p:blipFill>
          <a:blip r:embed="rId15"/>
          <a:srcRect l="0" r="0" t="-80" b="-80"/>
          <a:stretch/>
        </p:blipFill>
        <p:spPr>
          <a:xfrm>
            <a:off x="795528" y="5173675"/>
            <a:ext cx="142646" cy="114300"/>
          </a:xfrm>
          <a:prstGeom prst="rect">
            <a:avLst/>
          </a:prstGeom>
        </p:spPr>
      </p:pic>
      <p:sp>
        <p:nvSpPr>
          <p:cNvPr id="52" name="Text 35"/>
          <p:cNvSpPr txBox="1"/>
          <p:nvPr/>
        </p:nvSpPr>
        <p:spPr>
          <a:xfrm>
            <a:off x="1095451" y="5149901"/>
            <a:ext cx="3915461"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llama3.2 (2.0 GB)</a:t>
            </a:r>
            <a:endParaRPr lang="en-US" sz="1000" dirty="0"/>
          </a:p>
        </p:txBody>
      </p:sp>
      <p:pic>
        <p:nvPicPr>
          <p:cNvPr id="53" name="Image 15" descr="preencoded.png">    </p:cNvPr>
          <p:cNvPicPr>
            <a:picLocks noChangeAspect="1"/>
          </p:cNvPicPr>
          <p:nvPr/>
        </p:nvPicPr>
        <p:blipFill>
          <a:blip r:embed="rId16"/>
          <a:srcRect l="0" r="0" t="0" b="0"/>
          <a:stretch/>
        </p:blipFill>
        <p:spPr>
          <a:xfrm>
            <a:off x="5119726" y="5183734"/>
            <a:ext cx="95098" cy="95098"/>
          </a:xfrm>
          <a:prstGeom prst="rect">
            <a:avLst/>
          </a:prstGeom>
        </p:spPr>
      </p:pic>
      <p:sp>
        <p:nvSpPr>
          <p:cNvPr id="54" name="Text 36"/>
          <p:cNvSpPr txBox="1"/>
          <p:nvPr/>
        </p:nvSpPr>
        <p:spPr>
          <a:xfrm>
            <a:off x="5271516" y="5159959"/>
            <a:ext cx="685800" cy="143561"/>
          </a:xfrm>
          <a:prstGeom prst="rect">
            <a:avLst/>
          </a:prstGeom>
          <a:noFill/>
          <a:ln/>
        </p:spPr>
        <p:txBody>
          <a:bodyPr wrap="square" lIns="0" tIns="0" rIns="0" bIns="0" rtlCol="0" anchor="ctr"/>
          <a:lstStyle/>
          <a:p>
            <a:pPr algn="l" indent="0" marL="0">
              <a:buNone/>
            </a:pPr>
            <a:r>
              <a:rPr lang="en-US" sz="900" dirty="0">
                <a:solidFill>
                  <a:srgbClr val="10B981"/>
                </a:solidFill>
                <a:latin typeface="Inter" pitchFamily="34" charset="0"/>
                <a:ea typeface="Inter" pitchFamily="34" charset="-122"/>
                <a:cs typeface="Inter" pitchFamily="34" charset="-120"/>
              </a:rPr>
              <a:t>Installed</a:t>
            </a:r>
            <a:endParaRPr lang="en-US" sz="900" dirty="0"/>
          </a:p>
        </p:txBody>
      </p:sp>
      <p:sp>
        <p:nvSpPr>
          <p:cNvPr id="55" name="Shape 37"/>
          <p:cNvSpPr/>
          <p:nvPr/>
        </p:nvSpPr>
        <p:spPr>
          <a:xfrm>
            <a:off x="638251" y="5498287"/>
            <a:ext cx="5201107" cy="381305"/>
          </a:xfrm>
          <a:prstGeom prst="roundRect">
            <a:avLst>
              <a:gd name="adj" fmla="val 95923"/>
            </a:avLst>
          </a:prstGeom>
          <a:solidFill>
            <a:srgbClr val="0F0F19">
              <a:alpha val="60000"/>
            </a:srgbClr>
          </a:solidFill>
          <a:ln w="12700">
            <a:solidFill>
              <a:srgbClr val="FFFFFF">
                <a:alpha val="0"/>
              </a:srgbClr>
            </a:solidFill>
            <a:prstDash val="solid"/>
          </a:ln>
        </p:spPr>
      </p:sp>
      <p:sp>
        <p:nvSpPr>
          <p:cNvPr id="56" name="Shape 38"/>
          <p:cNvSpPr/>
          <p:nvPr/>
        </p:nvSpPr>
        <p:spPr>
          <a:xfrm>
            <a:off x="752551" y="5574182"/>
            <a:ext cx="228600" cy="228600"/>
          </a:xfrm>
          <a:prstGeom prst="roundRect">
            <a:avLst>
              <a:gd name="adj" fmla="val 200000"/>
            </a:avLst>
          </a:prstGeom>
          <a:solidFill>
            <a:srgbClr val="6366F1">
              <a:alpha val="10000"/>
            </a:srgbClr>
          </a:solidFill>
          <a:ln w="12700">
            <a:solidFill>
              <a:srgbClr val="FFFFFF">
                <a:alpha val="0"/>
              </a:srgbClr>
            </a:solidFill>
            <a:prstDash val="solid"/>
          </a:ln>
        </p:spPr>
      </p:sp>
      <p:pic>
        <p:nvPicPr>
          <p:cNvPr id="57" name="Image 16" descr="preencoded.png">    </p:cNvPr>
          <p:cNvPicPr>
            <a:picLocks noChangeAspect="1"/>
          </p:cNvPicPr>
          <p:nvPr/>
        </p:nvPicPr>
        <p:blipFill>
          <a:blip r:embed="rId17"/>
          <a:srcRect l="-1911" r="-1911" t="0" b="0"/>
          <a:stretch/>
        </p:blipFill>
        <p:spPr>
          <a:xfrm>
            <a:off x="800100" y="5630875"/>
            <a:ext cx="133502" cy="114300"/>
          </a:xfrm>
          <a:prstGeom prst="rect">
            <a:avLst/>
          </a:prstGeom>
        </p:spPr>
      </p:pic>
      <p:sp>
        <p:nvSpPr>
          <p:cNvPr id="58" name="Text 39"/>
          <p:cNvSpPr txBox="1"/>
          <p:nvPr/>
        </p:nvSpPr>
        <p:spPr>
          <a:xfrm>
            <a:off x="1095451" y="5607101"/>
            <a:ext cx="3915461"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nomic-embed-text (274 MB)</a:t>
            </a:r>
            <a:endParaRPr lang="en-US" sz="1000" dirty="0"/>
          </a:p>
        </p:txBody>
      </p:sp>
      <p:pic>
        <p:nvPicPr>
          <p:cNvPr id="59" name="Image 17" descr="preencoded.png">    </p:cNvPr>
          <p:cNvPicPr>
            <a:picLocks noChangeAspect="1"/>
          </p:cNvPicPr>
          <p:nvPr/>
        </p:nvPicPr>
        <p:blipFill>
          <a:blip r:embed="rId18"/>
          <a:srcRect l="0" r="0" t="0" b="0"/>
          <a:stretch/>
        </p:blipFill>
        <p:spPr>
          <a:xfrm>
            <a:off x="5119726" y="5640934"/>
            <a:ext cx="95098" cy="95098"/>
          </a:xfrm>
          <a:prstGeom prst="rect">
            <a:avLst/>
          </a:prstGeom>
        </p:spPr>
      </p:pic>
      <p:sp>
        <p:nvSpPr>
          <p:cNvPr id="60" name="Text 40"/>
          <p:cNvSpPr txBox="1"/>
          <p:nvPr/>
        </p:nvSpPr>
        <p:spPr>
          <a:xfrm>
            <a:off x="5271516" y="5617159"/>
            <a:ext cx="685800" cy="143561"/>
          </a:xfrm>
          <a:prstGeom prst="rect">
            <a:avLst/>
          </a:prstGeom>
          <a:noFill/>
          <a:ln/>
        </p:spPr>
        <p:txBody>
          <a:bodyPr wrap="square" lIns="0" tIns="0" rIns="0" bIns="0" rtlCol="0" anchor="ctr"/>
          <a:lstStyle/>
          <a:p>
            <a:pPr algn="l" indent="0" marL="0">
              <a:buNone/>
            </a:pPr>
            <a:r>
              <a:rPr lang="en-US" sz="900" dirty="0">
                <a:solidFill>
                  <a:srgbClr val="10B981"/>
                </a:solidFill>
                <a:latin typeface="Inter" pitchFamily="34" charset="0"/>
                <a:ea typeface="Inter" pitchFamily="34" charset="-122"/>
                <a:cs typeface="Inter" pitchFamily="34" charset="-120"/>
              </a:rPr>
              <a:t>Installed</a:t>
            </a:r>
            <a:endParaRPr lang="en-US" sz="900" dirty="0"/>
          </a:p>
        </p:txBody>
      </p:sp>
      <p:sp>
        <p:nvSpPr>
          <p:cNvPr id="61" name="Shape 41"/>
          <p:cNvSpPr/>
          <p:nvPr/>
        </p:nvSpPr>
        <p:spPr>
          <a:xfrm>
            <a:off x="6191402" y="4306824"/>
            <a:ext cx="5524805" cy="1733702"/>
          </a:xfrm>
          <a:prstGeom prst="roundRect">
            <a:avLst>
              <a:gd name="adj" fmla="val 9273"/>
            </a:avLst>
          </a:prstGeom>
          <a:solidFill>
            <a:srgbClr val="0F0F19">
              <a:alpha val="80000"/>
            </a:srgbClr>
          </a:solidFill>
          <a:ln w="12700">
            <a:solidFill>
              <a:srgbClr val="6366F1">
                <a:alpha val="20000"/>
              </a:srgbClr>
            </a:solidFill>
            <a:prstDash val="solid"/>
          </a:ln>
        </p:spPr>
      </p:sp>
      <p:sp>
        <p:nvSpPr>
          <p:cNvPr id="62" name="Shape 42"/>
          <p:cNvSpPr/>
          <p:nvPr/>
        </p:nvSpPr>
        <p:spPr>
          <a:xfrm>
            <a:off x="6353251" y="4469587"/>
            <a:ext cx="457200" cy="457200"/>
          </a:xfrm>
          <a:prstGeom prst="roundRect">
            <a:avLst>
              <a:gd name="adj" fmla="val 100000"/>
            </a:avLst>
          </a:prstGeom>
          <a:solidFill>
            <a:srgbClr val="6366F1">
              <a:alpha val="10000"/>
            </a:srgbClr>
          </a:solidFill>
          <a:ln w="12700">
            <a:solidFill>
              <a:srgbClr val="FFFFFF">
                <a:alpha val="0"/>
              </a:srgbClr>
            </a:solidFill>
            <a:prstDash val="solid"/>
          </a:ln>
        </p:spPr>
      </p:sp>
      <p:pic>
        <p:nvPicPr>
          <p:cNvPr id="63" name="Image 18" descr="preencoded.png">    </p:cNvPr>
          <p:cNvPicPr>
            <a:picLocks noChangeAspect="1"/>
          </p:cNvPicPr>
          <p:nvPr/>
        </p:nvPicPr>
        <p:blipFill>
          <a:blip r:embed="rId19"/>
          <a:srcRect l="0" r="0" t="0" b="0"/>
          <a:stretch/>
        </p:blipFill>
        <p:spPr>
          <a:xfrm>
            <a:off x="6467551" y="4583887"/>
            <a:ext cx="228600" cy="228600"/>
          </a:xfrm>
          <a:prstGeom prst="rect">
            <a:avLst/>
          </a:prstGeom>
        </p:spPr>
      </p:pic>
      <p:sp>
        <p:nvSpPr>
          <p:cNvPr id="64" name="Text 43"/>
          <p:cNvSpPr txBox="1"/>
          <p:nvPr/>
        </p:nvSpPr>
        <p:spPr>
          <a:xfrm>
            <a:off x="6963156" y="4478731"/>
            <a:ext cx="4591202" cy="200254"/>
          </a:xfrm>
          <a:prstGeom prst="rect">
            <a:avLst/>
          </a:prstGeom>
          <a:noFill/>
          <a:ln/>
        </p:spPr>
        <p:txBody>
          <a:bodyPr wrap="square" lIns="0" tIns="0" rIns="0" bIns="0" rtlCol="0" anchor="ctr"/>
          <a:lstStyle/>
          <a:p>
            <a:pPr algn="l" indent="0" marL="0">
              <a:buNone/>
            </a:pPr>
            <a:r>
              <a:rPr lang="en-US" sz="1000" b="1" dirty="0">
                <a:solidFill>
                  <a:srgbClr val="6366F1"/>
                </a:solidFill>
                <a:latin typeface="Inter" pitchFamily="34" charset="0"/>
                <a:ea typeface="Inter" pitchFamily="34" charset="-122"/>
                <a:cs typeface="Inter" pitchFamily="34" charset="-120"/>
              </a:rPr>
              <a:t>Stage D:</a:t>
            </a:r>
            <a:pPr algn="l" indent="0" marL="0">
              <a:buNone/>
            </a:pPr>
            <a:r>
              <a:rPr lang="en-US" sz="1300" b="1" dirty="0">
                <a:solidFill>
                  <a:srgbClr val="FFFFFF"/>
                </a:solidFill>
                <a:latin typeface="Inter" pitchFamily="34" charset="0"/>
                <a:ea typeface="Inter" pitchFamily="34" charset="-122"/>
                <a:cs typeface="Inter" pitchFamily="34" charset="-120"/>
              </a:rPr>
              <a:t> First App Launch </a:t>
            </a:r>
            <a:endParaRPr lang="en-US" sz="1300" dirty="0"/>
          </a:p>
        </p:txBody>
      </p:sp>
      <p:sp>
        <p:nvSpPr>
          <p:cNvPr id="65" name="Text 44"/>
          <p:cNvSpPr txBox="1"/>
          <p:nvPr/>
        </p:nvSpPr>
        <p:spPr>
          <a:xfrm>
            <a:off x="6963156" y="4716475"/>
            <a:ext cx="4591202" cy="200254"/>
          </a:xfrm>
          <a:prstGeom prst="rect">
            <a:avLst/>
          </a:prstGeom>
          <a:noFill/>
          <a:ln/>
        </p:spPr>
        <p:txBody>
          <a:bodyPr wrap="square" lIns="0" tIns="0" rIns="0" bIns="0" rtlCol="0" anchor="ctr"/>
          <a:lstStyle/>
          <a:p>
            <a:pPr algn="l" indent="0" marL="0">
              <a:buNone/>
            </a:pPr>
            <a:r>
              <a:rPr lang="en-US" sz="1000" dirty="0">
                <a:solidFill>
                  <a:srgbClr val="94A3B8"/>
                </a:solidFill>
                <a:latin typeface="Inter" pitchFamily="34" charset="0"/>
                <a:ea typeface="Inter" pitchFamily="34" charset="-122"/>
                <a:cs typeface="Inter" pitchFamily="34" charset="-120"/>
              </a:rPr>
              <a:t>streamlit run → open http://localhost:8501</a:t>
            </a:r>
            <a:endParaRPr lang="en-US" sz="1000" dirty="0"/>
          </a:p>
        </p:txBody>
      </p:sp>
      <p:sp>
        <p:nvSpPr>
          <p:cNvPr id="66" name="Shape 45"/>
          <p:cNvSpPr/>
          <p:nvPr/>
        </p:nvSpPr>
        <p:spPr>
          <a:xfrm>
            <a:off x="6353251" y="5041087"/>
            <a:ext cx="5201107" cy="381305"/>
          </a:xfrm>
          <a:prstGeom prst="roundRect">
            <a:avLst>
              <a:gd name="adj" fmla="val 95923"/>
            </a:avLst>
          </a:prstGeom>
          <a:solidFill>
            <a:srgbClr val="0F0F19">
              <a:alpha val="60000"/>
            </a:srgbClr>
          </a:solidFill>
          <a:ln w="12700">
            <a:solidFill>
              <a:srgbClr val="FFFFFF">
                <a:alpha val="0"/>
              </a:srgbClr>
            </a:solidFill>
            <a:prstDash val="solid"/>
          </a:ln>
        </p:spPr>
      </p:sp>
      <p:sp>
        <p:nvSpPr>
          <p:cNvPr id="67" name="Shape 46"/>
          <p:cNvSpPr/>
          <p:nvPr/>
        </p:nvSpPr>
        <p:spPr>
          <a:xfrm>
            <a:off x="6467551" y="5116982"/>
            <a:ext cx="228600" cy="228600"/>
          </a:xfrm>
          <a:prstGeom prst="roundRect">
            <a:avLst>
              <a:gd name="adj" fmla="val 200000"/>
            </a:avLst>
          </a:prstGeom>
          <a:solidFill>
            <a:srgbClr val="6366F1">
              <a:alpha val="10000"/>
            </a:srgbClr>
          </a:solidFill>
          <a:ln w="12700">
            <a:solidFill>
              <a:srgbClr val="FFFFFF">
                <a:alpha val="0"/>
              </a:srgbClr>
            </a:solidFill>
            <a:prstDash val="solid"/>
          </a:ln>
        </p:spPr>
      </p:sp>
      <p:pic>
        <p:nvPicPr>
          <p:cNvPr id="68" name="Image 19" descr="preencoded.png">    </p:cNvPr>
          <p:cNvPicPr>
            <a:picLocks noChangeAspect="1"/>
          </p:cNvPicPr>
          <p:nvPr/>
        </p:nvPicPr>
        <p:blipFill>
          <a:blip r:embed="rId20"/>
          <a:srcRect l="-133" r="-133" t="0" b="0"/>
          <a:stretch/>
        </p:blipFill>
        <p:spPr>
          <a:xfrm>
            <a:off x="6538874" y="5173675"/>
            <a:ext cx="85954" cy="114300"/>
          </a:xfrm>
          <a:prstGeom prst="rect">
            <a:avLst/>
          </a:prstGeom>
        </p:spPr>
      </p:pic>
      <p:sp>
        <p:nvSpPr>
          <p:cNvPr id="69" name="Text 47"/>
          <p:cNvSpPr txBox="1"/>
          <p:nvPr/>
        </p:nvSpPr>
        <p:spPr>
          <a:xfrm>
            <a:off x="6810451" y="5149901"/>
            <a:ext cx="3924605"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Streamlit server starting</a:t>
            </a:r>
            <a:endParaRPr lang="en-US" sz="1000" dirty="0"/>
          </a:p>
        </p:txBody>
      </p:sp>
      <p:pic>
        <p:nvPicPr>
          <p:cNvPr id="70" name="Image 20" descr="preencoded.png">    </p:cNvPr>
          <p:cNvPicPr>
            <a:picLocks noChangeAspect="1"/>
          </p:cNvPicPr>
          <p:nvPr/>
        </p:nvPicPr>
        <p:blipFill>
          <a:blip r:embed="rId21"/>
          <a:srcRect l="0" r="0" t="0" b="0"/>
          <a:stretch/>
        </p:blipFill>
        <p:spPr>
          <a:xfrm>
            <a:off x="10845698" y="5183734"/>
            <a:ext cx="95098" cy="95098"/>
          </a:xfrm>
          <a:prstGeom prst="rect">
            <a:avLst/>
          </a:prstGeom>
        </p:spPr>
      </p:pic>
      <p:sp>
        <p:nvSpPr>
          <p:cNvPr id="71" name="Text 48"/>
          <p:cNvSpPr txBox="1"/>
          <p:nvPr/>
        </p:nvSpPr>
        <p:spPr>
          <a:xfrm>
            <a:off x="10997489" y="5159959"/>
            <a:ext cx="547726" cy="143561"/>
          </a:xfrm>
          <a:prstGeom prst="rect">
            <a:avLst/>
          </a:prstGeom>
          <a:noFill/>
          <a:ln/>
        </p:spPr>
        <p:txBody>
          <a:bodyPr wrap="square" lIns="0" tIns="0" rIns="0" bIns="0" rtlCol="0" anchor="ctr"/>
          <a:lstStyle/>
          <a:p>
            <a:pPr algn="l" indent="0" marL="0">
              <a:buNone/>
            </a:pPr>
            <a:r>
              <a:rPr lang="en-US" sz="900" dirty="0">
                <a:solidFill>
                  <a:srgbClr val="F59E0B"/>
                </a:solidFill>
                <a:latin typeface="Inter" pitchFamily="34" charset="0"/>
                <a:ea typeface="Inter" pitchFamily="34" charset="-122"/>
                <a:cs typeface="Inter" pitchFamily="34" charset="-120"/>
              </a:rPr>
              <a:t>Pending</a:t>
            </a:r>
            <a:endParaRPr lang="en-US" sz="900" dirty="0"/>
          </a:p>
        </p:txBody>
      </p:sp>
      <p:sp>
        <p:nvSpPr>
          <p:cNvPr id="72" name="Shape 49"/>
          <p:cNvSpPr/>
          <p:nvPr/>
        </p:nvSpPr>
        <p:spPr>
          <a:xfrm>
            <a:off x="6353251" y="5498287"/>
            <a:ext cx="5201107" cy="381305"/>
          </a:xfrm>
          <a:prstGeom prst="roundRect">
            <a:avLst>
              <a:gd name="adj" fmla="val 95923"/>
            </a:avLst>
          </a:prstGeom>
          <a:solidFill>
            <a:srgbClr val="0F0F19">
              <a:alpha val="60000"/>
            </a:srgbClr>
          </a:solidFill>
          <a:ln w="12700">
            <a:solidFill>
              <a:srgbClr val="FFFFFF">
                <a:alpha val="0"/>
              </a:srgbClr>
            </a:solidFill>
            <a:prstDash val="solid"/>
          </a:ln>
        </p:spPr>
      </p:sp>
      <p:sp>
        <p:nvSpPr>
          <p:cNvPr id="73" name="Shape 50"/>
          <p:cNvSpPr/>
          <p:nvPr/>
        </p:nvSpPr>
        <p:spPr>
          <a:xfrm>
            <a:off x="6467551" y="5574182"/>
            <a:ext cx="228600" cy="228600"/>
          </a:xfrm>
          <a:prstGeom prst="roundRect">
            <a:avLst>
              <a:gd name="adj" fmla="val 200000"/>
            </a:avLst>
          </a:prstGeom>
          <a:solidFill>
            <a:srgbClr val="6366F1">
              <a:alpha val="10000"/>
            </a:srgbClr>
          </a:solidFill>
          <a:ln w="12700">
            <a:solidFill>
              <a:srgbClr val="FFFFFF">
                <a:alpha val="0"/>
              </a:srgbClr>
            </a:solidFill>
            <a:prstDash val="solid"/>
          </a:ln>
        </p:spPr>
      </p:sp>
      <p:pic>
        <p:nvPicPr>
          <p:cNvPr id="74" name="Image 21" descr="preencoded.png">    </p:cNvPr>
          <p:cNvPicPr>
            <a:picLocks noChangeAspect="1"/>
          </p:cNvPicPr>
          <p:nvPr/>
        </p:nvPicPr>
        <p:blipFill>
          <a:blip r:embed="rId22"/>
          <a:srcRect l="0" r="0" t="0" b="0"/>
          <a:stretch/>
        </p:blipFill>
        <p:spPr>
          <a:xfrm>
            <a:off x="6524244" y="5630875"/>
            <a:ext cx="114300" cy="114300"/>
          </a:xfrm>
          <a:prstGeom prst="rect">
            <a:avLst/>
          </a:prstGeom>
        </p:spPr>
      </p:pic>
      <p:sp>
        <p:nvSpPr>
          <p:cNvPr id="75" name="Text 51"/>
          <p:cNvSpPr txBox="1"/>
          <p:nvPr/>
        </p:nvSpPr>
        <p:spPr>
          <a:xfrm>
            <a:off x="6810451" y="5607101"/>
            <a:ext cx="3963010" cy="162763"/>
          </a:xfrm>
          <a:prstGeom prst="rect">
            <a:avLst/>
          </a:prstGeom>
          <a:noFill/>
          <a:ln/>
        </p:spPr>
        <p:txBody>
          <a:bodyPr wrap="square" lIns="0" tIns="0" rIns="0" bIns="0" rtlCol="0" anchor="ctr"/>
          <a:lstStyle/>
          <a:p>
            <a:pPr algn="l" indent="0" marL="0">
              <a:buNone/>
            </a:pPr>
            <a:r>
              <a:rPr lang="en-US" sz="1000" dirty="0">
                <a:solidFill>
                  <a:srgbClr val="CBD5E1"/>
                </a:solidFill>
                <a:latin typeface="Inter" pitchFamily="34" charset="0"/>
                <a:ea typeface="Inter" pitchFamily="34" charset="-122"/>
                <a:cs typeface="Inter" pitchFamily="34" charset="-120"/>
              </a:rPr>
              <a:t>http://localhost:8501</a:t>
            </a:r>
            <a:endParaRPr lang="en-US" sz="1000" dirty="0"/>
          </a:p>
        </p:txBody>
      </p:sp>
      <p:pic>
        <p:nvPicPr>
          <p:cNvPr id="76" name="Image 22" descr="preencoded.png">    </p:cNvPr>
          <p:cNvPicPr>
            <a:picLocks noChangeAspect="1"/>
          </p:cNvPicPr>
          <p:nvPr/>
        </p:nvPicPr>
        <p:blipFill>
          <a:blip r:embed="rId23"/>
          <a:srcRect l="0" r="0" t="0" b="0"/>
          <a:stretch/>
        </p:blipFill>
        <p:spPr>
          <a:xfrm>
            <a:off x="10885932" y="5640934"/>
            <a:ext cx="95098" cy="95098"/>
          </a:xfrm>
          <a:prstGeom prst="rect">
            <a:avLst/>
          </a:prstGeom>
        </p:spPr>
      </p:pic>
      <p:sp>
        <p:nvSpPr>
          <p:cNvPr id="77" name="Text 52"/>
          <p:cNvSpPr txBox="1"/>
          <p:nvPr/>
        </p:nvSpPr>
        <p:spPr>
          <a:xfrm>
            <a:off x="11037722" y="5617159"/>
            <a:ext cx="542239" cy="143561"/>
          </a:xfrm>
          <a:prstGeom prst="rect">
            <a:avLst/>
          </a:prstGeom>
          <a:noFill/>
          <a:ln/>
        </p:spPr>
        <p:txBody>
          <a:bodyPr wrap="square" lIns="0" tIns="0" rIns="0" bIns="0" rtlCol="0" anchor="ctr"/>
          <a:lstStyle/>
          <a:p>
            <a:pPr algn="l" indent="0" marL="0">
              <a:buNone/>
            </a:pPr>
            <a:r>
              <a:rPr lang="en-US" sz="900" dirty="0">
                <a:solidFill>
                  <a:srgbClr val="F59E0B"/>
                </a:solidFill>
                <a:latin typeface="Inter" pitchFamily="34" charset="0"/>
                <a:ea typeface="Inter" pitchFamily="34" charset="-122"/>
                <a:cs typeface="Inter" pitchFamily="34" charset="-120"/>
              </a:rPr>
              <a:t>Waiting</a:t>
            </a:r>
            <a:endParaRPr lang="en-US" sz="900" dirty="0"/>
          </a:p>
        </p:txBody>
      </p:sp>
      <p:sp>
        <p:nvSpPr>
          <p:cNvPr id="78" name="Shape 53"/>
          <p:cNvSpPr/>
          <p:nvPr/>
        </p:nvSpPr>
        <p:spPr>
          <a:xfrm>
            <a:off x="0" y="0"/>
            <a:ext cx="12191695" cy="761695"/>
          </a:xfrm>
          <a:prstGeom prst="rect">
            <a:avLst/>
          </a:prstGeom>
          <a:solidFill>
            <a:srgbClr val="0F0F19">
              <a:alpha val="80000"/>
            </a:srgbClr>
          </a:solidFill>
          <a:ln/>
        </p:spPr>
      </p:sp>
      <p:sp>
        <p:nvSpPr>
          <p:cNvPr id="79" name="Shape 54"/>
          <p:cNvSpPr/>
          <p:nvPr/>
        </p:nvSpPr>
        <p:spPr>
          <a:xfrm>
            <a:off x="0" y="752551"/>
            <a:ext cx="12191695" cy="9144"/>
          </a:xfrm>
          <a:prstGeom prst="rect">
            <a:avLst/>
          </a:prstGeom>
          <a:solidFill>
            <a:srgbClr val="6366F1">
              <a:alpha val="10000"/>
            </a:srgbClr>
          </a:solidFill>
          <a:ln w="12700">
            <a:solidFill>
              <a:srgbClr val="6366F1">
                <a:alpha val="0"/>
              </a:srgbClr>
            </a:solidFill>
            <a:prstDash val="solid"/>
          </a:ln>
        </p:spPr>
      </p:sp>
      <p:pic>
        <p:nvPicPr>
          <p:cNvPr id="80" name="Image 23" descr="preencoded.png">    </p:cNvPr>
          <p:cNvPicPr>
            <a:picLocks noChangeAspect="1"/>
          </p:cNvPicPr>
          <p:nvPr/>
        </p:nvPicPr>
        <p:blipFill>
          <a:blip r:embed="rId24"/>
          <a:srcRect l="0" r="0" t="0" b="0"/>
          <a:stretch/>
        </p:blipFill>
        <p:spPr>
          <a:xfrm>
            <a:off x="476402" y="185623"/>
            <a:ext cx="381305" cy="381305"/>
          </a:xfrm>
          <a:prstGeom prst="rect">
            <a:avLst/>
          </a:prstGeom>
        </p:spPr>
      </p:pic>
      <p:pic>
        <p:nvPicPr>
          <p:cNvPr id="81" name="Image 24" descr="preencoded.png">    </p:cNvPr>
          <p:cNvPicPr>
            <a:picLocks noChangeAspect="1"/>
          </p:cNvPicPr>
          <p:nvPr/>
        </p:nvPicPr>
        <p:blipFill>
          <a:blip r:embed="rId25"/>
          <a:srcRect l="0" r="0" t="0" b="0"/>
          <a:stretch/>
        </p:blipFill>
        <p:spPr>
          <a:xfrm>
            <a:off x="571500" y="280721"/>
            <a:ext cx="190195" cy="190195"/>
          </a:xfrm>
          <a:prstGeom prst="rect">
            <a:avLst/>
          </a:prstGeom>
        </p:spPr>
      </p:pic>
      <p:sp>
        <p:nvSpPr>
          <p:cNvPr id="82" name="Text 55"/>
          <p:cNvSpPr txBox="1"/>
          <p:nvPr/>
        </p:nvSpPr>
        <p:spPr>
          <a:xfrm>
            <a:off x="1009498" y="237744"/>
            <a:ext cx="1427378" cy="277063"/>
          </a:xfrm>
          <a:prstGeom prst="rect">
            <a:avLst/>
          </a:prstGeom>
          <a:noFill/>
          <a:ln/>
        </p:spPr>
        <p:txBody>
          <a:bodyPr wrap="square" lIns="0" tIns="0" rIns="0" bIns="0" rtlCol="0" anchor="ctr"/>
          <a:lstStyle/>
          <a:p>
            <a:pPr algn="l" indent="0" marL="0">
              <a:buNone/>
            </a:pPr>
            <a:r>
              <a:rPr lang="en-US" sz="1800" b="1" spc="-37" kern="0" dirty="0">
                <a:solidFill>
                  <a:srgbClr val="FFFFFF"/>
                </a:solidFill>
                <a:latin typeface="Inter" pitchFamily="34" charset="0"/>
                <a:ea typeface="Inter" pitchFamily="34" charset="-122"/>
                <a:cs typeface="Inter" pitchFamily="34" charset="-120"/>
              </a:rPr>
              <a:t>News</a:t>
            </a:r>
            <a:pPr algn="l" indent="0" marL="0">
              <a:buNone/>
            </a:pPr>
            <a:r>
              <a:rPr lang="en-US" sz="1800" b="1" spc="-37" kern="0" dirty="0">
                <a:solidFill>
                  <a:srgbClr val="6366F1"/>
                </a:solidFill>
                <a:latin typeface="Inter" pitchFamily="34" charset="0"/>
                <a:ea typeface="Inter" pitchFamily="34" charset="-122"/>
                <a:cs typeface="Inter" pitchFamily="34" charset="-120"/>
              </a:rPr>
              <a:t>Nexus</a:t>
            </a:r>
            <a:endParaRPr lang="en-US" sz="1800" dirty="0"/>
          </a:p>
        </p:txBody>
      </p:sp>
      <p:sp>
        <p:nvSpPr>
          <p:cNvPr id="83" name="Shape 56"/>
          <p:cNvSpPr/>
          <p:nvPr/>
        </p:nvSpPr>
        <p:spPr>
          <a:xfrm>
            <a:off x="9506102" y="209398"/>
            <a:ext cx="2210105" cy="333756"/>
          </a:xfrm>
          <a:prstGeom prst="roundRect">
            <a:avLst>
              <a:gd name="adj" fmla="val 273973"/>
            </a:avLst>
          </a:prstGeom>
          <a:solidFill>
            <a:srgbClr val="6366F1">
              <a:alpha val="10000"/>
            </a:srgbClr>
          </a:solidFill>
          <a:ln w="12700">
            <a:solidFill>
              <a:srgbClr val="6366F1">
                <a:alpha val="20000"/>
              </a:srgbClr>
            </a:solidFill>
            <a:prstDash val="solid"/>
          </a:ln>
        </p:spPr>
      </p:sp>
      <p:pic>
        <p:nvPicPr>
          <p:cNvPr id="84" name="Image 25" descr="preencoded.png">    </p:cNvPr>
          <p:cNvPicPr>
            <a:picLocks noChangeAspect="1"/>
          </p:cNvPicPr>
          <p:nvPr/>
        </p:nvPicPr>
        <p:blipFill>
          <a:blip r:embed="rId26"/>
          <a:srcRect l="0" r="0" t="0" b="0"/>
          <a:stretch/>
        </p:blipFill>
        <p:spPr>
          <a:xfrm>
            <a:off x="9687154" y="319126"/>
            <a:ext cx="114300" cy="114300"/>
          </a:xfrm>
          <a:prstGeom prst="rect">
            <a:avLst/>
          </a:prstGeom>
        </p:spPr>
      </p:pic>
      <p:sp>
        <p:nvSpPr>
          <p:cNvPr id="85" name="Text 57"/>
          <p:cNvSpPr txBox="1"/>
          <p:nvPr/>
        </p:nvSpPr>
        <p:spPr>
          <a:xfrm>
            <a:off x="9896551" y="209398"/>
            <a:ext cx="1638605" cy="333756"/>
          </a:xfrm>
          <a:prstGeom prst="rect">
            <a:avLst/>
          </a:prstGeom>
          <a:noFill/>
          <a:ln/>
        </p:spPr>
        <p:txBody>
          <a:bodyPr wrap="square" lIns="0" tIns="0" rIns="0" bIns="0" rtlCol="0" anchor="ctr"/>
          <a:lstStyle/>
          <a:p>
            <a:pPr algn="l" indent="0" marL="0">
              <a:buNone/>
            </a:pPr>
            <a:r>
              <a:rPr lang="en-US" sz="1000" dirty="0">
                <a:solidFill>
                  <a:srgbClr val="A5B4FC"/>
                </a:solidFill>
                <a:latin typeface="Inter" pitchFamily="34" charset="0"/>
                <a:ea typeface="Inter" pitchFamily="34" charset="-122"/>
                <a:cs typeface="Inter" pitchFamily="34" charset="-120"/>
              </a:rPr>
              <a:t>Local-First = Privacy-First</a:t>
            </a:r>
            <a:endParaRPr lang="en-US" sz="1000" dirty="0"/>
          </a:p>
        </p:txBody>
      </p:sp>
      <p:sp>
        <p:nvSpPr>
          <p:cNvPr id="86" name="Shape 58"/>
          <p:cNvSpPr/>
          <p:nvPr/>
        </p:nvSpPr>
        <p:spPr>
          <a:xfrm>
            <a:off x="0" y="6286500"/>
            <a:ext cx="12191695" cy="571500"/>
          </a:xfrm>
          <a:prstGeom prst="rect">
            <a:avLst/>
          </a:prstGeom>
          <a:solidFill>
            <a:srgbClr val="0F0F19">
              <a:alpha val="80000"/>
            </a:srgbClr>
          </a:solidFill>
          <a:ln/>
        </p:spPr>
      </p:sp>
      <p:sp>
        <p:nvSpPr>
          <p:cNvPr id="87" name="Shape 59"/>
          <p:cNvSpPr/>
          <p:nvPr/>
        </p:nvSpPr>
        <p:spPr>
          <a:xfrm>
            <a:off x="0" y="6286500"/>
            <a:ext cx="12191695" cy="9144"/>
          </a:xfrm>
          <a:prstGeom prst="rect">
            <a:avLst/>
          </a:prstGeom>
          <a:solidFill>
            <a:srgbClr val="6366F1">
              <a:alpha val="10000"/>
            </a:srgbClr>
          </a:solidFill>
          <a:ln w="12700">
            <a:solidFill>
              <a:srgbClr val="6366F1">
                <a:alpha val="0"/>
              </a:srgbClr>
            </a:solidFill>
            <a:prstDash val="solid"/>
          </a:ln>
        </p:spPr>
      </p:sp>
      <p:pic>
        <p:nvPicPr>
          <p:cNvPr id="88" name="Image 26" descr="preencoded.png">    </p:cNvPr>
          <p:cNvPicPr>
            <a:picLocks noChangeAspect="1"/>
          </p:cNvPicPr>
          <p:nvPr/>
        </p:nvPicPr>
        <p:blipFill>
          <a:blip r:embed="rId27"/>
          <a:srcRect l="0" r="0" t="0" b="0"/>
          <a:stretch/>
        </p:blipFill>
        <p:spPr>
          <a:xfrm>
            <a:off x="476402" y="6510528"/>
            <a:ext cx="133502" cy="133502"/>
          </a:xfrm>
          <a:prstGeom prst="rect">
            <a:avLst/>
          </a:prstGeom>
        </p:spPr>
      </p:pic>
      <p:sp>
        <p:nvSpPr>
          <p:cNvPr id="89" name="Text 60"/>
          <p:cNvSpPr txBox="1"/>
          <p:nvPr/>
        </p:nvSpPr>
        <p:spPr>
          <a:xfrm>
            <a:off x="724205" y="6486754"/>
            <a:ext cx="612648" cy="181051"/>
          </a:xfrm>
          <a:prstGeom prst="rect">
            <a:avLst/>
          </a:prstGeom>
          <a:noFill/>
          <a:ln/>
        </p:spPr>
        <p:txBody>
          <a:bodyPr wrap="square" lIns="0" tIns="0" rIns="0" bIns="0" rtlCol="0" anchor="ctr"/>
          <a:lstStyle/>
          <a:p>
            <a:pPr algn="l" indent="0" marL="0">
              <a:buNone/>
            </a:pPr>
            <a:r>
              <a:rPr lang="en-US" sz="1100" dirty="0">
                <a:solidFill>
                  <a:srgbClr val="94A3B8"/>
                </a:solidFill>
                <a:latin typeface="Inter" pitchFamily="34" charset="0"/>
                <a:ea typeface="Inter" pitchFamily="34" charset="-122"/>
                <a:cs typeface="Inter" pitchFamily="34" charset="-120"/>
              </a:rPr>
              <a:t>6 hours</a:t>
            </a:r>
            <a:endParaRPr lang="en-US" sz="1100" dirty="0"/>
          </a:p>
        </p:txBody>
      </p:sp>
      <p:pic>
        <p:nvPicPr>
          <p:cNvPr id="90" name="Image 27" descr="preencoded.png">    </p:cNvPr>
          <p:cNvPicPr>
            <a:picLocks noChangeAspect="1"/>
          </p:cNvPicPr>
          <p:nvPr/>
        </p:nvPicPr>
        <p:blipFill>
          <a:blip r:embed="rId28"/>
          <a:srcRect l="-1507" r="-1507" t="0" b="0"/>
          <a:stretch/>
        </p:blipFill>
        <p:spPr>
          <a:xfrm>
            <a:off x="1522476" y="6510528"/>
            <a:ext cx="171907" cy="133502"/>
          </a:xfrm>
          <a:prstGeom prst="rect">
            <a:avLst/>
          </a:prstGeom>
        </p:spPr>
      </p:pic>
      <p:sp>
        <p:nvSpPr>
          <p:cNvPr id="91" name="Text 61"/>
          <p:cNvSpPr txBox="1"/>
          <p:nvPr/>
        </p:nvSpPr>
        <p:spPr>
          <a:xfrm>
            <a:off x="1807769" y="6486754"/>
            <a:ext cx="695858" cy="181051"/>
          </a:xfrm>
          <a:prstGeom prst="rect">
            <a:avLst/>
          </a:prstGeom>
          <a:noFill/>
          <a:ln/>
        </p:spPr>
        <p:txBody>
          <a:bodyPr wrap="square" lIns="0" tIns="0" rIns="0" bIns="0" rtlCol="0" anchor="ctr"/>
          <a:lstStyle/>
          <a:p>
            <a:pPr algn="l" indent="0" marL="0">
              <a:buNone/>
            </a:pPr>
            <a:r>
              <a:rPr lang="en-US" sz="1100" dirty="0">
                <a:solidFill>
                  <a:srgbClr val="94A3B8"/>
                </a:solidFill>
                <a:latin typeface="Inter" pitchFamily="34" charset="0"/>
                <a:ea typeface="Inter" pitchFamily="34" charset="-122"/>
                <a:cs typeface="Inter" pitchFamily="34" charset="-120"/>
              </a:rPr>
              <a:t>Workshop</a:t>
            </a:r>
            <a:endParaRPr lang="en-US" sz="1100" dirty="0"/>
          </a:p>
        </p:txBody>
      </p:sp>
      <p:pic>
        <p:nvPicPr>
          <p:cNvPr id="92" name="Image 28" descr="preencoded.png">    </p:cNvPr>
          <p:cNvPicPr>
            <a:picLocks noChangeAspect="1"/>
          </p:cNvPicPr>
          <p:nvPr/>
        </p:nvPicPr>
        <p:blipFill>
          <a:blip r:embed="rId29"/>
          <a:srcRect l="-1507" r="-1507" t="0" b="0"/>
          <a:stretch/>
        </p:blipFill>
        <p:spPr>
          <a:xfrm>
            <a:off x="2780690" y="6510528"/>
            <a:ext cx="171907" cy="133502"/>
          </a:xfrm>
          <a:prstGeom prst="rect">
            <a:avLst/>
          </a:prstGeom>
        </p:spPr>
      </p:pic>
      <p:sp>
        <p:nvSpPr>
          <p:cNvPr id="93" name="Text 62"/>
          <p:cNvSpPr txBox="1"/>
          <p:nvPr/>
        </p:nvSpPr>
        <p:spPr>
          <a:xfrm>
            <a:off x="3065983" y="6486754"/>
            <a:ext cx="713232" cy="181051"/>
          </a:xfrm>
          <a:prstGeom prst="rect">
            <a:avLst/>
          </a:prstGeom>
          <a:noFill/>
          <a:ln/>
        </p:spPr>
        <p:txBody>
          <a:bodyPr wrap="square" lIns="0" tIns="0" rIns="0" bIns="0" rtlCol="0" anchor="ctr"/>
          <a:lstStyle/>
          <a:p>
            <a:pPr algn="l" indent="0" marL="0">
              <a:buNone/>
            </a:pPr>
            <a:r>
              <a:rPr lang="en-US" sz="1100" dirty="0">
                <a:solidFill>
                  <a:srgbClr val="94A3B8"/>
                </a:solidFill>
                <a:latin typeface="Inter" pitchFamily="34" charset="0"/>
                <a:ea typeface="Inter" pitchFamily="34" charset="-122"/>
                <a:cs typeface="Inter" pitchFamily="34" charset="-120"/>
              </a:rPr>
              <a:t>Hands-on</a:t>
            </a:r>
            <a:endParaRPr lang="en-US" sz="1100" dirty="0"/>
          </a:p>
        </p:txBody>
      </p:sp>
      <p:pic>
        <p:nvPicPr>
          <p:cNvPr id="94" name="Image 29" descr="preencoded.png">    </p:cNvPr>
          <p:cNvPicPr>
            <a:picLocks noChangeAspect="1"/>
          </p:cNvPicPr>
          <p:nvPr/>
        </p:nvPicPr>
        <p:blipFill>
          <a:blip r:embed="rId30"/>
          <a:srcRect l="0" r="0" t="0" b="0"/>
          <a:stretch/>
        </p:blipFill>
        <p:spPr>
          <a:xfrm>
            <a:off x="9749333" y="6519672"/>
            <a:ext cx="114300" cy="114300"/>
          </a:xfrm>
          <a:prstGeom prst="rect">
            <a:avLst/>
          </a:prstGeom>
        </p:spPr>
      </p:pic>
      <p:sp>
        <p:nvSpPr>
          <p:cNvPr id="95" name="Text 63"/>
          <p:cNvSpPr txBox="1"/>
          <p:nvPr/>
        </p:nvSpPr>
        <p:spPr>
          <a:xfrm>
            <a:off x="9959645" y="6495898"/>
            <a:ext cx="725119" cy="162763"/>
          </a:xfrm>
          <a:prstGeom prst="rect">
            <a:avLst/>
          </a:prstGeom>
          <a:noFill/>
          <a:ln/>
        </p:spPr>
        <p:txBody>
          <a:bodyPr wrap="square" lIns="0" tIns="0" rIns="0" bIns="0" rtlCol="0" anchor="ctr"/>
          <a:lstStyle/>
          <a:p>
            <a:pPr algn="l" indent="0" marL="0">
              <a:buNone/>
            </a:pPr>
            <a:r>
              <a:rPr lang="en-US" sz="1000" dirty="0">
                <a:solidFill>
                  <a:srgbClr val="94A3B8"/>
                </a:solidFill>
                <a:latin typeface="Inter" pitchFamily="34" charset="0"/>
                <a:ea typeface="Inter" pitchFamily="34" charset="-122"/>
                <a:cs typeface="Inter" pitchFamily="34" charset="-120"/>
              </a:rPr>
              <a:t>4 Stages</a:t>
            </a:r>
            <a:endParaRPr lang="en-US" sz="1000" dirty="0"/>
          </a:p>
        </p:txBody>
      </p:sp>
      <p:pic>
        <p:nvPicPr>
          <p:cNvPr id="96" name="Image 30" descr="preencoded.png">    </p:cNvPr>
          <p:cNvPicPr>
            <a:picLocks noChangeAspect="1"/>
          </p:cNvPicPr>
          <p:nvPr/>
        </p:nvPicPr>
        <p:blipFill>
          <a:blip r:embed="rId31"/>
          <a:srcRect l="0" r="0" t="0" b="0"/>
          <a:stretch/>
        </p:blipFill>
        <p:spPr>
          <a:xfrm>
            <a:off x="10708538" y="6519672"/>
            <a:ext cx="114300" cy="114300"/>
          </a:xfrm>
          <a:prstGeom prst="rect">
            <a:avLst/>
          </a:prstGeom>
        </p:spPr>
      </p:pic>
      <p:sp>
        <p:nvSpPr>
          <p:cNvPr id="97" name="Text 64"/>
          <p:cNvSpPr txBox="1"/>
          <p:nvPr/>
        </p:nvSpPr>
        <p:spPr>
          <a:xfrm>
            <a:off x="10917936" y="6495898"/>
            <a:ext cx="1160374" cy="162763"/>
          </a:xfrm>
          <a:prstGeom prst="rect">
            <a:avLst/>
          </a:prstGeom>
          <a:noFill/>
          <a:ln/>
        </p:spPr>
        <p:txBody>
          <a:bodyPr wrap="square" lIns="0" tIns="0" rIns="0" bIns="0" rtlCol="0" anchor="ctr"/>
          <a:lstStyle/>
          <a:p>
            <a:pPr algn="l" indent="0" marL="0">
              <a:buNone/>
            </a:pPr>
            <a:r>
              <a:rPr lang="en-US" sz="1000" dirty="0">
                <a:solidFill>
                  <a:srgbClr val="94A3B8"/>
                </a:solidFill>
                <a:latin typeface="Inter" pitchFamily="34" charset="0"/>
                <a:ea typeface="Inter" pitchFamily="34" charset="-122"/>
                <a:cs typeface="Inter" pitchFamily="34" charset="-120"/>
              </a:rPr>
              <a:t>Privacy-First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5" name="Image 0" descr="preencoded.png">    </p:cNvPr>
          <p:cNvPicPr>
            <a:picLocks noChangeAspect="1"/>
          </p:cNvPicPr>
          <p:nvPr/>
        </p:nvPicPr>
        <p:blipFill>
          <a:blip r:embed="rId1"/>
          <a:srcRect l="-1" r="-1" t="0" b="0"/>
          <a:stretch/>
        </p:blipFill>
        <p:spPr>
          <a:xfrm>
            <a:off x="571500" y="2667305"/>
            <a:ext cx="6305702" cy="3543300"/>
          </a:xfrm>
          <a:prstGeom prst="rect">
            <a:avLst/>
          </a:prstGeom>
        </p:spPr>
      </p:pic>
      <p:pic>
        <p:nvPicPr>
          <p:cNvPr id="6" name="Image 1" descr="preencoded.png">    </p:cNvPr>
          <p:cNvPicPr>
            <a:picLocks noChangeAspect="1"/>
          </p:cNvPicPr>
          <p:nvPr/>
        </p:nvPicPr>
        <p:blipFill>
          <a:blip r:embed="rId2"/>
          <a:srcRect l="-3" r="-3" t="0" b="0"/>
          <a:stretch/>
        </p:blipFill>
        <p:spPr>
          <a:xfrm>
            <a:off x="7144207" y="2667305"/>
            <a:ext cx="4496105" cy="3543300"/>
          </a:xfrm>
          <a:prstGeom prst="rect">
            <a:avLst/>
          </a:prstGeom>
        </p:spPr>
      </p:pic>
      <p:pic>
        <p:nvPicPr>
          <p:cNvPr id="7" name="Image 2" descr="preencoded.png">    </p:cNvPr>
          <p:cNvPicPr>
            <a:picLocks noChangeAspect="1"/>
          </p:cNvPicPr>
          <p:nvPr/>
        </p:nvPicPr>
        <p:blipFill>
          <a:blip r:embed="rId3"/>
          <a:srcRect l="0" r="0" t="0" b="0"/>
          <a:stretch/>
        </p:blipFill>
        <p:spPr>
          <a:xfrm>
            <a:off x="571500" y="409651"/>
            <a:ext cx="418795" cy="418795"/>
          </a:xfrm>
          <a:prstGeom prst="rect">
            <a:avLst/>
          </a:prstGeom>
        </p:spPr>
      </p:pic>
      <p:pic>
        <p:nvPicPr>
          <p:cNvPr id="8" name="Image 3" descr="preencoded.png">    </p:cNvPr>
          <p:cNvPicPr>
            <a:picLocks noChangeAspect="1"/>
          </p:cNvPicPr>
          <p:nvPr/>
        </p:nvPicPr>
        <p:blipFill>
          <a:blip r:embed="rId4"/>
          <a:srcRect l="0" r="0" t="0" b="0"/>
          <a:stretch/>
        </p:blipFill>
        <p:spPr>
          <a:xfrm>
            <a:off x="676656" y="514807"/>
            <a:ext cx="209398" cy="209398"/>
          </a:xfrm>
          <a:prstGeom prst="rect">
            <a:avLst/>
          </a:prstGeom>
        </p:spPr>
      </p:pic>
      <p:sp>
        <p:nvSpPr>
          <p:cNvPr id="9" name="Text 3"/>
          <p:cNvSpPr txBox="1"/>
          <p:nvPr/>
        </p:nvSpPr>
        <p:spPr>
          <a:xfrm>
            <a:off x="1143000" y="47183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10" name="Shape 4"/>
          <p:cNvSpPr/>
          <p:nvPr/>
        </p:nvSpPr>
        <p:spPr>
          <a:xfrm>
            <a:off x="9215323" y="424282"/>
            <a:ext cx="2409444" cy="390449"/>
          </a:xfrm>
          <a:prstGeom prst="roundRect">
            <a:avLst>
              <a:gd name="adj" fmla="val 234192"/>
            </a:avLst>
          </a:prstGeom>
          <a:solidFill>
            <a:srgbClr val="6366F1">
              <a:alpha val="8000"/>
            </a:srgbClr>
          </a:solidFill>
          <a:ln w="12700">
            <a:solidFill>
              <a:srgbClr val="6366F1">
                <a:alpha val="15000"/>
              </a:srgbClr>
            </a:solidFill>
            <a:prstDash val="solid"/>
          </a:ln>
        </p:spPr>
      </p:sp>
      <p:pic>
        <p:nvPicPr>
          <p:cNvPr id="11" name="Image 4" descr="preencoded.png">    </p:cNvPr>
          <p:cNvPicPr>
            <a:picLocks noChangeAspect="1"/>
          </p:cNvPicPr>
          <p:nvPr/>
        </p:nvPicPr>
        <p:blipFill>
          <a:blip r:embed="rId5"/>
          <a:srcRect l="0" r="0" t="0" b="0"/>
          <a:stretch/>
        </p:blipFill>
        <p:spPr>
          <a:xfrm>
            <a:off x="9415577" y="552298"/>
            <a:ext cx="133502" cy="133502"/>
          </a:xfrm>
          <a:prstGeom prst="rect">
            <a:avLst/>
          </a:prstGeom>
        </p:spPr>
      </p:pic>
      <p:sp>
        <p:nvSpPr>
          <p:cNvPr id="12" name="Text 5"/>
          <p:cNvSpPr txBox="1"/>
          <p:nvPr/>
        </p:nvSpPr>
        <p:spPr>
          <a:xfrm>
            <a:off x="9644177" y="424282"/>
            <a:ext cx="1781251" cy="391363"/>
          </a:xfrm>
          <a:prstGeom prst="rect">
            <a:avLst/>
          </a:prstGeom>
          <a:noFill/>
          <a:ln/>
        </p:spPr>
        <p:txBody>
          <a:bodyPr wrap="square" lIns="0" tIns="0" rIns="0" bIns="0" rtlCol="0" anchor="ctr"/>
          <a:lstStyle/>
          <a:p>
            <a:pPr algn="l" indent="0" marL="0">
              <a:buNone/>
            </a:pPr>
            <a:r>
              <a:rPr lang="en-US" sz="1100" dirty="0">
                <a:solidFill>
                  <a:srgbClr val="6366F1"/>
                </a:solidFill>
                <a:latin typeface="Inter" pitchFamily="34" charset="0"/>
                <a:ea typeface="Inter" pitchFamily="34" charset="-122"/>
                <a:cs typeface="Inter" pitchFamily="34" charset="-120"/>
              </a:rPr>
              <a:t>Local-First = Privacy-First</a:t>
            </a:r>
            <a:endParaRPr lang="en-US" sz="1100" dirty="0"/>
          </a:p>
        </p:txBody>
      </p:sp>
      <p:sp>
        <p:nvSpPr>
          <p:cNvPr id="13" name="Text 6"/>
          <p:cNvSpPr txBox="1"/>
          <p:nvPr/>
        </p:nvSpPr>
        <p:spPr>
          <a:xfrm>
            <a:off x="571500" y="1676095"/>
            <a:ext cx="11049610" cy="438912"/>
          </a:xfrm>
          <a:prstGeom prst="rect">
            <a:avLst/>
          </a:prstGeom>
          <a:noFill/>
          <a:ln/>
        </p:spPr>
        <p:txBody>
          <a:bodyPr wrap="square" lIns="0" tIns="0" rIns="0" bIns="0" rtlCol="0" anchor="ctr"/>
          <a:lstStyle/>
          <a:p>
            <a:pPr algn="l" indent="0" marL="0">
              <a:buNone/>
            </a:pPr>
            <a:r>
              <a:rPr lang="en-US" sz="3400" b="1" spc="-75" kern="0" dirty="0">
                <a:solidFill>
                  <a:srgbClr val="1E293B"/>
                </a:solidFill>
                <a:latin typeface="Inter" pitchFamily="34" charset="0"/>
                <a:ea typeface="Inter" pitchFamily="34" charset="-122"/>
                <a:cs typeface="Inter" pitchFamily="34" charset="-120"/>
              </a:rPr>
              <a:t>Project </a:t>
            </a:r>
            <a:pPr algn="l" indent="0" marL="0">
              <a:buNone/>
            </a:pPr>
            <a:r>
              <a:rPr lang="en-US" sz="3400" b="1" spc="-75" kern="0" dirty="0">
                <a:solidFill>
                  <a:srgbClr val="7761F4"/>
                </a:solidFill>
                <a:latin typeface="Inter" pitchFamily="34" charset="0"/>
                <a:ea typeface="Inter" pitchFamily="34" charset="-122"/>
                <a:cs typeface="Inter" pitchFamily="34" charset="-120"/>
              </a:rPr>
              <a:t>Structure</a:t>
            </a:r>
            <a:endParaRPr lang="en-US" sz="3400" dirty="0"/>
          </a:p>
        </p:txBody>
      </p:sp>
      <p:sp>
        <p:nvSpPr>
          <p:cNvPr id="14" name="Text 7"/>
          <p:cNvSpPr txBox="1"/>
          <p:nvPr/>
        </p:nvSpPr>
        <p:spPr>
          <a:xfrm>
            <a:off x="571500" y="2229307"/>
            <a:ext cx="7620610" cy="257861"/>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Use this minimal layout to launch fast and keep setup transparent.</a:t>
            </a:r>
            <a:endParaRPr lang="en-US" sz="1300" dirty="0"/>
          </a:p>
        </p:txBody>
      </p:sp>
      <p:sp>
        <p:nvSpPr>
          <p:cNvPr id="15" name="Shape 8"/>
          <p:cNvSpPr/>
          <p:nvPr/>
        </p:nvSpPr>
        <p:spPr>
          <a:xfrm>
            <a:off x="571500" y="1238098"/>
            <a:ext cx="2609698" cy="286207"/>
          </a:xfrm>
          <a:prstGeom prst="roundRect">
            <a:avLst>
              <a:gd name="adj" fmla="val 170394"/>
            </a:avLst>
          </a:prstGeom>
          <a:solidFill>
            <a:srgbClr val="6366F1">
              <a:alpha val="8000"/>
            </a:srgbClr>
          </a:solidFill>
          <a:ln w="12700">
            <a:solidFill>
              <a:srgbClr val="6366F1">
                <a:alpha val="20000"/>
              </a:srgbClr>
            </a:solidFill>
            <a:prstDash val="solid"/>
          </a:ln>
        </p:spPr>
      </p:sp>
      <p:sp>
        <p:nvSpPr>
          <p:cNvPr id="16" name="Text 9"/>
          <p:cNvSpPr txBox="1"/>
          <p:nvPr/>
        </p:nvSpPr>
        <p:spPr>
          <a:xfrm>
            <a:off x="571500" y="1238098"/>
            <a:ext cx="2610612"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6366F1"/>
                </a:solidFill>
                <a:latin typeface="Inter" pitchFamily="34" charset="0"/>
                <a:ea typeface="Inter" pitchFamily="34" charset="-122"/>
                <a:cs typeface="Inter" pitchFamily="34" charset="-120"/>
              </a:rPr>
              <a:t>Skeleton 1 — Minimal Runnable</a:t>
            </a:r>
            <a:endParaRPr lang="en-US" sz="900" dirty="0"/>
          </a:p>
        </p:txBody>
      </p:sp>
      <p:sp>
        <p:nvSpPr>
          <p:cNvPr id="17" name="Shape 10"/>
          <p:cNvSpPr/>
          <p:nvPr/>
        </p:nvSpPr>
        <p:spPr>
          <a:xfrm>
            <a:off x="952805" y="3047695"/>
            <a:ext cx="342900" cy="342900"/>
          </a:xfrm>
          <a:prstGeom prst="roundRect">
            <a:avLst>
              <a:gd name="adj" fmla="val 118519"/>
            </a:avLst>
          </a:prstGeom>
          <a:solidFill>
            <a:srgbClr val="6366F1">
              <a:alpha val="10000"/>
            </a:srgbClr>
          </a:solidFill>
          <a:ln w="12700">
            <a:solidFill>
              <a:srgbClr val="FFFFFF">
                <a:alpha val="0"/>
              </a:srgbClr>
            </a:solidFill>
            <a:prstDash val="solid"/>
          </a:ln>
        </p:spPr>
      </p:sp>
      <p:pic>
        <p:nvPicPr>
          <p:cNvPr id="18" name="Image 5" descr="preencoded.png">    </p:cNvPr>
          <p:cNvPicPr>
            <a:picLocks noChangeAspect="1"/>
          </p:cNvPicPr>
          <p:nvPr/>
        </p:nvPicPr>
        <p:blipFill>
          <a:blip r:embed="rId6"/>
          <a:srcRect l="-33" r="-33" t="0" b="0"/>
          <a:stretch/>
        </p:blipFill>
        <p:spPr>
          <a:xfrm>
            <a:off x="1037844" y="3143707"/>
            <a:ext cx="171907" cy="152705"/>
          </a:xfrm>
          <a:prstGeom prst="rect">
            <a:avLst/>
          </a:prstGeom>
        </p:spPr>
      </p:pic>
      <p:sp>
        <p:nvSpPr>
          <p:cNvPr id="19" name="Text 11"/>
          <p:cNvSpPr txBox="1"/>
          <p:nvPr/>
        </p:nvSpPr>
        <p:spPr>
          <a:xfrm>
            <a:off x="1410005" y="3119018"/>
            <a:ext cx="1564538" cy="200254"/>
          </a:xfrm>
          <a:prstGeom prst="rect">
            <a:avLst/>
          </a:prstGeom>
          <a:noFill/>
          <a:ln/>
        </p:spPr>
        <p:txBody>
          <a:bodyPr wrap="square" lIns="0" tIns="0" rIns="0" bIns="0" rtlCol="0" anchor="ctr"/>
          <a:lstStyle/>
          <a:p>
            <a:pPr algn="l" indent="0" marL="0">
              <a:buNone/>
            </a:pPr>
            <a:r>
              <a:rPr lang="en-US" sz="1300" b="1" dirty="0">
                <a:solidFill>
                  <a:srgbClr val="1E293B"/>
                </a:solidFill>
                <a:latin typeface="Inter" pitchFamily="34" charset="0"/>
                <a:ea typeface="Inter" pitchFamily="34" charset="-122"/>
                <a:cs typeface="Inter" pitchFamily="34" charset="-120"/>
              </a:rPr>
              <a:t>Filesystem Tree</a:t>
            </a:r>
            <a:endParaRPr lang="en-US" sz="1300" dirty="0"/>
          </a:p>
        </p:txBody>
      </p:sp>
      <p:sp>
        <p:nvSpPr>
          <p:cNvPr id="20" name="Shape 12"/>
          <p:cNvSpPr/>
          <p:nvPr/>
        </p:nvSpPr>
        <p:spPr>
          <a:xfrm>
            <a:off x="952805" y="3619195"/>
            <a:ext cx="5524805" cy="752551"/>
          </a:xfrm>
          <a:prstGeom prst="roundRect">
            <a:avLst>
              <a:gd name="adj" fmla="val 36913"/>
            </a:avLst>
          </a:prstGeom>
          <a:solidFill>
            <a:srgbClr val="F8FAFC"/>
          </a:solidFill>
          <a:ln w="12700">
            <a:solidFill>
              <a:srgbClr val="E2E8F0"/>
            </a:solidFill>
            <a:prstDash val="solid"/>
          </a:ln>
        </p:spPr>
      </p:sp>
      <p:sp>
        <p:nvSpPr>
          <p:cNvPr id="21" name="Text 13"/>
          <p:cNvSpPr txBox="1"/>
          <p:nvPr/>
        </p:nvSpPr>
        <p:spPr>
          <a:xfrm>
            <a:off x="1190549" y="3857854"/>
            <a:ext cx="5734202" cy="277063"/>
          </a:xfrm>
          <a:prstGeom prst="rect">
            <a:avLst/>
          </a:prstGeom>
          <a:noFill/>
          <a:ln/>
        </p:spPr>
        <p:txBody>
          <a:bodyPr wrap="square" lIns="0" tIns="0" rIns="0" bIns="0" rtlCol="0" anchor="ctr"/>
          <a:lstStyle/>
          <a:p>
            <a:pPr algn="l" indent="0" marL="0">
              <a:buNone/>
            </a:pPr>
            <a:r>
              <a:rPr lang="en-US" sz="1200" b="1" dirty="0">
                <a:solidFill>
                  <a:srgbClr val="4F46E5"/>
                </a:solidFill>
                <a:latin typeface="IBM Plex Mono" pitchFamily="34" charset="0"/>
                <a:ea typeface="IBM Plex Mono" pitchFamily="34" charset="-122"/>
                <a:cs typeface="IBM Plex Mono" pitchFamily="34" charset="-120"/>
              </a:rPr>
              <a:t>NewsNexus/</a:t>
            </a:r>
            <a:pPr algn="l" indent="0" marL="0">
              <a:buNone/>
            </a:pPr>
            <a:r>
              <a:rPr lang="en-US" sz="1200" dirty="0">
                <a:solidFill>
                  <a:srgbClr val="475569"/>
                </a:solidFill>
                <a:latin typeface="IBM Plex Mono" pitchFamily="34" charset="0"/>
                <a:ea typeface="IBM Plex Mono" pitchFamily="34" charset="-122"/>
                <a:cs typeface="IBM Plex Mono" pitchFamily="34" charset="-120"/>
              </a:rPr>
              <a:t> ├── requirements.txt ├── run_all.py ├── README.md └── </a:t>
            </a:r>
            <a:pPr algn="l" indent="0" marL="0">
              <a:buNone/>
            </a:pPr>
            <a:r>
              <a:rPr lang="en-US" sz="1200" b="1" dirty="0">
                <a:solidFill>
                  <a:srgbClr val="4F46E5"/>
                </a:solidFill>
                <a:latin typeface="IBM Plex Mono" pitchFamily="34" charset="0"/>
                <a:ea typeface="IBM Plex Mono" pitchFamily="34" charset="-122"/>
                <a:cs typeface="IBM Plex Mono" pitchFamily="34" charset="-120"/>
              </a:rPr>
              <a:t>src/</a:t>
            </a:r>
            <a:pPr algn="l" indent="0" marL="0">
              <a:buNone/>
            </a:pPr>
            <a:r>
              <a:rPr lang="en-US" sz="1200" dirty="0">
                <a:solidFill>
                  <a:srgbClr val="475569"/>
                </a:solidFill>
                <a:latin typeface="IBM Plex Mono" pitchFamily="34" charset="0"/>
                <a:ea typeface="IBM Plex Mono" pitchFamily="34" charset="-122"/>
                <a:cs typeface="IBM Plex Mono" pitchFamily="34" charset="-120"/>
              </a:rPr>
              <a:t> └── streamlit_app.py</a:t>
            </a:r>
            <a:endParaRPr lang="en-US" sz="1200" dirty="0"/>
          </a:p>
        </p:txBody>
      </p:sp>
      <p:sp>
        <p:nvSpPr>
          <p:cNvPr id="22" name="Shape 14"/>
          <p:cNvSpPr/>
          <p:nvPr/>
        </p:nvSpPr>
        <p:spPr>
          <a:xfrm>
            <a:off x="7524598" y="3047695"/>
            <a:ext cx="342900" cy="342900"/>
          </a:xfrm>
          <a:prstGeom prst="roundRect">
            <a:avLst>
              <a:gd name="adj" fmla="val 118519"/>
            </a:avLst>
          </a:prstGeom>
          <a:solidFill>
            <a:srgbClr val="10B981">
              <a:alpha val="10000"/>
            </a:srgbClr>
          </a:solidFill>
          <a:ln w="12700">
            <a:solidFill>
              <a:srgbClr val="FFFFFF">
                <a:alpha val="0"/>
              </a:srgbClr>
            </a:solidFill>
            <a:prstDash val="solid"/>
          </a:ln>
        </p:spPr>
      </p:sp>
      <p:pic>
        <p:nvPicPr>
          <p:cNvPr id="23" name="Image 6" descr="preencoded.png">    </p:cNvPr>
          <p:cNvPicPr>
            <a:picLocks noChangeAspect="1"/>
          </p:cNvPicPr>
          <p:nvPr/>
        </p:nvPicPr>
        <p:blipFill>
          <a:blip r:embed="rId7"/>
          <a:srcRect l="0" r="0" t="-100" b="-100"/>
          <a:stretch/>
        </p:blipFill>
        <p:spPr>
          <a:xfrm>
            <a:off x="7638898" y="3143707"/>
            <a:ext cx="114300" cy="152705"/>
          </a:xfrm>
          <a:prstGeom prst="rect">
            <a:avLst/>
          </a:prstGeom>
        </p:spPr>
      </p:pic>
      <p:sp>
        <p:nvSpPr>
          <p:cNvPr id="24" name="Text 15"/>
          <p:cNvSpPr txBox="1"/>
          <p:nvPr/>
        </p:nvSpPr>
        <p:spPr>
          <a:xfrm>
            <a:off x="7981798" y="3119018"/>
            <a:ext cx="2176272" cy="200254"/>
          </a:xfrm>
          <a:prstGeom prst="rect">
            <a:avLst/>
          </a:prstGeom>
          <a:noFill/>
          <a:ln/>
        </p:spPr>
        <p:txBody>
          <a:bodyPr wrap="square" lIns="0" tIns="0" rIns="0" bIns="0" rtlCol="0" anchor="ctr"/>
          <a:lstStyle/>
          <a:p>
            <a:pPr algn="l" indent="0" marL="0">
              <a:buNone/>
            </a:pPr>
            <a:r>
              <a:rPr lang="en-US" sz="1300" b="1" dirty="0">
                <a:solidFill>
                  <a:srgbClr val="1E293B"/>
                </a:solidFill>
                <a:latin typeface="Inter" pitchFamily="34" charset="0"/>
                <a:ea typeface="Inter" pitchFamily="34" charset="-122"/>
                <a:cs typeface="Inter" pitchFamily="34" charset="-120"/>
              </a:rPr>
              <a:t>Implementation Notes</a:t>
            </a:r>
            <a:endParaRPr lang="en-US" sz="1300" dirty="0"/>
          </a:p>
        </p:txBody>
      </p:sp>
      <p:sp>
        <p:nvSpPr>
          <p:cNvPr id="25" name="Shape 16"/>
          <p:cNvSpPr/>
          <p:nvPr/>
        </p:nvSpPr>
        <p:spPr>
          <a:xfrm>
            <a:off x="7524598" y="3676802"/>
            <a:ext cx="228600" cy="228600"/>
          </a:xfrm>
          <a:prstGeom prst="ellipse">
            <a:avLst/>
          </a:prstGeom>
          <a:solidFill>
            <a:srgbClr val="F8FAFC"/>
          </a:solidFill>
          <a:ln w="12700">
            <a:solidFill>
              <a:srgbClr val="FFFFFF">
                <a:alpha val="0"/>
              </a:srgbClr>
            </a:solidFill>
            <a:prstDash val="solid"/>
          </a:ln>
        </p:spPr>
      </p:sp>
      <p:pic>
        <p:nvPicPr>
          <p:cNvPr id="26" name="Image 7" descr="preencoded.png">    </p:cNvPr>
          <p:cNvPicPr>
            <a:picLocks noChangeAspect="1"/>
          </p:cNvPicPr>
          <p:nvPr/>
        </p:nvPicPr>
        <p:blipFill>
          <a:blip r:embed="rId8"/>
          <a:srcRect l="0" r="0" t="0" b="0"/>
          <a:stretch/>
        </p:blipFill>
        <p:spPr>
          <a:xfrm>
            <a:off x="7582205" y="3733495"/>
            <a:ext cx="114300" cy="114300"/>
          </a:xfrm>
          <a:prstGeom prst="rect">
            <a:avLst/>
          </a:prstGeom>
        </p:spPr>
      </p:pic>
      <p:sp>
        <p:nvSpPr>
          <p:cNvPr id="27" name="Text 17"/>
          <p:cNvSpPr txBox="1"/>
          <p:nvPr/>
        </p:nvSpPr>
        <p:spPr>
          <a:xfrm>
            <a:off x="7905902" y="3657600"/>
            <a:ext cx="3333902"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Keep Boot Flow Simple</a:t>
            </a:r>
            <a:endParaRPr lang="en-US" sz="1200" dirty="0"/>
          </a:p>
        </p:txBody>
      </p:sp>
      <p:sp>
        <p:nvSpPr>
          <p:cNvPr id="28" name="Text 18"/>
          <p:cNvSpPr txBox="1"/>
          <p:nvPr/>
        </p:nvSpPr>
        <p:spPr>
          <a:xfrm>
            <a:off x="7905902" y="3905402"/>
            <a:ext cx="3333902" cy="438912"/>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Start with an explicit preflight check in </a:t>
            </a:r>
            <a:pPr algn="l" indent="0" marL="0">
              <a:buNone/>
            </a:pPr>
            <a:r>
              <a:rPr lang="en-US" sz="900" dirty="0">
                <a:solidFill>
                  <a:srgbClr val="4F46E5"/>
                </a:solidFill>
                <a:latin typeface="IBM Plex Mono" pitchFamily="34" charset="0"/>
                <a:ea typeface="IBM Plex Mono" pitchFamily="34" charset="-122"/>
                <a:cs typeface="IBM Plex Mono" pitchFamily="34" charset="-120"/>
              </a:rPr>
              <a:t>run_all.py</a:t>
            </a:r>
            <a:pPr algn="l" indent="0" marL="0">
              <a:buNone/>
            </a:pPr>
            <a:r>
              <a:rPr lang="en-US" sz="1000" dirty="0">
                <a:solidFill>
                  <a:srgbClr val="64748B"/>
                </a:solidFill>
                <a:latin typeface="Inter" pitchFamily="34" charset="0"/>
                <a:ea typeface="Inter" pitchFamily="34" charset="-122"/>
                <a:cs typeface="Inter" pitchFamily="34" charset="-120"/>
              </a:rPr>
              <a:t>, then seamlessly start the UI.</a:t>
            </a:r>
            <a:endParaRPr lang="en-US" sz="1000" dirty="0"/>
          </a:p>
        </p:txBody>
      </p:sp>
      <p:sp>
        <p:nvSpPr>
          <p:cNvPr id="29" name="Shape 19"/>
          <p:cNvSpPr/>
          <p:nvPr/>
        </p:nvSpPr>
        <p:spPr>
          <a:xfrm>
            <a:off x="7524598" y="4582973"/>
            <a:ext cx="228600" cy="228600"/>
          </a:xfrm>
          <a:prstGeom prst="ellipse">
            <a:avLst/>
          </a:prstGeom>
          <a:solidFill>
            <a:srgbClr val="F8FAFC"/>
          </a:solidFill>
          <a:ln w="12700">
            <a:solidFill>
              <a:srgbClr val="FFFFFF">
                <a:alpha val="0"/>
              </a:srgbClr>
            </a:solidFill>
            <a:prstDash val="solid"/>
          </a:ln>
        </p:spPr>
      </p:sp>
      <p:pic>
        <p:nvPicPr>
          <p:cNvPr id="30" name="Image 8" descr="preencoded.png">    </p:cNvPr>
          <p:cNvPicPr>
            <a:picLocks noChangeAspect="1"/>
          </p:cNvPicPr>
          <p:nvPr/>
        </p:nvPicPr>
        <p:blipFill>
          <a:blip r:embed="rId9"/>
          <a:srcRect l="-1911" r="-1911" t="0" b="0"/>
          <a:stretch/>
        </p:blipFill>
        <p:spPr>
          <a:xfrm>
            <a:off x="7572146" y="4640580"/>
            <a:ext cx="133502" cy="114300"/>
          </a:xfrm>
          <a:prstGeom prst="rect">
            <a:avLst/>
          </a:prstGeom>
        </p:spPr>
      </p:pic>
      <p:sp>
        <p:nvSpPr>
          <p:cNvPr id="31" name="Text 20"/>
          <p:cNvSpPr txBox="1"/>
          <p:nvPr/>
        </p:nvSpPr>
        <p:spPr>
          <a:xfrm>
            <a:off x="7905902" y="4564685"/>
            <a:ext cx="3333902"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Add Modules Incrementally</a:t>
            </a:r>
            <a:endParaRPr lang="en-US" sz="1200" dirty="0"/>
          </a:p>
        </p:txBody>
      </p:sp>
      <p:sp>
        <p:nvSpPr>
          <p:cNvPr id="32" name="Text 21"/>
          <p:cNvSpPr txBox="1"/>
          <p:nvPr/>
        </p:nvSpPr>
        <p:spPr>
          <a:xfrm>
            <a:off x="7905902" y="4811573"/>
            <a:ext cx="3333902" cy="648310"/>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Avoid premature complexity. After Day 1, append modular agents and DB configs into the </a:t>
            </a:r>
            <a:pPr algn="l" indent="0" marL="0">
              <a:buNone/>
            </a:pPr>
            <a:r>
              <a:rPr lang="en-US" sz="900" dirty="0">
                <a:solidFill>
                  <a:srgbClr val="4F46E5"/>
                </a:solidFill>
                <a:latin typeface="IBM Plex Mono" pitchFamily="34" charset="0"/>
                <a:ea typeface="IBM Plex Mono" pitchFamily="34" charset="-122"/>
                <a:cs typeface="IBM Plex Mono" pitchFamily="34" charset="-120"/>
              </a:rPr>
              <a:t>src/</a:t>
            </a:r>
            <a:pPr algn="l" indent="0" marL="0">
              <a:buNone/>
            </a:pPr>
            <a:r>
              <a:rPr lang="en-US" sz="1000" dirty="0">
                <a:solidFill>
                  <a:srgbClr val="64748B"/>
                </a:solidFill>
                <a:latin typeface="Inter" pitchFamily="34" charset="0"/>
                <a:ea typeface="Inter" pitchFamily="34" charset="-122"/>
                <a:cs typeface="Inter" pitchFamily="34" charset="-120"/>
              </a:rPr>
              <a:t> directory.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5" name="Shape 3"/>
          <p:cNvSpPr/>
          <p:nvPr/>
        </p:nvSpPr>
        <p:spPr>
          <a:xfrm>
            <a:off x="571500" y="2952598"/>
            <a:ext cx="3448202" cy="1162202"/>
          </a:xfrm>
          <a:prstGeom prst="roundRect">
            <a:avLst>
              <a:gd name="adj" fmla="val 15478"/>
            </a:avLst>
          </a:prstGeom>
          <a:solidFill>
            <a:srgbClr val="FFFFFF"/>
          </a:solidFill>
          <a:ln w="12700">
            <a:solidFill>
              <a:srgbClr val="E2E8F0">
                <a:alpha val="80000"/>
              </a:srgbClr>
            </a:solidFill>
            <a:prstDash val="solid"/>
          </a:ln>
          <a:effectLst>
            <a:outerShdw sx="100000" sy="100000" kx="0" ky="0" algn="bl" rotWithShape="0" blurRad="63500" dist="38100" dir="16200000">
              <a:srgbClr val="000000">
                <a:alpha val="3000"/>
              </a:srgbClr>
            </a:outerShdw>
          </a:effectLst>
        </p:spPr>
      </p:sp>
      <p:sp>
        <p:nvSpPr>
          <p:cNvPr id="6" name="Shape 4"/>
          <p:cNvSpPr/>
          <p:nvPr/>
        </p:nvSpPr>
        <p:spPr>
          <a:xfrm>
            <a:off x="4381805" y="2952598"/>
            <a:ext cx="3448202" cy="1162202"/>
          </a:xfrm>
          <a:prstGeom prst="roundRect">
            <a:avLst>
              <a:gd name="adj" fmla="val 15478"/>
            </a:avLst>
          </a:prstGeom>
          <a:solidFill>
            <a:srgbClr val="FFFFFF"/>
          </a:solidFill>
          <a:ln w="12700">
            <a:solidFill>
              <a:srgbClr val="E2E8F0">
                <a:alpha val="80000"/>
              </a:srgbClr>
            </a:solidFill>
            <a:prstDash val="solid"/>
          </a:ln>
          <a:effectLst>
            <a:outerShdw sx="100000" sy="100000" kx="0" ky="0" algn="bl" rotWithShape="0" blurRad="63500" dist="38100" dir="16200000">
              <a:srgbClr val="000000">
                <a:alpha val="3000"/>
              </a:srgbClr>
            </a:outerShdw>
          </a:effectLst>
        </p:spPr>
      </p:sp>
      <p:sp>
        <p:nvSpPr>
          <p:cNvPr id="7" name="Shape 5"/>
          <p:cNvSpPr/>
          <p:nvPr/>
        </p:nvSpPr>
        <p:spPr>
          <a:xfrm>
            <a:off x="8191195" y="2952598"/>
            <a:ext cx="3448202" cy="1162202"/>
          </a:xfrm>
          <a:prstGeom prst="roundRect">
            <a:avLst>
              <a:gd name="adj" fmla="val 15478"/>
            </a:avLst>
          </a:prstGeom>
          <a:solidFill>
            <a:srgbClr val="FFFFFF"/>
          </a:solidFill>
          <a:ln w="12700">
            <a:solidFill>
              <a:srgbClr val="E2E8F0">
                <a:alpha val="80000"/>
              </a:srgbClr>
            </a:solidFill>
            <a:prstDash val="solid"/>
          </a:ln>
          <a:effectLst>
            <a:outerShdw sx="100000" sy="100000" kx="0" ky="0" algn="bl" rotWithShape="0" blurRad="63500" dist="38100" dir="16200000">
              <a:srgbClr val="000000">
                <a:alpha val="3000"/>
              </a:srgbClr>
            </a:outerShdw>
          </a:effectLst>
        </p:spPr>
      </p:sp>
      <p:sp>
        <p:nvSpPr>
          <p:cNvPr id="8" name="Shape 6"/>
          <p:cNvSpPr/>
          <p:nvPr/>
        </p:nvSpPr>
        <p:spPr>
          <a:xfrm>
            <a:off x="571500" y="4381805"/>
            <a:ext cx="3448202" cy="1162202"/>
          </a:xfrm>
          <a:prstGeom prst="roundRect">
            <a:avLst>
              <a:gd name="adj" fmla="val 15478"/>
            </a:avLst>
          </a:prstGeom>
          <a:solidFill>
            <a:srgbClr val="FFFFFF"/>
          </a:solidFill>
          <a:ln w="12700">
            <a:solidFill>
              <a:srgbClr val="E2E8F0">
                <a:alpha val="80000"/>
              </a:srgbClr>
            </a:solidFill>
            <a:prstDash val="solid"/>
          </a:ln>
          <a:effectLst>
            <a:outerShdw sx="100000" sy="100000" kx="0" ky="0" algn="bl" rotWithShape="0" blurRad="63500" dist="38100" dir="16200000">
              <a:srgbClr val="000000">
                <a:alpha val="3000"/>
              </a:srgbClr>
            </a:outerShdw>
          </a:effectLst>
        </p:spPr>
      </p:sp>
      <p:sp>
        <p:nvSpPr>
          <p:cNvPr id="9" name="Shape 7"/>
          <p:cNvSpPr/>
          <p:nvPr/>
        </p:nvSpPr>
        <p:spPr>
          <a:xfrm>
            <a:off x="4381805" y="4381805"/>
            <a:ext cx="3448202" cy="1162202"/>
          </a:xfrm>
          <a:prstGeom prst="roundRect">
            <a:avLst>
              <a:gd name="adj" fmla="val 15478"/>
            </a:avLst>
          </a:prstGeom>
          <a:solidFill>
            <a:srgbClr val="FFFFFF"/>
          </a:solidFill>
          <a:ln w="12700">
            <a:solidFill>
              <a:srgbClr val="E2E8F0">
                <a:alpha val="80000"/>
              </a:srgbClr>
            </a:solidFill>
            <a:prstDash val="solid"/>
          </a:ln>
          <a:effectLst>
            <a:outerShdw sx="100000" sy="100000" kx="0" ky="0" algn="bl" rotWithShape="0" blurRad="63500" dist="38100" dir="16200000">
              <a:srgbClr val="000000">
                <a:alpha val="3000"/>
              </a:srgbClr>
            </a:outerShdw>
          </a:effectLst>
        </p:spPr>
      </p:sp>
      <p:sp>
        <p:nvSpPr>
          <p:cNvPr id="10" name="Shape 8"/>
          <p:cNvSpPr/>
          <p:nvPr/>
        </p:nvSpPr>
        <p:spPr>
          <a:xfrm>
            <a:off x="8191195" y="4381805"/>
            <a:ext cx="3448202" cy="1162202"/>
          </a:xfrm>
          <a:prstGeom prst="roundRect">
            <a:avLst>
              <a:gd name="adj" fmla="val 15478"/>
            </a:avLst>
          </a:prstGeom>
          <a:solidFill>
            <a:srgbClr val="FFFFFF"/>
          </a:solidFill>
          <a:ln w="12700">
            <a:solidFill>
              <a:srgbClr val="E2E8F0">
                <a:alpha val="80000"/>
              </a:srgbClr>
            </a:solidFill>
            <a:prstDash val="solid"/>
          </a:ln>
          <a:effectLst>
            <a:outerShdw sx="100000" sy="100000" kx="0" ky="0" algn="bl" rotWithShape="0" blurRad="63500" dist="38100" dir="16200000">
              <a:srgbClr val="000000">
                <a:alpha val="3000"/>
              </a:srgbClr>
            </a:outerShdw>
          </a:effectLst>
        </p:spPr>
      </p:sp>
      <p:sp>
        <p:nvSpPr>
          <p:cNvPr id="11" name="Shape 9"/>
          <p:cNvSpPr/>
          <p:nvPr/>
        </p:nvSpPr>
        <p:spPr>
          <a:xfrm>
            <a:off x="571500" y="5905195"/>
            <a:ext cx="11067898" cy="685800"/>
          </a:xfrm>
          <a:prstGeom prst="roundRect">
            <a:avLst>
              <a:gd name="adj" fmla="val 44444"/>
            </a:avLst>
          </a:prstGeom>
          <a:solidFill>
            <a:srgbClr val="10B981">
              <a:alpha val="5000"/>
            </a:srgbClr>
          </a:solidFill>
          <a:ln w="12700">
            <a:solidFill>
              <a:srgbClr val="10B981">
                <a:alpha val="20000"/>
              </a:srgbClr>
            </a:solidFill>
            <a:prstDash val="solid"/>
          </a:ln>
        </p:spPr>
      </p:sp>
      <p:pic>
        <p:nvPicPr>
          <p:cNvPr id="12" name="Image 0" descr="preencoded.png">    </p:cNvPr>
          <p:cNvPicPr>
            <a:picLocks noChangeAspect="1"/>
          </p:cNvPicPr>
          <p:nvPr/>
        </p:nvPicPr>
        <p:blipFill>
          <a:blip r:embed="rId1"/>
          <a:srcRect l="0" r="0" t="0" b="0"/>
          <a:stretch/>
        </p:blipFill>
        <p:spPr>
          <a:xfrm>
            <a:off x="571500" y="409651"/>
            <a:ext cx="418795" cy="418795"/>
          </a:xfrm>
          <a:prstGeom prst="rect">
            <a:avLst/>
          </a:prstGeom>
        </p:spPr>
      </p:pic>
      <p:pic>
        <p:nvPicPr>
          <p:cNvPr id="13" name="Image 1" descr="preencoded.png">    </p:cNvPr>
          <p:cNvPicPr>
            <a:picLocks noChangeAspect="1"/>
          </p:cNvPicPr>
          <p:nvPr/>
        </p:nvPicPr>
        <p:blipFill>
          <a:blip r:embed="rId2"/>
          <a:srcRect l="0" r="0" t="0" b="0"/>
          <a:stretch/>
        </p:blipFill>
        <p:spPr>
          <a:xfrm>
            <a:off x="676656" y="514807"/>
            <a:ext cx="209398" cy="209398"/>
          </a:xfrm>
          <a:prstGeom prst="rect">
            <a:avLst/>
          </a:prstGeom>
        </p:spPr>
      </p:pic>
      <p:sp>
        <p:nvSpPr>
          <p:cNvPr id="14" name="Text 10"/>
          <p:cNvSpPr txBox="1"/>
          <p:nvPr/>
        </p:nvSpPr>
        <p:spPr>
          <a:xfrm>
            <a:off x="1143000" y="47183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15" name="Shape 11"/>
          <p:cNvSpPr/>
          <p:nvPr/>
        </p:nvSpPr>
        <p:spPr>
          <a:xfrm>
            <a:off x="9215323" y="424282"/>
            <a:ext cx="2409444" cy="390449"/>
          </a:xfrm>
          <a:prstGeom prst="roundRect">
            <a:avLst>
              <a:gd name="adj" fmla="val 234192"/>
            </a:avLst>
          </a:prstGeom>
          <a:solidFill>
            <a:srgbClr val="6366F1">
              <a:alpha val="8000"/>
            </a:srgbClr>
          </a:solidFill>
          <a:ln w="12700">
            <a:solidFill>
              <a:srgbClr val="6366F1">
                <a:alpha val="15000"/>
              </a:srgbClr>
            </a:solidFill>
            <a:prstDash val="solid"/>
          </a:ln>
        </p:spPr>
      </p:sp>
      <p:pic>
        <p:nvPicPr>
          <p:cNvPr id="16" name="Image 2" descr="preencoded.png">    </p:cNvPr>
          <p:cNvPicPr>
            <a:picLocks noChangeAspect="1"/>
          </p:cNvPicPr>
          <p:nvPr/>
        </p:nvPicPr>
        <p:blipFill>
          <a:blip r:embed="rId3"/>
          <a:srcRect l="0" r="0" t="0" b="0"/>
          <a:stretch/>
        </p:blipFill>
        <p:spPr>
          <a:xfrm>
            <a:off x="9415577" y="552298"/>
            <a:ext cx="133502" cy="133502"/>
          </a:xfrm>
          <a:prstGeom prst="rect">
            <a:avLst/>
          </a:prstGeom>
        </p:spPr>
      </p:pic>
      <p:sp>
        <p:nvSpPr>
          <p:cNvPr id="17" name="Text 12"/>
          <p:cNvSpPr txBox="1"/>
          <p:nvPr/>
        </p:nvSpPr>
        <p:spPr>
          <a:xfrm>
            <a:off x="9644177" y="424282"/>
            <a:ext cx="1781251" cy="391363"/>
          </a:xfrm>
          <a:prstGeom prst="rect">
            <a:avLst/>
          </a:prstGeom>
          <a:noFill/>
          <a:ln/>
        </p:spPr>
        <p:txBody>
          <a:bodyPr wrap="square" lIns="0" tIns="0" rIns="0" bIns="0" rtlCol="0" anchor="ctr"/>
          <a:lstStyle/>
          <a:p>
            <a:pPr algn="l" indent="0" marL="0">
              <a:buNone/>
            </a:pPr>
            <a:r>
              <a:rPr lang="en-US" sz="1100" dirty="0">
                <a:solidFill>
                  <a:srgbClr val="6366F1"/>
                </a:solidFill>
                <a:latin typeface="Inter" pitchFamily="34" charset="0"/>
                <a:ea typeface="Inter" pitchFamily="34" charset="-122"/>
                <a:cs typeface="Inter" pitchFamily="34" charset="-120"/>
              </a:rPr>
              <a:t>Local-First = Privacy-First</a:t>
            </a:r>
            <a:endParaRPr lang="en-US" sz="1100" dirty="0"/>
          </a:p>
        </p:txBody>
      </p:sp>
      <p:sp>
        <p:nvSpPr>
          <p:cNvPr id="18" name="Text 13"/>
          <p:cNvSpPr txBox="1"/>
          <p:nvPr/>
        </p:nvSpPr>
        <p:spPr>
          <a:xfrm>
            <a:off x="571500" y="1676095"/>
            <a:ext cx="11049610" cy="438912"/>
          </a:xfrm>
          <a:prstGeom prst="rect">
            <a:avLst/>
          </a:prstGeom>
          <a:noFill/>
          <a:ln/>
        </p:spPr>
        <p:txBody>
          <a:bodyPr wrap="square" lIns="0" tIns="0" rIns="0" bIns="0" rtlCol="0" anchor="ctr"/>
          <a:lstStyle/>
          <a:p>
            <a:pPr algn="l" indent="0" marL="0">
              <a:buNone/>
            </a:pPr>
            <a:r>
              <a:rPr lang="en-US" sz="3400" b="1" spc="-75" kern="0" dirty="0">
                <a:solidFill>
                  <a:srgbClr val="1E293B"/>
                </a:solidFill>
                <a:latin typeface="Inter" pitchFamily="34" charset="0"/>
                <a:ea typeface="Inter" pitchFamily="34" charset="-122"/>
                <a:cs typeface="Inter" pitchFamily="34" charset="-120"/>
              </a:rPr>
              <a:t>Critical </a:t>
            </a:r>
            <a:pPr algn="l" indent="0" marL="0">
              <a:buNone/>
            </a:pPr>
            <a:r>
              <a:rPr lang="en-US" sz="3400" b="1" spc="-75" kern="0" dirty="0">
                <a:solidFill>
                  <a:srgbClr val="7761F4"/>
                </a:solidFill>
                <a:latin typeface="Inter" pitchFamily="34" charset="0"/>
                <a:ea typeface="Inter" pitchFamily="34" charset="-122"/>
                <a:cs typeface="Inter" pitchFamily="34" charset="-120"/>
              </a:rPr>
              <a:t>Dependencies</a:t>
            </a:r>
            <a:endParaRPr lang="en-US" sz="3400" dirty="0"/>
          </a:p>
        </p:txBody>
      </p:sp>
      <p:sp>
        <p:nvSpPr>
          <p:cNvPr id="19" name="Text 14"/>
          <p:cNvSpPr txBox="1"/>
          <p:nvPr/>
        </p:nvSpPr>
        <p:spPr>
          <a:xfrm>
            <a:off x="571500" y="2229307"/>
            <a:ext cx="7620610" cy="257861"/>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Key packages forming the foundation of the local GenAI architecture.</a:t>
            </a:r>
            <a:endParaRPr lang="en-US" sz="1300" dirty="0"/>
          </a:p>
        </p:txBody>
      </p:sp>
      <p:sp>
        <p:nvSpPr>
          <p:cNvPr id="20" name="Shape 15"/>
          <p:cNvSpPr/>
          <p:nvPr/>
        </p:nvSpPr>
        <p:spPr>
          <a:xfrm>
            <a:off x="571500" y="1238098"/>
            <a:ext cx="3191256" cy="286207"/>
          </a:xfrm>
          <a:prstGeom prst="roundRect">
            <a:avLst>
              <a:gd name="adj" fmla="val 170394"/>
            </a:avLst>
          </a:prstGeom>
          <a:solidFill>
            <a:srgbClr val="6366F1">
              <a:alpha val="8000"/>
            </a:srgbClr>
          </a:solidFill>
          <a:ln w="12700">
            <a:solidFill>
              <a:srgbClr val="6366F1">
                <a:alpha val="20000"/>
              </a:srgbClr>
            </a:solidFill>
            <a:prstDash val="solid"/>
          </a:ln>
        </p:spPr>
      </p:sp>
      <p:sp>
        <p:nvSpPr>
          <p:cNvPr id="21" name="Text 16"/>
          <p:cNvSpPr txBox="1"/>
          <p:nvPr/>
        </p:nvSpPr>
        <p:spPr>
          <a:xfrm>
            <a:off x="571500" y="1238098"/>
            <a:ext cx="3191256"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6366F1"/>
                </a:solidFill>
                <a:latin typeface="Inter" pitchFamily="34" charset="0"/>
                <a:ea typeface="Inter" pitchFamily="34" charset="-122"/>
                <a:cs typeface="Inter" pitchFamily="34" charset="-120"/>
              </a:rPr>
              <a:t>Stage B — Environment &amp; Dependencies</a:t>
            </a:r>
            <a:endParaRPr lang="en-US" sz="900" dirty="0"/>
          </a:p>
        </p:txBody>
      </p:sp>
      <p:sp>
        <p:nvSpPr>
          <p:cNvPr id="22" name="Shape 17"/>
          <p:cNvSpPr/>
          <p:nvPr/>
        </p:nvSpPr>
        <p:spPr>
          <a:xfrm>
            <a:off x="800100" y="3181198"/>
            <a:ext cx="418795" cy="418795"/>
          </a:xfrm>
          <a:prstGeom prst="roundRect">
            <a:avLst>
              <a:gd name="adj" fmla="val 79397"/>
            </a:avLst>
          </a:prstGeom>
          <a:solidFill>
            <a:srgbClr val="6366F1">
              <a:alpha val="8000"/>
            </a:srgbClr>
          </a:solidFill>
          <a:ln w="12700">
            <a:solidFill>
              <a:srgbClr val="FFFFFF">
                <a:alpha val="0"/>
              </a:srgbClr>
            </a:solidFill>
            <a:prstDash val="solid"/>
          </a:ln>
        </p:spPr>
      </p:sp>
      <p:pic>
        <p:nvPicPr>
          <p:cNvPr id="23" name="Image 3" descr="preencoded.png">    </p:cNvPr>
          <p:cNvPicPr>
            <a:picLocks noChangeAspect="1"/>
          </p:cNvPicPr>
          <p:nvPr/>
        </p:nvPicPr>
        <p:blipFill>
          <a:blip r:embed="rId4"/>
          <a:srcRect l="-1282" r="-1282" t="0" b="0"/>
          <a:stretch/>
        </p:blipFill>
        <p:spPr>
          <a:xfrm>
            <a:off x="899770" y="3295498"/>
            <a:ext cx="219456" cy="190195"/>
          </a:xfrm>
          <a:prstGeom prst="rect">
            <a:avLst/>
          </a:prstGeom>
        </p:spPr>
      </p:pic>
      <p:sp>
        <p:nvSpPr>
          <p:cNvPr id="24" name="Text 18"/>
          <p:cNvSpPr txBox="1"/>
          <p:nvPr/>
        </p:nvSpPr>
        <p:spPr>
          <a:xfrm>
            <a:off x="1371600" y="3200400"/>
            <a:ext cx="2438705"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BM Plex Mono" pitchFamily="34" charset="0"/>
                <a:ea typeface="IBM Plex Mono" pitchFamily="34" charset="-122"/>
                <a:cs typeface="IBM Plex Mono" pitchFamily="34" charset="-120"/>
              </a:rPr>
              <a:t>langchain</a:t>
            </a:r>
            <a:endParaRPr lang="en-US" sz="1200" dirty="0"/>
          </a:p>
        </p:txBody>
      </p:sp>
      <p:sp>
        <p:nvSpPr>
          <p:cNvPr id="25" name="Text 19"/>
          <p:cNvSpPr txBox="1"/>
          <p:nvPr/>
        </p:nvSpPr>
        <p:spPr>
          <a:xfrm>
            <a:off x="1371600" y="3448202"/>
            <a:ext cx="2438705" cy="381305"/>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Orchestration primitives and LCEL execution flows.</a:t>
            </a:r>
            <a:endParaRPr lang="en-US" sz="1000" dirty="0"/>
          </a:p>
        </p:txBody>
      </p:sp>
      <p:sp>
        <p:nvSpPr>
          <p:cNvPr id="26" name="Shape 20"/>
          <p:cNvSpPr/>
          <p:nvPr/>
        </p:nvSpPr>
        <p:spPr>
          <a:xfrm>
            <a:off x="4610405" y="3181198"/>
            <a:ext cx="418795" cy="418795"/>
          </a:xfrm>
          <a:prstGeom prst="roundRect">
            <a:avLst>
              <a:gd name="adj" fmla="val 79397"/>
            </a:avLst>
          </a:prstGeom>
          <a:solidFill>
            <a:srgbClr val="6366F1">
              <a:alpha val="8000"/>
            </a:srgbClr>
          </a:solidFill>
          <a:ln w="12700">
            <a:solidFill>
              <a:srgbClr val="FFFFFF">
                <a:alpha val="0"/>
              </a:srgbClr>
            </a:solidFill>
            <a:prstDash val="solid"/>
          </a:ln>
        </p:spPr>
      </p:sp>
      <p:pic>
        <p:nvPicPr>
          <p:cNvPr id="27" name="Image 4" descr="preencoded.png">    </p:cNvPr>
          <p:cNvPicPr>
            <a:picLocks noChangeAspect="1"/>
          </p:cNvPicPr>
          <p:nvPr/>
        </p:nvPicPr>
        <p:blipFill>
          <a:blip r:embed="rId5"/>
          <a:srcRect l="-1648" r="-1648" t="0" b="0"/>
          <a:stretch/>
        </p:blipFill>
        <p:spPr>
          <a:xfrm>
            <a:off x="4733849" y="3295498"/>
            <a:ext cx="171907" cy="190195"/>
          </a:xfrm>
          <a:prstGeom prst="rect">
            <a:avLst/>
          </a:prstGeom>
        </p:spPr>
      </p:pic>
      <p:sp>
        <p:nvSpPr>
          <p:cNvPr id="28" name="Text 21"/>
          <p:cNvSpPr txBox="1"/>
          <p:nvPr/>
        </p:nvSpPr>
        <p:spPr>
          <a:xfrm>
            <a:off x="5181905" y="3200400"/>
            <a:ext cx="2438705"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BM Plex Mono" pitchFamily="34" charset="0"/>
                <a:ea typeface="IBM Plex Mono" pitchFamily="34" charset="-122"/>
                <a:cs typeface="IBM Plex Mono" pitchFamily="34" charset="-120"/>
              </a:rPr>
              <a:t>langchain-chroma</a:t>
            </a:r>
            <a:endParaRPr lang="en-US" sz="1200" dirty="0"/>
          </a:p>
        </p:txBody>
      </p:sp>
      <p:sp>
        <p:nvSpPr>
          <p:cNvPr id="29" name="Text 22"/>
          <p:cNvSpPr txBox="1"/>
          <p:nvPr/>
        </p:nvSpPr>
        <p:spPr>
          <a:xfrm>
            <a:off x="5181905" y="3448202"/>
            <a:ext cx="2438705" cy="381305"/>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Vector store integration for semantic memory.</a:t>
            </a:r>
            <a:endParaRPr lang="en-US" sz="1000" dirty="0"/>
          </a:p>
        </p:txBody>
      </p:sp>
      <p:sp>
        <p:nvSpPr>
          <p:cNvPr id="30" name="Shape 23"/>
          <p:cNvSpPr/>
          <p:nvPr/>
        </p:nvSpPr>
        <p:spPr>
          <a:xfrm>
            <a:off x="8419795" y="3181198"/>
            <a:ext cx="418795" cy="418795"/>
          </a:xfrm>
          <a:prstGeom prst="roundRect">
            <a:avLst>
              <a:gd name="adj" fmla="val 79397"/>
            </a:avLst>
          </a:prstGeom>
          <a:solidFill>
            <a:srgbClr val="6366F1">
              <a:alpha val="8000"/>
            </a:srgbClr>
          </a:solidFill>
          <a:ln w="12700">
            <a:solidFill>
              <a:srgbClr val="FFFFFF">
                <a:alpha val="0"/>
              </a:srgbClr>
            </a:solidFill>
            <a:prstDash val="solid"/>
          </a:ln>
        </p:spPr>
      </p:sp>
      <p:pic>
        <p:nvPicPr>
          <p:cNvPr id="31" name="Image 5" descr="preencoded.png">    </p:cNvPr>
          <p:cNvPicPr>
            <a:picLocks noChangeAspect="1"/>
          </p:cNvPicPr>
          <p:nvPr/>
        </p:nvPicPr>
        <p:blipFill>
          <a:blip r:embed="rId6"/>
          <a:srcRect l="0" r="0" t="0" b="0"/>
          <a:stretch/>
        </p:blipFill>
        <p:spPr>
          <a:xfrm>
            <a:off x="8510321" y="3295498"/>
            <a:ext cx="237744" cy="190195"/>
          </a:xfrm>
          <a:prstGeom prst="rect">
            <a:avLst/>
          </a:prstGeom>
        </p:spPr>
      </p:pic>
      <p:sp>
        <p:nvSpPr>
          <p:cNvPr id="32" name="Text 24"/>
          <p:cNvSpPr txBox="1"/>
          <p:nvPr/>
        </p:nvSpPr>
        <p:spPr>
          <a:xfrm>
            <a:off x="8991295" y="3200400"/>
            <a:ext cx="2438705"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BM Plex Mono" pitchFamily="34" charset="0"/>
                <a:ea typeface="IBM Plex Mono" pitchFamily="34" charset="-122"/>
                <a:cs typeface="IBM Plex Mono" pitchFamily="34" charset="-120"/>
              </a:rPr>
              <a:t>langchain-ollama</a:t>
            </a:r>
            <a:endParaRPr lang="en-US" sz="1200" dirty="0"/>
          </a:p>
        </p:txBody>
      </p:sp>
      <p:sp>
        <p:nvSpPr>
          <p:cNvPr id="33" name="Text 25"/>
          <p:cNvSpPr txBox="1"/>
          <p:nvPr/>
        </p:nvSpPr>
        <p:spPr>
          <a:xfrm>
            <a:off x="8991295" y="3448202"/>
            <a:ext cx="2438705" cy="381305"/>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Native wrappers for local model inference.</a:t>
            </a:r>
            <a:endParaRPr lang="en-US" sz="1000" dirty="0"/>
          </a:p>
        </p:txBody>
      </p:sp>
      <p:sp>
        <p:nvSpPr>
          <p:cNvPr id="34" name="Shape 26"/>
          <p:cNvSpPr/>
          <p:nvPr/>
        </p:nvSpPr>
        <p:spPr>
          <a:xfrm>
            <a:off x="800100" y="4610405"/>
            <a:ext cx="418795" cy="418795"/>
          </a:xfrm>
          <a:prstGeom prst="roundRect">
            <a:avLst>
              <a:gd name="adj" fmla="val 79397"/>
            </a:avLst>
          </a:prstGeom>
          <a:solidFill>
            <a:srgbClr val="6366F1">
              <a:alpha val="8000"/>
            </a:srgbClr>
          </a:solidFill>
          <a:ln w="12700">
            <a:solidFill>
              <a:srgbClr val="FFFFFF">
                <a:alpha val="0"/>
              </a:srgbClr>
            </a:solidFill>
            <a:prstDash val="solid"/>
          </a:ln>
        </p:spPr>
      </p:sp>
      <p:pic>
        <p:nvPicPr>
          <p:cNvPr id="35" name="Image 6" descr="preencoded.png">    </p:cNvPr>
          <p:cNvPicPr>
            <a:picLocks noChangeAspect="1"/>
          </p:cNvPicPr>
          <p:nvPr/>
        </p:nvPicPr>
        <p:blipFill>
          <a:blip r:embed="rId7"/>
          <a:srcRect l="-1282" r="-1282" t="0" b="0"/>
          <a:stretch/>
        </p:blipFill>
        <p:spPr>
          <a:xfrm>
            <a:off x="899770" y="4724705"/>
            <a:ext cx="219456" cy="190195"/>
          </a:xfrm>
          <a:prstGeom prst="rect">
            <a:avLst/>
          </a:prstGeom>
        </p:spPr>
      </p:pic>
      <p:sp>
        <p:nvSpPr>
          <p:cNvPr id="36" name="Text 27"/>
          <p:cNvSpPr txBox="1"/>
          <p:nvPr/>
        </p:nvSpPr>
        <p:spPr>
          <a:xfrm>
            <a:off x="1371600" y="4629607"/>
            <a:ext cx="2438705"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BM Plex Mono" pitchFamily="34" charset="0"/>
                <a:ea typeface="IBM Plex Mono" pitchFamily="34" charset="-122"/>
                <a:cs typeface="IBM Plex Mono" pitchFamily="34" charset="-120"/>
              </a:rPr>
              <a:t>streamlit</a:t>
            </a:r>
            <a:endParaRPr lang="en-US" sz="1200" dirty="0"/>
          </a:p>
        </p:txBody>
      </p:sp>
      <p:sp>
        <p:nvSpPr>
          <p:cNvPr id="37" name="Text 28"/>
          <p:cNvSpPr txBox="1"/>
          <p:nvPr/>
        </p:nvSpPr>
        <p:spPr>
          <a:xfrm>
            <a:off x="1371600" y="4876495"/>
            <a:ext cx="2438705" cy="381305"/>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Rapid UI layer construction and session state management.</a:t>
            </a:r>
            <a:endParaRPr lang="en-US" sz="1000" dirty="0"/>
          </a:p>
        </p:txBody>
      </p:sp>
      <p:sp>
        <p:nvSpPr>
          <p:cNvPr id="38" name="Shape 29"/>
          <p:cNvSpPr/>
          <p:nvPr/>
        </p:nvSpPr>
        <p:spPr>
          <a:xfrm>
            <a:off x="4610405" y="4610405"/>
            <a:ext cx="418795" cy="418795"/>
          </a:xfrm>
          <a:prstGeom prst="roundRect">
            <a:avLst>
              <a:gd name="adj" fmla="val 79397"/>
            </a:avLst>
          </a:prstGeom>
          <a:solidFill>
            <a:srgbClr val="6366F1">
              <a:alpha val="8000"/>
            </a:srgbClr>
          </a:solidFill>
          <a:ln w="12700">
            <a:solidFill>
              <a:srgbClr val="FFFFFF">
                <a:alpha val="0"/>
              </a:srgbClr>
            </a:solidFill>
            <a:prstDash val="solid"/>
          </a:ln>
        </p:spPr>
      </p:sp>
      <p:pic>
        <p:nvPicPr>
          <p:cNvPr id="39" name="Image 7" descr="preencoded.png">    </p:cNvPr>
          <p:cNvPicPr>
            <a:picLocks noChangeAspect="1"/>
          </p:cNvPicPr>
          <p:nvPr/>
        </p:nvPicPr>
        <p:blipFill>
          <a:blip r:embed="rId8"/>
          <a:srcRect l="0" r="0" t="0" b="0"/>
          <a:stretch/>
        </p:blipFill>
        <p:spPr>
          <a:xfrm>
            <a:off x="4724705" y="4724705"/>
            <a:ext cx="190195" cy="190195"/>
          </a:xfrm>
          <a:prstGeom prst="rect">
            <a:avLst/>
          </a:prstGeom>
        </p:spPr>
      </p:pic>
      <p:sp>
        <p:nvSpPr>
          <p:cNvPr id="40" name="Text 30"/>
          <p:cNvSpPr txBox="1"/>
          <p:nvPr/>
        </p:nvSpPr>
        <p:spPr>
          <a:xfrm>
            <a:off x="5181905" y="4629607"/>
            <a:ext cx="2438705"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BM Plex Mono" pitchFamily="34" charset="0"/>
                <a:ea typeface="IBM Plex Mono" pitchFamily="34" charset="-122"/>
                <a:cs typeface="IBM Plex Mono" pitchFamily="34" charset="-120"/>
              </a:rPr>
              <a:t>duckduckgo-search</a:t>
            </a:r>
            <a:endParaRPr lang="en-US" sz="1200" dirty="0"/>
          </a:p>
        </p:txBody>
      </p:sp>
      <p:sp>
        <p:nvSpPr>
          <p:cNvPr id="41" name="Text 31"/>
          <p:cNvSpPr txBox="1"/>
          <p:nvPr/>
        </p:nvSpPr>
        <p:spPr>
          <a:xfrm>
            <a:off x="5181905" y="4876495"/>
            <a:ext cx="2438705" cy="381305"/>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Lightweight web search tool for agent grounding.</a:t>
            </a:r>
            <a:endParaRPr lang="en-US" sz="1000" dirty="0"/>
          </a:p>
        </p:txBody>
      </p:sp>
      <p:sp>
        <p:nvSpPr>
          <p:cNvPr id="42" name="Shape 32"/>
          <p:cNvSpPr/>
          <p:nvPr/>
        </p:nvSpPr>
        <p:spPr>
          <a:xfrm>
            <a:off x="8419795" y="4610405"/>
            <a:ext cx="418795" cy="418795"/>
          </a:xfrm>
          <a:prstGeom prst="roundRect">
            <a:avLst>
              <a:gd name="adj" fmla="val 79397"/>
            </a:avLst>
          </a:prstGeom>
          <a:solidFill>
            <a:srgbClr val="6366F1">
              <a:alpha val="8000"/>
            </a:srgbClr>
          </a:solidFill>
          <a:ln w="12700">
            <a:solidFill>
              <a:srgbClr val="FFFFFF">
                <a:alpha val="0"/>
              </a:srgbClr>
            </a:solidFill>
            <a:prstDash val="solid"/>
          </a:ln>
        </p:spPr>
      </p:sp>
      <p:pic>
        <p:nvPicPr>
          <p:cNvPr id="43" name="Image 8" descr="preencoded.png">    </p:cNvPr>
          <p:cNvPicPr>
            <a:picLocks noChangeAspect="1"/>
          </p:cNvPicPr>
          <p:nvPr/>
        </p:nvPicPr>
        <p:blipFill>
          <a:blip r:embed="rId9"/>
          <a:srcRect l="-1648" r="-1648" t="0" b="0"/>
          <a:stretch/>
        </p:blipFill>
        <p:spPr>
          <a:xfrm>
            <a:off x="8544154" y="4724705"/>
            <a:ext cx="171907" cy="190195"/>
          </a:xfrm>
          <a:prstGeom prst="rect">
            <a:avLst/>
          </a:prstGeom>
        </p:spPr>
      </p:pic>
      <p:sp>
        <p:nvSpPr>
          <p:cNvPr id="44" name="Text 33"/>
          <p:cNvSpPr txBox="1"/>
          <p:nvPr/>
        </p:nvSpPr>
        <p:spPr>
          <a:xfrm>
            <a:off x="8991295" y="4629607"/>
            <a:ext cx="2438705"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BM Plex Mono" pitchFamily="34" charset="0"/>
                <a:ea typeface="IBM Plex Mono" pitchFamily="34" charset="-122"/>
                <a:cs typeface="IBM Plex Mono" pitchFamily="34" charset="-120"/>
              </a:rPr>
              <a:t>feedparser</a:t>
            </a:r>
            <a:endParaRPr lang="en-US" sz="1200" dirty="0"/>
          </a:p>
        </p:txBody>
      </p:sp>
      <p:sp>
        <p:nvSpPr>
          <p:cNvPr id="45" name="Text 34"/>
          <p:cNvSpPr txBox="1"/>
          <p:nvPr/>
        </p:nvSpPr>
        <p:spPr>
          <a:xfrm>
            <a:off x="8991295" y="4876495"/>
            <a:ext cx="2438705" cy="381305"/>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Ingestion tool for external RSS and Atom feeds.</a:t>
            </a:r>
            <a:endParaRPr lang="en-US" sz="1000" dirty="0"/>
          </a:p>
        </p:txBody>
      </p:sp>
      <p:pic>
        <p:nvPicPr>
          <p:cNvPr id="46" name="Image 9" descr="preencoded.png">    </p:cNvPr>
          <p:cNvPicPr>
            <a:picLocks noChangeAspect="1"/>
          </p:cNvPicPr>
          <p:nvPr/>
        </p:nvPicPr>
        <p:blipFill>
          <a:blip r:embed="rId10"/>
          <a:srcRect l="0" r="0" t="0" b="0"/>
          <a:stretch/>
        </p:blipFill>
        <p:spPr>
          <a:xfrm>
            <a:off x="918972" y="6143854"/>
            <a:ext cx="142646" cy="190195"/>
          </a:xfrm>
          <a:prstGeom prst="rect">
            <a:avLst/>
          </a:prstGeom>
        </p:spPr>
      </p:pic>
      <p:sp>
        <p:nvSpPr>
          <p:cNvPr id="47" name="Text 35"/>
          <p:cNvSpPr txBox="1"/>
          <p:nvPr/>
        </p:nvSpPr>
        <p:spPr>
          <a:xfrm>
            <a:off x="1276502" y="6148426"/>
            <a:ext cx="10401300" cy="181051"/>
          </a:xfrm>
          <a:prstGeom prst="rect">
            <a:avLst/>
          </a:prstGeom>
          <a:noFill/>
          <a:ln/>
        </p:spPr>
        <p:txBody>
          <a:bodyPr wrap="square" lIns="0" tIns="0" rIns="0" bIns="0" rtlCol="0" anchor="ctr"/>
          <a:lstStyle/>
          <a:p>
            <a:pPr algn="l" indent="0" marL="0">
              <a:buNone/>
            </a:pPr>
            <a:r>
              <a:rPr lang="en-US" sz="1100" b="1" dirty="0">
                <a:solidFill>
                  <a:srgbClr val="064E3B"/>
                </a:solidFill>
                <a:latin typeface="Inter" pitchFamily="34" charset="0"/>
                <a:ea typeface="Inter" pitchFamily="34" charset="-122"/>
                <a:cs typeface="Inter" pitchFamily="34" charset="-120"/>
              </a:rPr>
              <a:t>Pro Tip:</a:t>
            </a:r>
            <a:pPr algn="l" indent="0" marL="0">
              <a:buNone/>
            </a:pPr>
            <a:r>
              <a:rPr lang="en-US" sz="1100" dirty="0">
                <a:solidFill>
                  <a:srgbClr val="064E3B"/>
                </a:solidFill>
                <a:latin typeface="Inter" pitchFamily="34" charset="0"/>
                <a:ea typeface="Inter" pitchFamily="34" charset="-122"/>
                <a:cs typeface="Inter" pitchFamily="34" charset="-120"/>
              </a:rPr>
              <a:t> Always use a </a:t>
            </a:r>
            <a:pPr algn="l" indent="0" marL="0">
              <a:buNone/>
            </a:pPr>
            <a:r>
              <a:rPr lang="en-US" sz="1000" dirty="0">
                <a:solidFill>
                  <a:srgbClr val="065F46"/>
                </a:solidFill>
                <a:latin typeface="IBM Plex Mono" pitchFamily="34" charset="0"/>
                <a:ea typeface="IBM Plex Mono" pitchFamily="34" charset="-122"/>
                <a:cs typeface="IBM Plex Mono" pitchFamily="34" charset="-120"/>
              </a:rPr>
              <a:t>requirements.txt</a:t>
            </a:r>
            <a:pPr algn="l" indent="0" marL="0">
              <a:buNone/>
            </a:pPr>
            <a:r>
              <a:rPr lang="en-US" sz="1100" dirty="0">
                <a:solidFill>
                  <a:srgbClr val="064E3B"/>
                </a:solidFill>
                <a:latin typeface="Inter" pitchFamily="34" charset="0"/>
                <a:ea typeface="Inter" pitchFamily="34" charset="-122"/>
                <a:cs typeface="Inter" pitchFamily="34" charset="-120"/>
              </a:rPr>
              <a:t> with pinned versions (e.g., </a:t>
            </a:r>
            <a:pPr algn="l" indent="0" marL="0">
              <a:buNone/>
            </a:pPr>
            <a:r>
              <a:rPr lang="en-US" sz="1000" dirty="0">
                <a:solidFill>
                  <a:srgbClr val="065F46"/>
                </a:solidFill>
                <a:latin typeface="IBM Plex Mono" pitchFamily="34" charset="0"/>
                <a:ea typeface="IBM Plex Mono" pitchFamily="34" charset="-122"/>
                <a:cs typeface="IBM Plex Mono" pitchFamily="34" charset="-120"/>
              </a:rPr>
              <a:t>langchain==1.2.10</a:t>
            </a:r>
            <a:pPr algn="l" indent="0" marL="0">
              <a:buNone/>
            </a:pPr>
            <a:r>
              <a:rPr lang="en-US" sz="1100" dirty="0">
                <a:solidFill>
                  <a:srgbClr val="064E3B"/>
                </a:solidFill>
                <a:latin typeface="Inter" pitchFamily="34" charset="0"/>
                <a:ea typeface="Inter" pitchFamily="34" charset="-122"/>
                <a:cs typeface="Inter" pitchFamily="34" charset="-120"/>
              </a:rPr>
              <a:t>) to avoid breaking changes and environment drift. </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5" name="Shape 3"/>
          <p:cNvSpPr/>
          <p:nvPr/>
        </p:nvSpPr>
        <p:spPr>
          <a:xfrm>
            <a:off x="571500" y="2762402"/>
            <a:ext cx="11067898" cy="1733702"/>
          </a:xfrm>
          <a:prstGeom prst="roundRect">
            <a:avLst>
              <a:gd name="adj" fmla="val 6955"/>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6" name="Shape 4"/>
          <p:cNvSpPr/>
          <p:nvPr/>
        </p:nvSpPr>
        <p:spPr>
          <a:xfrm>
            <a:off x="571500" y="4858207"/>
            <a:ext cx="11067898" cy="1543507"/>
          </a:xfrm>
          <a:prstGeom prst="roundRect">
            <a:avLst>
              <a:gd name="adj" fmla="val 8777"/>
            </a:avLst>
          </a:prstGeom>
          <a:solidFill>
            <a:srgbClr val="6366F1">
              <a:alpha val="4000"/>
            </a:srgbClr>
          </a:solidFill>
          <a:ln w="12700">
            <a:solidFill>
              <a:srgbClr val="6366F1">
                <a:alpha val="15000"/>
              </a:srgbClr>
            </a:solidFill>
            <a:prstDash val="solid"/>
          </a:ln>
        </p:spPr>
      </p:sp>
      <p:pic>
        <p:nvPicPr>
          <p:cNvPr id="7" name="Image 0" descr="preencoded.png">    </p:cNvPr>
          <p:cNvPicPr>
            <a:picLocks noChangeAspect="1"/>
          </p:cNvPicPr>
          <p:nvPr/>
        </p:nvPicPr>
        <p:blipFill>
          <a:blip r:embed="rId1"/>
          <a:srcRect l="-43" r="-43" t="0" b="0"/>
          <a:stretch/>
        </p:blipFill>
        <p:spPr>
          <a:xfrm>
            <a:off x="580644" y="2771546"/>
            <a:ext cx="11030407" cy="466344"/>
          </a:xfrm>
          <a:prstGeom prst="rect">
            <a:avLst/>
          </a:prstGeom>
        </p:spPr>
      </p:pic>
      <p:sp>
        <p:nvSpPr>
          <p:cNvPr id="8" name="Shape 5"/>
          <p:cNvSpPr/>
          <p:nvPr/>
        </p:nvSpPr>
        <p:spPr>
          <a:xfrm>
            <a:off x="571500" y="409651"/>
            <a:ext cx="418795" cy="418795"/>
          </a:xfrm>
          <a:prstGeom prst="roundRect">
            <a:avLst>
              <a:gd name="adj" fmla="val 119095"/>
            </a:avLst>
          </a:prstGeom>
          <a:solidFill>
            <a:srgbClr val="6366F1"/>
          </a:solidFill>
          <a:ln w="12700">
            <a:solidFill>
              <a:srgbClr val="FFFFFF">
                <a:alpha val="0"/>
              </a:srgbClr>
            </a:solidFill>
            <a:prstDash val="solid"/>
          </a:ln>
        </p:spPr>
      </p:sp>
      <p:pic>
        <p:nvPicPr>
          <p:cNvPr id="9" name="Image 1" descr="preencoded.png">    </p:cNvPr>
          <p:cNvPicPr>
            <a:picLocks noChangeAspect="1"/>
          </p:cNvPicPr>
          <p:nvPr/>
        </p:nvPicPr>
        <p:blipFill>
          <a:blip r:embed="rId2"/>
          <a:srcRect l="0" r="0" t="0" b="0"/>
          <a:stretch/>
        </p:blipFill>
        <p:spPr>
          <a:xfrm>
            <a:off x="676656" y="514807"/>
            <a:ext cx="209398" cy="209398"/>
          </a:xfrm>
          <a:prstGeom prst="rect">
            <a:avLst/>
          </a:prstGeom>
        </p:spPr>
      </p:pic>
      <p:sp>
        <p:nvSpPr>
          <p:cNvPr id="10" name="Text 6"/>
          <p:cNvSpPr txBox="1"/>
          <p:nvPr/>
        </p:nvSpPr>
        <p:spPr>
          <a:xfrm>
            <a:off x="1143000" y="47183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11" name="Shape 7"/>
          <p:cNvSpPr/>
          <p:nvPr/>
        </p:nvSpPr>
        <p:spPr>
          <a:xfrm>
            <a:off x="9215323" y="424282"/>
            <a:ext cx="2409444" cy="390449"/>
          </a:xfrm>
          <a:prstGeom prst="roundRect">
            <a:avLst>
              <a:gd name="adj" fmla="val 234192"/>
            </a:avLst>
          </a:prstGeom>
          <a:solidFill>
            <a:srgbClr val="6366F1">
              <a:alpha val="8000"/>
            </a:srgbClr>
          </a:solidFill>
          <a:ln w="12700">
            <a:solidFill>
              <a:srgbClr val="6366F1">
                <a:alpha val="15000"/>
              </a:srgbClr>
            </a:solidFill>
            <a:prstDash val="solid"/>
          </a:ln>
        </p:spPr>
      </p:sp>
      <p:pic>
        <p:nvPicPr>
          <p:cNvPr id="12" name="Image 2" descr="preencoded.png">    </p:cNvPr>
          <p:cNvPicPr>
            <a:picLocks noChangeAspect="1"/>
          </p:cNvPicPr>
          <p:nvPr/>
        </p:nvPicPr>
        <p:blipFill>
          <a:blip r:embed="rId3"/>
          <a:srcRect l="0" r="0" t="0" b="0"/>
          <a:stretch/>
        </p:blipFill>
        <p:spPr>
          <a:xfrm>
            <a:off x="9415577" y="552298"/>
            <a:ext cx="133502" cy="133502"/>
          </a:xfrm>
          <a:prstGeom prst="rect">
            <a:avLst/>
          </a:prstGeom>
        </p:spPr>
      </p:pic>
      <p:sp>
        <p:nvSpPr>
          <p:cNvPr id="13" name="Text 8"/>
          <p:cNvSpPr txBox="1"/>
          <p:nvPr/>
        </p:nvSpPr>
        <p:spPr>
          <a:xfrm>
            <a:off x="9644177" y="424282"/>
            <a:ext cx="1781251" cy="391363"/>
          </a:xfrm>
          <a:prstGeom prst="rect">
            <a:avLst/>
          </a:prstGeom>
          <a:noFill/>
          <a:ln/>
        </p:spPr>
        <p:txBody>
          <a:bodyPr wrap="square" lIns="0" tIns="0" rIns="0" bIns="0" rtlCol="0" anchor="ctr"/>
          <a:lstStyle/>
          <a:p>
            <a:pPr algn="l" indent="0" marL="0">
              <a:buNone/>
            </a:pPr>
            <a:r>
              <a:rPr lang="en-US" sz="1100" dirty="0">
                <a:solidFill>
                  <a:srgbClr val="6366F1"/>
                </a:solidFill>
                <a:latin typeface="Inter" pitchFamily="34" charset="0"/>
                <a:ea typeface="Inter" pitchFamily="34" charset="-122"/>
                <a:cs typeface="Inter" pitchFamily="34" charset="-120"/>
              </a:rPr>
              <a:t>Local-First = Privacy-First</a:t>
            </a:r>
            <a:endParaRPr lang="en-US" sz="1100" dirty="0"/>
          </a:p>
        </p:txBody>
      </p:sp>
      <p:sp>
        <p:nvSpPr>
          <p:cNvPr id="14" name="Text 9"/>
          <p:cNvSpPr txBox="1"/>
          <p:nvPr/>
        </p:nvSpPr>
        <p:spPr>
          <a:xfrm>
            <a:off x="571500" y="1676095"/>
            <a:ext cx="11049610" cy="438912"/>
          </a:xfrm>
          <a:prstGeom prst="rect">
            <a:avLst/>
          </a:prstGeom>
          <a:noFill/>
          <a:ln/>
        </p:spPr>
        <p:txBody>
          <a:bodyPr wrap="square" lIns="0" tIns="0" rIns="0" bIns="0" rtlCol="0" anchor="ctr"/>
          <a:lstStyle/>
          <a:p>
            <a:pPr algn="l" indent="0" marL="0">
              <a:buNone/>
            </a:pPr>
            <a:r>
              <a:rPr lang="en-US" sz="3400" b="1" spc="-75" kern="0" dirty="0">
                <a:solidFill>
                  <a:srgbClr val="1E293B"/>
                </a:solidFill>
                <a:latin typeface="Inter" pitchFamily="34" charset="0"/>
                <a:ea typeface="Inter" pitchFamily="34" charset="-122"/>
                <a:cs typeface="Inter" pitchFamily="34" charset="-120"/>
              </a:rPr>
              <a:t>Model </a:t>
            </a:r>
            <a:pPr algn="l" indent="0" marL="0">
              <a:buNone/>
            </a:pPr>
            <a:r>
              <a:rPr lang="en-US" sz="3400" b="1" spc="-75" kern="0" dirty="0">
                <a:solidFill>
                  <a:srgbClr val="6366F1"/>
                </a:solidFill>
                <a:latin typeface="Inter" pitchFamily="34" charset="0"/>
                <a:ea typeface="Inter" pitchFamily="34" charset="-122"/>
                <a:cs typeface="Inter" pitchFamily="34" charset="-120"/>
              </a:rPr>
              <a:t>Contract</a:t>
            </a:r>
            <a:endParaRPr lang="en-US" sz="3400" dirty="0"/>
          </a:p>
        </p:txBody>
      </p:sp>
      <p:sp>
        <p:nvSpPr>
          <p:cNvPr id="15" name="Text 10"/>
          <p:cNvSpPr txBox="1"/>
          <p:nvPr/>
        </p:nvSpPr>
        <p:spPr>
          <a:xfrm>
            <a:off x="571500" y="2229307"/>
            <a:ext cx="7620610" cy="257861"/>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Defining the required LLM and embedding models before system bootstrap.</a:t>
            </a:r>
            <a:endParaRPr lang="en-US" sz="1300" dirty="0"/>
          </a:p>
        </p:txBody>
      </p:sp>
      <p:sp>
        <p:nvSpPr>
          <p:cNvPr id="16" name="Shape 11"/>
          <p:cNvSpPr/>
          <p:nvPr/>
        </p:nvSpPr>
        <p:spPr>
          <a:xfrm>
            <a:off x="571500" y="1238098"/>
            <a:ext cx="1867205" cy="286207"/>
          </a:xfrm>
          <a:prstGeom prst="roundRect">
            <a:avLst>
              <a:gd name="adj" fmla="val 170394"/>
            </a:avLst>
          </a:prstGeom>
          <a:solidFill>
            <a:srgbClr val="6366F1">
              <a:alpha val="8000"/>
            </a:srgbClr>
          </a:solidFill>
          <a:ln w="12700">
            <a:solidFill>
              <a:srgbClr val="6366F1">
                <a:alpha val="20000"/>
              </a:srgbClr>
            </a:solidFill>
            <a:prstDash val="solid"/>
          </a:ln>
        </p:spPr>
      </p:sp>
      <p:sp>
        <p:nvSpPr>
          <p:cNvPr id="17" name="Text 12"/>
          <p:cNvSpPr txBox="1"/>
          <p:nvPr/>
        </p:nvSpPr>
        <p:spPr>
          <a:xfrm>
            <a:off x="571500" y="1238098"/>
            <a:ext cx="1867205"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6366F1"/>
                </a:solidFill>
                <a:latin typeface="Inter" pitchFamily="34" charset="0"/>
                <a:ea typeface="Inter" pitchFamily="34" charset="-122"/>
                <a:cs typeface="Inter" pitchFamily="34" charset="-120"/>
              </a:rPr>
              <a:t>Critical Code Blocks</a:t>
            </a:r>
            <a:endParaRPr lang="en-US" sz="900" dirty="0"/>
          </a:p>
        </p:txBody>
      </p:sp>
      <p:pic>
        <p:nvPicPr>
          <p:cNvPr id="18" name="Image 3" descr="preencoded.png">    </p:cNvPr>
          <p:cNvPicPr>
            <a:picLocks noChangeAspect="1"/>
          </p:cNvPicPr>
          <p:nvPr/>
        </p:nvPicPr>
        <p:blipFill>
          <a:blip r:embed="rId4"/>
          <a:srcRect l="0" r="0" t="-43" b="-43"/>
          <a:stretch/>
        </p:blipFill>
        <p:spPr>
          <a:xfrm>
            <a:off x="847649" y="2924251"/>
            <a:ext cx="133502" cy="152705"/>
          </a:xfrm>
          <a:prstGeom prst="rect">
            <a:avLst/>
          </a:prstGeom>
        </p:spPr>
      </p:pic>
      <p:sp>
        <p:nvSpPr>
          <p:cNvPr id="19" name="Text 13"/>
          <p:cNvSpPr txBox="1"/>
          <p:nvPr/>
        </p:nvSpPr>
        <p:spPr>
          <a:xfrm>
            <a:off x="1104595" y="2885846"/>
            <a:ext cx="2857500" cy="228600"/>
          </a:xfrm>
          <a:prstGeom prst="rect">
            <a:avLst/>
          </a:prstGeom>
          <a:noFill/>
          <a:ln/>
        </p:spPr>
        <p:txBody>
          <a:bodyPr wrap="square" lIns="0" tIns="0" rIns="0" bIns="0" rtlCol="0" anchor="ctr"/>
          <a:lstStyle/>
          <a:p>
            <a:pPr algn="l" indent="0" marL="0">
              <a:buNone/>
            </a:pPr>
            <a:r>
              <a:rPr lang="en-US" sz="1000" dirty="0">
                <a:solidFill>
                  <a:srgbClr val="475569"/>
                </a:solidFill>
                <a:latin typeface="IBM Plex Mono" pitchFamily="34" charset="0"/>
                <a:ea typeface="IBM Plex Mono" pitchFamily="34" charset="-122"/>
                <a:cs typeface="IBM Plex Mono" pitchFamily="34" charset="-120"/>
              </a:rPr>
              <a:t>run_all.py</a:t>
            </a:r>
            <a:endParaRPr lang="en-US" sz="1000" dirty="0"/>
          </a:p>
        </p:txBody>
      </p:sp>
      <p:sp>
        <p:nvSpPr>
          <p:cNvPr id="20" name="Text 14"/>
          <p:cNvSpPr txBox="1"/>
          <p:nvPr/>
        </p:nvSpPr>
        <p:spPr>
          <a:xfrm>
            <a:off x="800100" y="3524098"/>
            <a:ext cx="10478110" cy="342900"/>
          </a:xfrm>
          <a:prstGeom prst="rect">
            <a:avLst/>
          </a:prstGeom>
          <a:noFill/>
          <a:ln/>
        </p:spPr>
        <p:txBody>
          <a:bodyPr wrap="square" lIns="0" tIns="0" rIns="0" bIns="0" rtlCol="0" anchor="ctr"/>
          <a:lstStyle/>
          <a:p>
            <a:pPr algn="l" indent="0" marL="0">
              <a:buNone/>
            </a:pPr>
            <a:r>
              <a:rPr lang="en-US" sz="1600" dirty="0">
                <a:solidFill>
                  <a:srgbClr val="94A3B8"/>
                </a:solidFill>
                <a:latin typeface="IBM Plex Mono" pitchFamily="34" charset="0"/>
                <a:ea typeface="IBM Plex Mono" pitchFamily="34" charset="-122"/>
                <a:cs typeface="IBM Plex Mono" pitchFamily="34" charset="-120"/>
              </a:rPr>
              <a:t>10</a:t>
            </a:r>
            <a:pPr algn="l" indent="0" marL="0">
              <a:buNone/>
            </a:pPr>
            <a:r>
              <a:rPr lang="en-US" sz="1600" b="1" dirty="0">
                <a:solidFill>
                  <a:srgbClr val="0284C7"/>
                </a:solidFill>
                <a:latin typeface="IBM Plex Mono" pitchFamily="34" charset="0"/>
                <a:ea typeface="IBM Plex Mono" pitchFamily="34" charset="-122"/>
                <a:cs typeface="IBM Plex Mono" pitchFamily="34" charset="-120"/>
              </a:rPr>
              <a:t>REQUIRED_MODELS</a:t>
            </a:r>
            <a:pPr algn="l" indent="0" marL="0">
              <a:buNone/>
            </a:pPr>
            <a:r>
              <a:rPr lang="en-US" sz="1600" dirty="0">
                <a:solidFill>
                  <a:srgbClr val="64748B"/>
                </a:solidFill>
                <a:latin typeface="IBM Plex Mono" pitchFamily="34" charset="0"/>
                <a:ea typeface="IBM Plex Mono" pitchFamily="34" charset="-122"/>
                <a:cs typeface="IBM Plex Mono" pitchFamily="34" charset="-120"/>
              </a:rPr>
              <a:t> = (</a:t>
            </a:r>
            <a:pPr algn="l" indent="0" marL="0">
              <a:buNone/>
            </a:pPr>
            <a:r>
              <a:rPr lang="en-US" sz="1600" dirty="0">
                <a:solidFill>
                  <a:srgbClr val="059669"/>
                </a:solidFill>
                <a:latin typeface="IBM Plex Mono" pitchFamily="34" charset="0"/>
                <a:ea typeface="IBM Plex Mono" pitchFamily="34" charset="-122"/>
                <a:cs typeface="IBM Plex Mono" pitchFamily="34" charset="-120"/>
              </a:rPr>
              <a:t>"llama3.2"</a:t>
            </a:r>
            <a:pPr algn="l" indent="0" marL="0">
              <a:buNone/>
            </a:pPr>
            <a:r>
              <a:rPr lang="en-US" sz="1600" dirty="0">
                <a:solidFill>
                  <a:srgbClr val="64748B"/>
                </a:solidFill>
                <a:latin typeface="IBM Plex Mono" pitchFamily="34" charset="0"/>
                <a:ea typeface="IBM Plex Mono" pitchFamily="34" charset="-122"/>
                <a:cs typeface="IBM Plex Mono" pitchFamily="34" charset="-120"/>
              </a:rPr>
              <a:t>, </a:t>
            </a:r>
            <a:pPr algn="l" indent="0" marL="0">
              <a:buNone/>
            </a:pPr>
            <a:r>
              <a:rPr lang="en-US" sz="1600" dirty="0">
                <a:solidFill>
                  <a:srgbClr val="059669"/>
                </a:solidFill>
                <a:latin typeface="IBM Plex Mono" pitchFamily="34" charset="0"/>
                <a:ea typeface="IBM Plex Mono" pitchFamily="34" charset="-122"/>
                <a:cs typeface="IBM Plex Mono" pitchFamily="34" charset="-120"/>
              </a:rPr>
              <a:t>"nomic-embed-text"</a:t>
            </a:r>
            <a:pPr algn="l" indent="0" marL="0">
              <a:buNone/>
            </a:pPr>
            <a:r>
              <a:rPr lang="en-US" sz="1600" dirty="0">
                <a:solidFill>
                  <a:srgbClr val="64748B"/>
                </a:solidFill>
                <a:latin typeface="IBM Plex Mono" pitchFamily="34" charset="0"/>
                <a:ea typeface="IBM Plex Mono" pitchFamily="34" charset="-122"/>
                <a:cs typeface="IBM Plex Mono" pitchFamily="34" charset="-120"/>
              </a:rPr>
              <a:t>)</a:t>
            </a:r>
            <a:endParaRPr lang="en-US" sz="1600" dirty="0"/>
          </a:p>
        </p:txBody>
      </p:sp>
      <p:sp>
        <p:nvSpPr>
          <p:cNvPr id="21" name="Shape 15"/>
          <p:cNvSpPr/>
          <p:nvPr/>
        </p:nvSpPr>
        <p:spPr>
          <a:xfrm>
            <a:off x="952805" y="5143500"/>
            <a:ext cx="418795" cy="418795"/>
          </a:xfrm>
          <a:prstGeom prst="roundRect">
            <a:avLst>
              <a:gd name="adj" fmla="val 79397"/>
            </a:avLst>
          </a:prstGeom>
          <a:solidFill>
            <a:srgbClr val="6366F1">
              <a:alpha val="10000"/>
            </a:srgbClr>
          </a:solidFill>
          <a:ln w="12700">
            <a:solidFill>
              <a:srgbClr val="FFFFFF">
                <a:alpha val="0"/>
              </a:srgbClr>
            </a:solidFill>
            <a:prstDash val="solid"/>
          </a:ln>
        </p:spPr>
      </p:sp>
      <p:pic>
        <p:nvPicPr>
          <p:cNvPr id="22" name="Image 4" descr="preencoded.png">    </p:cNvPr>
          <p:cNvPicPr>
            <a:picLocks noChangeAspect="1"/>
          </p:cNvPicPr>
          <p:nvPr/>
        </p:nvPicPr>
        <p:blipFill>
          <a:blip r:embed="rId5"/>
          <a:srcRect l="-1282" r="-1282" t="0" b="0"/>
          <a:stretch/>
        </p:blipFill>
        <p:spPr>
          <a:xfrm>
            <a:off x="1052474" y="5257800"/>
            <a:ext cx="219456" cy="190195"/>
          </a:xfrm>
          <a:prstGeom prst="rect">
            <a:avLst/>
          </a:prstGeom>
        </p:spPr>
      </p:pic>
      <p:sp>
        <p:nvSpPr>
          <p:cNvPr id="23" name="Text 16"/>
          <p:cNvSpPr txBox="1"/>
          <p:nvPr/>
        </p:nvSpPr>
        <p:spPr>
          <a:xfrm>
            <a:off x="1600200" y="5105095"/>
            <a:ext cx="9639605" cy="200254"/>
          </a:xfrm>
          <a:prstGeom prst="rect">
            <a:avLst/>
          </a:prstGeom>
          <a:noFill/>
          <a:ln/>
        </p:spPr>
        <p:txBody>
          <a:bodyPr wrap="square" lIns="0" tIns="0" rIns="0" bIns="0" rtlCol="0" anchor="ctr"/>
          <a:lstStyle/>
          <a:p>
            <a:pPr algn="l" indent="0" marL="0">
              <a:buNone/>
            </a:pPr>
            <a:r>
              <a:rPr lang="en-US" sz="1300" b="1" dirty="0">
                <a:solidFill>
                  <a:srgbClr val="1E293B"/>
                </a:solidFill>
                <a:latin typeface="Inter" pitchFamily="34" charset="0"/>
                <a:ea typeface="Inter" pitchFamily="34" charset="-122"/>
                <a:cs typeface="Inter" pitchFamily="34" charset="-120"/>
              </a:rPr>
              <a:t>Why Separate the Models?</a:t>
            </a:r>
            <a:endParaRPr lang="en-US" sz="1300" dirty="0"/>
          </a:p>
        </p:txBody>
      </p:sp>
      <p:sp>
        <p:nvSpPr>
          <p:cNvPr id="24" name="Text 17"/>
          <p:cNvSpPr txBox="1"/>
          <p:nvPr/>
        </p:nvSpPr>
        <p:spPr>
          <a:xfrm>
            <a:off x="1600200" y="5400446"/>
            <a:ext cx="9639605" cy="734263"/>
          </a:xfrm>
          <a:prstGeom prst="rect">
            <a:avLst/>
          </a:prstGeom>
          <a:noFill/>
          <a:ln/>
        </p:spPr>
        <p:txBody>
          <a:bodyPr wrap="square" lIns="0" tIns="0" rIns="0" bIns="0" rtlCol="0" anchor="ctr"/>
          <a:lstStyle/>
          <a:p>
            <a:pPr algn="l" indent="0" marL="0">
              <a:buNone/>
            </a:pPr>
            <a:r>
              <a:rPr lang="en-US" sz="1200" dirty="0">
                <a:solidFill>
                  <a:srgbClr val="475569"/>
                </a:solidFill>
                <a:latin typeface="Inter" pitchFamily="34" charset="0"/>
                <a:ea typeface="Inter" pitchFamily="34" charset="-122"/>
                <a:cs typeface="Inter" pitchFamily="34" charset="-120"/>
              </a:rPr>
              <a:t>By explicitly defining both the generation model (</a:t>
            </a:r>
            <a:pPr algn="l" indent="0" marL="0">
              <a:buNone/>
            </a:pPr>
            <a:r>
              <a:rPr lang="en-US" sz="1000" dirty="0">
                <a:solidFill>
                  <a:srgbClr val="4F46E5"/>
                </a:solidFill>
                <a:latin typeface="IBM Plex Mono" pitchFamily="34" charset="0"/>
                <a:ea typeface="IBM Plex Mono" pitchFamily="34" charset="-122"/>
                <a:cs typeface="IBM Plex Mono" pitchFamily="34" charset="-120"/>
              </a:rPr>
              <a:t>llama3.2</a:t>
            </a:r>
            <a:pPr algn="l" indent="0" marL="0">
              <a:buNone/>
            </a:pPr>
            <a:r>
              <a:rPr lang="en-US" sz="1200" dirty="0">
                <a:solidFill>
                  <a:srgbClr val="475569"/>
                </a:solidFill>
                <a:latin typeface="Inter" pitchFamily="34" charset="0"/>
                <a:ea typeface="Inter" pitchFamily="34" charset="-122"/>
                <a:cs typeface="Inter" pitchFamily="34" charset="-120"/>
              </a:rPr>
              <a:t>) and the embedding model (</a:t>
            </a:r>
            <a:pPr algn="l" indent="0" marL="0">
              <a:buNone/>
            </a:pPr>
            <a:r>
              <a:rPr lang="en-US" sz="1000" dirty="0">
                <a:solidFill>
                  <a:srgbClr val="4F46E5"/>
                </a:solidFill>
                <a:latin typeface="IBM Plex Mono" pitchFamily="34" charset="0"/>
                <a:ea typeface="IBM Plex Mono" pitchFamily="34" charset="-122"/>
                <a:cs typeface="IBM Plex Mono" pitchFamily="34" charset="-120"/>
              </a:rPr>
              <a:t>nomic-embed-text</a:t>
            </a:r>
            <a:pPr algn="l" indent="0" marL="0">
              <a:buNone/>
            </a:pPr>
            <a:r>
              <a:rPr lang="en-US" sz="1200" dirty="0">
                <a:solidFill>
                  <a:srgbClr val="475569"/>
                </a:solidFill>
                <a:latin typeface="Inter" pitchFamily="34" charset="0"/>
                <a:ea typeface="Inter" pitchFamily="34" charset="-122"/>
                <a:cs typeface="Inter" pitchFamily="34" charset="-120"/>
              </a:rPr>
              <a:t>) as a strict contract, the preflight process can validate that all required neural engines exist locally. This separation prevents cryptic runtime errors when attempting to vectorize documents or synthesize answers later in the application flow.</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5" name="Shape 3"/>
          <p:cNvSpPr/>
          <p:nvPr/>
        </p:nvSpPr>
        <p:spPr>
          <a:xfrm>
            <a:off x="571500" y="2190902"/>
            <a:ext cx="11067898" cy="3353105"/>
          </a:xfrm>
          <a:prstGeom prst="roundRect">
            <a:avLst>
              <a:gd name="adj" fmla="val 1859"/>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6" name="Shape 4"/>
          <p:cNvSpPr/>
          <p:nvPr/>
        </p:nvSpPr>
        <p:spPr>
          <a:xfrm>
            <a:off x="571500" y="5667451"/>
            <a:ext cx="11067898" cy="972007"/>
          </a:xfrm>
          <a:prstGeom prst="roundRect">
            <a:avLst>
              <a:gd name="adj" fmla="val 22135"/>
            </a:avLst>
          </a:prstGeom>
          <a:solidFill>
            <a:srgbClr val="EF4444">
              <a:alpha val="5000"/>
            </a:srgbClr>
          </a:solidFill>
          <a:ln w="12700">
            <a:solidFill>
              <a:srgbClr val="EF4444">
                <a:alpha val="15000"/>
              </a:srgbClr>
            </a:solidFill>
            <a:prstDash val="solid"/>
          </a:ln>
        </p:spPr>
      </p:sp>
      <p:pic>
        <p:nvPicPr>
          <p:cNvPr id="7" name="Image 0" descr="preencoded.png">    </p:cNvPr>
          <p:cNvPicPr>
            <a:picLocks noChangeAspect="1"/>
          </p:cNvPicPr>
          <p:nvPr/>
        </p:nvPicPr>
        <p:blipFill>
          <a:blip r:embed="rId1"/>
          <a:srcRect l="-12" r="-12" t="0" b="0"/>
          <a:stretch/>
        </p:blipFill>
        <p:spPr>
          <a:xfrm>
            <a:off x="580644" y="2200046"/>
            <a:ext cx="11030407" cy="390449"/>
          </a:xfrm>
          <a:prstGeom prst="rect">
            <a:avLst/>
          </a:prstGeom>
        </p:spPr>
      </p:pic>
      <p:sp>
        <p:nvSpPr>
          <p:cNvPr id="8" name="Shape 5"/>
          <p:cNvSpPr/>
          <p:nvPr/>
        </p:nvSpPr>
        <p:spPr>
          <a:xfrm>
            <a:off x="571500" y="409651"/>
            <a:ext cx="418795" cy="418795"/>
          </a:xfrm>
          <a:prstGeom prst="roundRect">
            <a:avLst>
              <a:gd name="adj" fmla="val 119095"/>
            </a:avLst>
          </a:prstGeom>
          <a:solidFill>
            <a:srgbClr val="6366F1"/>
          </a:solidFill>
          <a:ln w="12700">
            <a:solidFill>
              <a:srgbClr val="FFFFFF">
                <a:alpha val="0"/>
              </a:srgbClr>
            </a:solidFill>
            <a:prstDash val="solid"/>
          </a:ln>
        </p:spPr>
      </p:sp>
      <p:pic>
        <p:nvPicPr>
          <p:cNvPr id="9" name="Image 1" descr="preencoded.png">    </p:cNvPr>
          <p:cNvPicPr>
            <a:picLocks noChangeAspect="1"/>
          </p:cNvPicPr>
          <p:nvPr/>
        </p:nvPicPr>
        <p:blipFill>
          <a:blip r:embed="rId2"/>
          <a:srcRect l="0" r="0" t="0" b="0"/>
          <a:stretch/>
        </p:blipFill>
        <p:spPr>
          <a:xfrm>
            <a:off x="676656" y="514807"/>
            <a:ext cx="209398" cy="209398"/>
          </a:xfrm>
          <a:prstGeom prst="rect">
            <a:avLst/>
          </a:prstGeom>
        </p:spPr>
      </p:pic>
      <p:sp>
        <p:nvSpPr>
          <p:cNvPr id="10" name="Text 6"/>
          <p:cNvSpPr txBox="1"/>
          <p:nvPr/>
        </p:nvSpPr>
        <p:spPr>
          <a:xfrm>
            <a:off x="1143000" y="47183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11" name="Shape 7"/>
          <p:cNvSpPr/>
          <p:nvPr/>
        </p:nvSpPr>
        <p:spPr>
          <a:xfrm>
            <a:off x="9215323" y="424282"/>
            <a:ext cx="2409444" cy="390449"/>
          </a:xfrm>
          <a:prstGeom prst="roundRect">
            <a:avLst>
              <a:gd name="adj" fmla="val 234192"/>
            </a:avLst>
          </a:prstGeom>
          <a:solidFill>
            <a:srgbClr val="6366F1">
              <a:alpha val="8000"/>
            </a:srgbClr>
          </a:solidFill>
          <a:ln w="12700">
            <a:solidFill>
              <a:srgbClr val="6366F1">
                <a:alpha val="15000"/>
              </a:srgbClr>
            </a:solidFill>
            <a:prstDash val="solid"/>
          </a:ln>
        </p:spPr>
      </p:sp>
      <p:pic>
        <p:nvPicPr>
          <p:cNvPr id="12" name="Image 2" descr="preencoded.png">    </p:cNvPr>
          <p:cNvPicPr>
            <a:picLocks noChangeAspect="1"/>
          </p:cNvPicPr>
          <p:nvPr/>
        </p:nvPicPr>
        <p:blipFill>
          <a:blip r:embed="rId3"/>
          <a:srcRect l="0" r="0" t="0" b="0"/>
          <a:stretch/>
        </p:blipFill>
        <p:spPr>
          <a:xfrm>
            <a:off x="9415577" y="552298"/>
            <a:ext cx="133502" cy="133502"/>
          </a:xfrm>
          <a:prstGeom prst="rect">
            <a:avLst/>
          </a:prstGeom>
        </p:spPr>
      </p:pic>
      <p:sp>
        <p:nvSpPr>
          <p:cNvPr id="13" name="Text 8"/>
          <p:cNvSpPr txBox="1"/>
          <p:nvPr/>
        </p:nvSpPr>
        <p:spPr>
          <a:xfrm>
            <a:off x="9644177" y="424282"/>
            <a:ext cx="1781251" cy="391363"/>
          </a:xfrm>
          <a:prstGeom prst="rect">
            <a:avLst/>
          </a:prstGeom>
          <a:noFill/>
          <a:ln/>
        </p:spPr>
        <p:txBody>
          <a:bodyPr wrap="square" lIns="0" tIns="0" rIns="0" bIns="0" rtlCol="0" anchor="ctr"/>
          <a:lstStyle/>
          <a:p>
            <a:pPr algn="l" indent="0" marL="0">
              <a:buNone/>
            </a:pPr>
            <a:r>
              <a:rPr lang="en-US" sz="1100" dirty="0">
                <a:solidFill>
                  <a:srgbClr val="6366F1"/>
                </a:solidFill>
                <a:latin typeface="Inter" pitchFamily="34" charset="0"/>
                <a:ea typeface="Inter" pitchFamily="34" charset="-122"/>
                <a:cs typeface="Inter" pitchFamily="34" charset="-120"/>
              </a:rPr>
              <a:t>Local-First = Privacy-First</a:t>
            </a:r>
            <a:endParaRPr lang="en-US" sz="1100" dirty="0"/>
          </a:p>
        </p:txBody>
      </p:sp>
      <p:sp>
        <p:nvSpPr>
          <p:cNvPr id="14" name="Text 9"/>
          <p:cNvSpPr txBox="1"/>
          <p:nvPr/>
        </p:nvSpPr>
        <p:spPr>
          <a:xfrm>
            <a:off x="571500" y="1429207"/>
            <a:ext cx="11049610" cy="381305"/>
          </a:xfrm>
          <a:prstGeom prst="rect">
            <a:avLst/>
          </a:prstGeom>
          <a:noFill/>
          <a:ln/>
        </p:spPr>
        <p:txBody>
          <a:bodyPr wrap="square" lIns="0" tIns="0" rIns="0" bIns="0" rtlCol="0" anchor="ctr"/>
          <a:lstStyle/>
          <a:p>
            <a:pPr algn="l" indent="0" marL="0">
              <a:buNone/>
            </a:pPr>
            <a:r>
              <a:rPr lang="en-US" sz="3000" b="1" spc="-75" kern="0" dirty="0">
                <a:solidFill>
                  <a:srgbClr val="1E293B"/>
                </a:solidFill>
                <a:latin typeface="Inter" pitchFamily="34" charset="0"/>
                <a:ea typeface="Inter" pitchFamily="34" charset="-122"/>
                <a:cs typeface="Inter" pitchFamily="34" charset="-120"/>
              </a:rPr>
              <a:t>Preflight </a:t>
            </a:r>
            <a:pPr algn="l" indent="0" marL="0">
              <a:buNone/>
            </a:pPr>
            <a:r>
              <a:rPr lang="en-US" sz="3000" b="1" spc="-75" kern="0" dirty="0">
                <a:solidFill>
                  <a:srgbClr val="6366F1"/>
                </a:solidFill>
                <a:latin typeface="Inter" pitchFamily="34" charset="0"/>
                <a:ea typeface="Inter" pitchFamily="34" charset="-122"/>
                <a:cs typeface="Inter" pitchFamily="34" charset="-120"/>
              </a:rPr>
              <a:t>Safety Check</a:t>
            </a:r>
            <a:endParaRPr lang="en-US" sz="3000" dirty="0"/>
          </a:p>
        </p:txBody>
      </p:sp>
      <p:sp>
        <p:nvSpPr>
          <p:cNvPr id="15" name="Text 10"/>
          <p:cNvSpPr txBox="1"/>
          <p:nvPr/>
        </p:nvSpPr>
        <p:spPr>
          <a:xfrm>
            <a:off x="571500" y="1886407"/>
            <a:ext cx="7620610" cy="228600"/>
          </a:xfrm>
          <a:prstGeom prst="rect">
            <a:avLst/>
          </a:prstGeom>
          <a:noFill/>
          <a:ln/>
        </p:spPr>
        <p:txBody>
          <a:bodyPr wrap="square" lIns="0" tIns="0" rIns="0" bIns="0" rtlCol="0" anchor="ctr"/>
          <a:lstStyle/>
          <a:p>
            <a:pPr algn="l" indent="0" marL="0">
              <a:buNone/>
            </a:pPr>
            <a:r>
              <a:rPr lang="en-US" sz="1200" dirty="0">
                <a:solidFill>
                  <a:srgbClr val="64748B"/>
                </a:solidFill>
                <a:latin typeface="Inter" pitchFamily="34" charset="0"/>
                <a:ea typeface="Inter" pitchFamily="34" charset="-122"/>
                <a:cs typeface="Inter" pitchFamily="34" charset="-120"/>
              </a:rPr>
              <a:t>Validating Ollama CLI and required models before launching the application.</a:t>
            </a:r>
            <a:endParaRPr lang="en-US" sz="1200" dirty="0"/>
          </a:p>
        </p:txBody>
      </p:sp>
      <p:sp>
        <p:nvSpPr>
          <p:cNvPr id="16" name="Shape 11"/>
          <p:cNvSpPr/>
          <p:nvPr/>
        </p:nvSpPr>
        <p:spPr>
          <a:xfrm>
            <a:off x="571500" y="1047902"/>
            <a:ext cx="1867205" cy="286207"/>
          </a:xfrm>
          <a:prstGeom prst="roundRect">
            <a:avLst>
              <a:gd name="adj" fmla="val 170394"/>
            </a:avLst>
          </a:prstGeom>
          <a:solidFill>
            <a:srgbClr val="6366F1">
              <a:alpha val="8000"/>
            </a:srgbClr>
          </a:solidFill>
          <a:ln w="12700">
            <a:solidFill>
              <a:srgbClr val="6366F1">
                <a:alpha val="20000"/>
              </a:srgbClr>
            </a:solidFill>
            <a:prstDash val="solid"/>
          </a:ln>
        </p:spPr>
      </p:sp>
      <p:sp>
        <p:nvSpPr>
          <p:cNvPr id="17" name="Text 12"/>
          <p:cNvSpPr txBox="1"/>
          <p:nvPr/>
        </p:nvSpPr>
        <p:spPr>
          <a:xfrm>
            <a:off x="571500" y="1047902"/>
            <a:ext cx="1867205"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6366F1"/>
                </a:solidFill>
                <a:latin typeface="Inter" pitchFamily="34" charset="0"/>
                <a:ea typeface="Inter" pitchFamily="34" charset="-122"/>
                <a:cs typeface="Inter" pitchFamily="34" charset="-120"/>
              </a:rPr>
              <a:t>Critical Code Blocks</a:t>
            </a:r>
            <a:endParaRPr lang="en-US" sz="900" dirty="0"/>
          </a:p>
        </p:txBody>
      </p:sp>
      <p:pic>
        <p:nvPicPr>
          <p:cNvPr id="18" name="Image 3" descr="preencoded.png">    </p:cNvPr>
          <p:cNvPicPr>
            <a:picLocks noChangeAspect="1"/>
          </p:cNvPicPr>
          <p:nvPr/>
        </p:nvPicPr>
        <p:blipFill>
          <a:blip r:embed="rId4"/>
          <a:srcRect l="0" r="0" t="-1100" b="-1100"/>
          <a:stretch/>
        </p:blipFill>
        <p:spPr>
          <a:xfrm>
            <a:off x="800100" y="2314346"/>
            <a:ext cx="114300" cy="133502"/>
          </a:xfrm>
          <a:prstGeom prst="rect">
            <a:avLst/>
          </a:prstGeom>
        </p:spPr>
      </p:pic>
      <p:sp>
        <p:nvSpPr>
          <p:cNvPr id="19" name="Text 13"/>
          <p:cNvSpPr txBox="1"/>
          <p:nvPr/>
        </p:nvSpPr>
        <p:spPr>
          <a:xfrm>
            <a:off x="1047902" y="2286000"/>
            <a:ext cx="2857500" cy="191110"/>
          </a:xfrm>
          <a:prstGeom prst="rect">
            <a:avLst/>
          </a:prstGeom>
          <a:noFill/>
          <a:ln/>
        </p:spPr>
        <p:txBody>
          <a:bodyPr wrap="square" lIns="0" tIns="0" rIns="0" bIns="0" rtlCol="0" anchor="ctr"/>
          <a:lstStyle/>
          <a:p>
            <a:pPr algn="l" indent="0" marL="0">
              <a:buNone/>
            </a:pPr>
            <a:r>
              <a:rPr lang="en-US" sz="900" dirty="0">
                <a:solidFill>
                  <a:srgbClr val="475569"/>
                </a:solidFill>
                <a:latin typeface="IBM Plex Mono" pitchFamily="34" charset="0"/>
                <a:ea typeface="IBM Plex Mono" pitchFamily="34" charset="-122"/>
                <a:cs typeface="IBM Plex Mono" pitchFamily="34" charset="-120"/>
              </a:rPr>
              <a:t>run_all.py</a:t>
            </a:r>
            <a:endParaRPr lang="en-US" sz="900" dirty="0"/>
          </a:p>
        </p:txBody>
      </p:sp>
      <p:sp>
        <p:nvSpPr>
          <p:cNvPr id="20" name="Text 14"/>
          <p:cNvSpPr txBox="1"/>
          <p:nvPr/>
        </p:nvSpPr>
        <p:spPr>
          <a:xfrm>
            <a:off x="761695" y="2714854"/>
            <a:ext cx="11163910" cy="181051"/>
          </a:xfrm>
          <a:prstGeom prst="rect">
            <a:avLst/>
          </a:prstGeom>
          <a:noFill/>
          <a:ln/>
        </p:spPr>
        <p:txBody>
          <a:bodyPr wrap="square" lIns="0" tIns="0" rIns="0" bIns="0" rtlCol="0" anchor="ctr"/>
          <a:lstStyle/>
          <a:p>
            <a:pPr algn="l" indent="0" marL="0">
              <a:buNone/>
            </a:pPr>
            <a:r>
              <a:rPr lang="en-US" sz="900" dirty="0">
                <a:solidFill>
                  <a:srgbClr val="94A3B8"/>
                </a:solidFill>
                <a:latin typeface="IBM Plex Mono" pitchFamily="34" charset="0"/>
                <a:ea typeface="IBM Plex Mono" pitchFamily="34" charset="-122"/>
                <a:cs typeface="IBM Plex Mono" pitchFamily="34" charset="-120"/>
              </a:rPr>
              <a:t>17</a:t>
            </a:r>
            <a:pPr algn="l" indent="0" marL="0">
              <a:buNone/>
            </a:pPr>
            <a:r>
              <a:rPr lang="en-US" sz="900" b="1" dirty="0">
                <a:solidFill>
                  <a:srgbClr val="0EA5E9"/>
                </a:solidFill>
                <a:latin typeface="IBM Plex Mono" pitchFamily="34" charset="0"/>
                <a:ea typeface="IBM Plex Mono" pitchFamily="34" charset="-122"/>
                <a:cs typeface="IBM Plex Mono" pitchFamily="34" charset="-120"/>
              </a:rPr>
              <a:t>def</a:t>
            </a:r>
            <a:pPr algn="l" indent="0" marL="0">
              <a:buNone/>
            </a:pPr>
            <a:r>
              <a:rPr lang="en-US" sz="900" b="1" dirty="0">
                <a:solidFill>
                  <a:srgbClr val="6366F1"/>
                </a:solidFill>
                <a:latin typeface="IBM Plex Mono" pitchFamily="34" charset="0"/>
                <a:ea typeface="IBM Plex Mono" pitchFamily="34" charset="-122"/>
                <a:cs typeface="IBM Plex Mono" pitchFamily="34" charset="-120"/>
              </a:rPr>
              <a:t>check_ollama_available</a:t>
            </a:r>
            <a:pPr algn="l" indent="0" marL="0">
              <a:buNone/>
            </a:pPr>
            <a:r>
              <a:rPr lang="en-US" sz="900" dirty="0">
                <a:solidFill>
                  <a:srgbClr val="1E293B"/>
                </a:solidFill>
                <a:latin typeface="IBM Plex Mono" pitchFamily="34" charset="0"/>
                <a:ea typeface="IBM Plex Mono" pitchFamily="34" charset="-122"/>
                <a:cs typeface="IBM Plex Mono" pitchFamily="34" charset="-120"/>
              </a:rPr>
              <a:t>() -&gt; </a:t>
            </a:r>
            <a:pPr algn="l" indent="0" marL="0">
              <a:buNone/>
            </a:pPr>
            <a:r>
              <a:rPr lang="en-US" sz="900" dirty="0">
                <a:solidFill>
                  <a:srgbClr val="0EA5E9"/>
                </a:solidFill>
                <a:latin typeface="IBM Plex Mono" pitchFamily="34" charset="0"/>
                <a:ea typeface="IBM Plex Mono" pitchFamily="34" charset="-122"/>
                <a:cs typeface="IBM Plex Mono" pitchFamily="34" charset="-120"/>
              </a:rPr>
              <a:t>tuple</a:t>
            </a:r>
            <a:pPr algn="l" indent="0" marL="0">
              <a:buNone/>
            </a:pPr>
            <a:r>
              <a:rPr lang="en-US" sz="900" dirty="0">
                <a:solidFill>
                  <a:srgbClr val="1E293B"/>
                </a:solidFill>
                <a:latin typeface="IBM Plex Mono" pitchFamily="34" charset="0"/>
                <a:ea typeface="IBM Plex Mono" pitchFamily="34" charset="-122"/>
                <a:cs typeface="IBM Plex Mono" pitchFamily="34" charset="-120"/>
              </a:rPr>
              <a:t>[</a:t>
            </a:r>
            <a:pPr algn="l" indent="0" marL="0">
              <a:buNone/>
            </a:pPr>
            <a:r>
              <a:rPr lang="en-US" sz="900" dirty="0">
                <a:solidFill>
                  <a:srgbClr val="0EA5E9"/>
                </a:solidFill>
                <a:latin typeface="IBM Plex Mono" pitchFamily="34" charset="0"/>
                <a:ea typeface="IBM Plex Mono" pitchFamily="34" charset="-122"/>
                <a:cs typeface="IBM Plex Mono" pitchFamily="34" charset="-120"/>
              </a:rPr>
              <a:t>bool</a:t>
            </a:r>
            <a:pPr algn="l" indent="0" marL="0">
              <a:buNone/>
            </a:pPr>
            <a:r>
              <a:rPr lang="en-US" sz="900" dirty="0">
                <a:solidFill>
                  <a:srgbClr val="1E293B"/>
                </a:solidFill>
                <a:latin typeface="IBM Plex Mono" pitchFamily="34" charset="0"/>
                <a:ea typeface="IBM Plex Mono" pitchFamily="34" charset="-122"/>
                <a:cs typeface="IBM Plex Mono" pitchFamily="34" charset="-120"/>
              </a:rPr>
              <a:t>, </a:t>
            </a:r>
            <a:pPr algn="l" indent="0" marL="0">
              <a:buNone/>
            </a:pPr>
            <a:r>
              <a:rPr lang="en-US" sz="900" dirty="0">
                <a:solidFill>
                  <a:srgbClr val="0EA5E9"/>
                </a:solidFill>
                <a:latin typeface="IBM Plex Mono" pitchFamily="34" charset="0"/>
                <a:ea typeface="IBM Plex Mono" pitchFamily="34" charset="-122"/>
                <a:cs typeface="IBM Plex Mono" pitchFamily="34" charset="-120"/>
              </a:rPr>
              <a:t>str</a:t>
            </a:r>
            <a:pPr algn="l" indent="0" marL="0">
              <a:buNone/>
            </a:pPr>
            <a:r>
              <a:rPr lang="en-US" sz="900" dirty="0">
                <a:solidFill>
                  <a:srgbClr val="1E293B"/>
                </a:solidFill>
                <a:latin typeface="IBM Plex Mono" pitchFamily="34" charset="0"/>
                <a:ea typeface="IBM Plex Mono" pitchFamily="34" charset="-122"/>
                <a:cs typeface="IBM Plex Mono" pitchFamily="34" charset="-120"/>
              </a:rPr>
              <a:t>]: </a:t>
            </a:r>
            <a:pPr algn="l" indent="0" marL="0">
              <a:buNone/>
            </a:pPr>
            <a:r>
              <a:rPr lang="en-US" sz="900" dirty="0">
                <a:solidFill>
                  <a:srgbClr val="94A3B8"/>
                </a:solidFill>
                <a:latin typeface="IBM Plex Mono" pitchFamily="34" charset="0"/>
                <a:ea typeface="IBM Plex Mono" pitchFamily="34" charset="-122"/>
                <a:cs typeface="IBM Plex Mono" pitchFamily="34" charset="-120"/>
              </a:rPr>
              <a:t>18</a:t>
            </a:r>
            <a:pPr algn="l" indent="0" marL="0">
              <a:buNone/>
            </a:pPr>
            <a:r>
              <a:rPr lang="en-US" sz="900" b="1" dirty="0">
                <a:solidFill>
                  <a:srgbClr val="D946EF"/>
                </a:solidFill>
                <a:latin typeface="IBM Plex Mono" pitchFamily="34" charset="0"/>
                <a:ea typeface="IBM Plex Mono" pitchFamily="34" charset="-122"/>
                <a:cs typeface="IBM Plex Mono" pitchFamily="34" charset="-120"/>
              </a:rPr>
              <a:t>if</a:t>
            </a:r>
            <a:pPr algn="l" indent="0" marL="0">
              <a:buNone/>
            </a:pPr>
            <a:r>
              <a:rPr lang="en-US" sz="900" dirty="0">
                <a:solidFill>
                  <a:srgbClr val="1E293B"/>
                </a:solidFill>
                <a:latin typeface="IBM Plex Mono" pitchFamily="34" charset="0"/>
                <a:ea typeface="IBM Plex Mono" pitchFamily="34" charset="-122"/>
                <a:cs typeface="IBM Plex Mono" pitchFamily="34" charset="-120"/>
              </a:rPr>
              <a:t> shutil.which(</a:t>
            </a:r>
            <a:pPr algn="l" indent="0" marL="0">
              <a:buNone/>
            </a:pPr>
            <a:r>
              <a:rPr lang="en-US" sz="900" dirty="0">
                <a:solidFill>
                  <a:srgbClr val="059669"/>
                </a:solidFill>
                <a:latin typeface="IBM Plex Mono" pitchFamily="34" charset="0"/>
                <a:ea typeface="IBM Plex Mono" pitchFamily="34" charset="-122"/>
                <a:cs typeface="IBM Plex Mono" pitchFamily="34" charset="-120"/>
              </a:rPr>
              <a:t>"ollama"</a:t>
            </a:r>
            <a:pPr algn="l" indent="0" marL="0">
              <a:buNone/>
            </a:pPr>
            <a:r>
              <a:rPr lang="en-US" sz="900" dirty="0">
                <a:solidFill>
                  <a:srgbClr val="1E293B"/>
                </a:solidFill>
                <a:latin typeface="IBM Plex Mono" pitchFamily="34" charset="0"/>
                <a:ea typeface="IBM Plex Mono" pitchFamily="34" charset="-122"/>
                <a:cs typeface="IBM Plex Mono" pitchFamily="34" charset="-120"/>
              </a:rPr>
              <a:t>) </a:t>
            </a:r>
            <a:pPr algn="l" indent="0" marL="0">
              <a:buNone/>
            </a:pPr>
            <a:r>
              <a:rPr lang="en-US" sz="900" b="1" dirty="0">
                <a:solidFill>
                  <a:srgbClr val="D946EF"/>
                </a:solidFill>
                <a:latin typeface="IBM Plex Mono" pitchFamily="34" charset="0"/>
                <a:ea typeface="IBM Plex Mono" pitchFamily="34" charset="-122"/>
                <a:cs typeface="IBM Plex Mono" pitchFamily="34" charset="-120"/>
              </a:rPr>
              <a:t>is None</a:t>
            </a:r>
            <a:pPr algn="l" indent="0" marL="0">
              <a:buNone/>
            </a:pPr>
            <a:r>
              <a:rPr lang="en-US" sz="900" dirty="0">
                <a:solidFill>
                  <a:srgbClr val="1E293B"/>
                </a:solidFill>
                <a:latin typeface="IBM Plex Mono" pitchFamily="34" charset="0"/>
                <a:ea typeface="IBM Plex Mono" pitchFamily="34" charset="-122"/>
                <a:cs typeface="IBM Plex Mono" pitchFamily="34" charset="-120"/>
              </a:rPr>
              <a:t>: </a:t>
            </a:r>
            <a:pPr algn="l" indent="0" marL="0">
              <a:buNone/>
            </a:pPr>
            <a:r>
              <a:rPr lang="en-US" sz="900" dirty="0">
                <a:solidFill>
                  <a:srgbClr val="94A3B8"/>
                </a:solidFill>
                <a:latin typeface="IBM Plex Mono" pitchFamily="34" charset="0"/>
                <a:ea typeface="IBM Plex Mono" pitchFamily="34" charset="-122"/>
                <a:cs typeface="IBM Plex Mono" pitchFamily="34" charset="-120"/>
              </a:rPr>
              <a:t>19</a:t>
            </a:r>
            <a:pPr algn="l" indent="0" marL="0">
              <a:buNone/>
            </a:pPr>
            <a:r>
              <a:rPr lang="en-US" sz="900" b="1" dirty="0">
                <a:solidFill>
                  <a:srgbClr val="D946EF"/>
                </a:solidFill>
                <a:latin typeface="IBM Plex Mono" pitchFamily="34" charset="0"/>
                <a:ea typeface="IBM Plex Mono" pitchFamily="34" charset="-122"/>
                <a:cs typeface="IBM Plex Mono" pitchFamily="34" charset="-120"/>
              </a:rPr>
              <a:t>return False</a:t>
            </a:r>
            <a:pPr algn="l" indent="0" marL="0">
              <a:buNone/>
            </a:pPr>
            <a:r>
              <a:rPr lang="en-US" sz="900" dirty="0">
                <a:solidFill>
                  <a:srgbClr val="1E293B"/>
                </a:solidFill>
                <a:latin typeface="IBM Plex Mono" pitchFamily="34" charset="0"/>
                <a:ea typeface="IBM Plex Mono" pitchFamily="34" charset="-122"/>
                <a:cs typeface="IBM Plex Mono" pitchFamily="34" charset="-120"/>
              </a:rPr>
              <a:t>, </a:t>
            </a:r>
            <a:pPr algn="l" indent="0" marL="0">
              <a:buNone/>
            </a:pPr>
            <a:r>
              <a:rPr lang="en-US" sz="900" dirty="0">
                <a:solidFill>
                  <a:srgbClr val="059669"/>
                </a:solidFill>
                <a:latin typeface="IBM Plex Mono" pitchFamily="34" charset="0"/>
                <a:ea typeface="IBM Plex Mono" pitchFamily="34" charset="-122"/>
                <a:cs typeface="IBM Plex Mono" pitchFamily="34" charset="-120"/>
              </a:rPr>
              <a:t>"Ollama CLI was not found on PATH. Install Ollama before starting."</a:t>
            </a:r>
            <a:pPr algn="l" indent="0" marL="0">
              <a:buNone/>
            </a:pPr>
            <a:r>
              <a:rPr lang="en-US" sz="900" dirty="0">
                <a:solidFill>
                  <a:srgbClr val="94A3B8"/>
                </a:solidFill>
                <a:latin typeface="IBM Plex Mono" pitchFamily="34" charset="0"/>
                <a:ea typeface="IBM Plex Mono" pitchFamily="34" charset="-122"/>
                <a:cs typeface="IBM Plex Mono" pitchFamily="34" charset="-120"/>
              </a:rPr>
              <a:t>20</a:t>
            </a:r>
            <a:pPr algn="l" indent="0" marL="0">
              <a:buNone/>
            </a:pPr>
            <a:r>
              <a:rPr lang="en-US" sz="900" dirty="0">
                <a:solidFill>
                  <a:srgbClr val="94A3B8"/>
                </a:solidFill>
                <a:latin typeface="IBM Plex Mono" pitchFamily="34" charset="0"/>
                <a:ea typeface="IBM Plex Mono" pitchFamily="34" charset="-122"/>
                <a:cs typeface="IBM Plex Mono" pitchFamily="34" charset="-120"/>
              </a:rPr>
              <a:t>21</a:t>
            </a:r>
            <a:pPr algn="l" indent="0" marL="0">
              <a:buNone/>
            </a:pPr>
            <a:r>
              <a:rPr lang="en-US" sz="900" dirty="0">
                <a:solidFill>
                  <a:srgbClr val="1E293B"/>
                </a:solidFill>
                <a:latin typeface="IBM Plex Mono" pitchFamily="34" charset="0"/>
                <a:ea typeface="IBM Plex Mono" pitchFamily="34" charset="-122"/>
                <a:cs typeface="IBM Plex Mono" pitchFamily="34" charset="-120"/>
              </a:rPr>
              <a:t> probe = run_command([</a:t>
            </a:r>
            <a:pPr algn="l" indent="0" marL="0">
              <a:buNone/>
            </a:pPr>
            <a:r>
              <a:rPr lang="en-US" sz="900" dirty="0">
                <a:solidFill>
                  <a:srgbClr val="059669"/>
                </a:solidFill>
                <a:latin typeface="IBM Plex Mono" pitchFamily="34" charset="0"/>
                <a:ea typeface="IBM Plex Mono" pitchFamily="34" charset="-122"/>
                <a:cs typeface="IBM Plex Mono" pitchFamily="34" charset="-120"/>
              </a:rPr>
              <a:t>"ollama"</a:t>
            </a:r>
            <a:pPr algn="l" indent="0" marL="0">
              <a:buNone/>
            </a:pPr>
            <a:r>
              <a:rPr lang="en-US" sz="900" dirty="0">
                <a:solidFill>
                  <a:srgbClr val="1E293B"/>
                </a:solidFill>
                <a:latin typeface="IBM Plex Mono" pitchFamily="34" charset="0"/>
                <a:ea typeface="IBM Plex Mono" pitchFamily="34" charset="-122"/>
                <a:cs typeface="IBM Plex Mono" pitchFamily="34" charset="-120"/>
              </a:rPr>
              <a:t>, </a:t>
            </a:r>
            <a:pPr algn="l" indent="0" marL="0">
              <a:buNone/>
            </a:pPr>
            <a:r>
              <a:rPr lang="en-US" sz="900" dirty="0">
                <a:solidFill>
                  <a:srgbClr val="059669"/>
                </a:solidFill>
                <a:latin typeface="IBM Plex Mono" pitchFamily="34" charset="0"/>
                <a:ea typeface="IBM Plex Mono" pitchFamily="34" charset="-122"/>
                <a:cs typeface="IBM Plex Mono" pitchFamily="34" charset="-120"/>
              </a:rPr>
              <a:t>"list"</a:t>
            </a:r>
            <a:pPr algn="l" indent="0" marL="0">
              <a:buNone/>
            </a:pPr>
            <a:r>
              <a:rPr lang="en-US" sz="900" dirty="0">
                <a:solidFill>
                  <a:srgbClr val="1E293B"/>
                </a:solidFill>
                <a:latin typeface="IBM Plex Mono" pitchFamily="34" charset="0"/>
                <a:ea typeface="IBM Plex Mono" pitchFamily="34" charset="-122"/>
                <a:cs typeface="IBM Plex Mono" pitchFamily="34" charset="-120"/>
              </a:rPr>
              <a:t>]) </a:t>
            </a:r>
            <a:pPr algn="l" indent="0" marL="0">
              <a:buNone/>
            </a:pPr>
            <a:r>
              <a:rPr lang="en-US" sz="900" dirty="0">
                <a:solidFill>
                  <a:srgbClr val="94A3B8"/>
                </a:solidFill>
                <a:latin typeface="IBM Plex Mono" pitchFamily="34" charset="0"/>
                <a:ea typeface="IBM Plex Mono" pitchFamily="34" charset="-122"/>
                <a:cs typeface="IBM Plex Mono" pitchFamily="34" charset="-120"/>
              </a:rPr>
              <a:t>22</a:t>
            </a:r>
            <a:pPr algn="l" indent="0" marL="0">
              <a:buNone/>
            </a:pPr>
            <a:r>
              <a:rPr lang="en-US" sz="900" b="1" dirty="0">
                <a:solidFill>
                  <a:srgbClr val="D946EF"/>
                </a:solidFill>
                <a:latin typeface="IBM Plex Mono" pitchFamily="34" charset="0"/>
                <a:ea typeface="IBM Plex Mono" pitchFamily="34" charset="-122"/>
                <a:cs typeface="IBM Plex Mono" pitchFamily="34" charset="-120"/>
              </a:rPr>
              <a:t>if</a:t>
            </a:r>
            <a:pPr algn="l" indent="0" marL="0">
              <a:buNone/>
            </a:pPr>
            <a:r>
              <a:rPr lang="en-US" sz="900" dirty="0">
                <a:solidFill>
                  <a:srgbClr val="1E293B"/>
                </a:solidFill>
                <a:latin typeface="IBM Plex Mono" pitchFamily="34" charset="0"/>
                <a:ea typeface="IBM Plex Mono" pitchFamily="34" charset="-122"/>
                <a:cs typeface="IBM Plex Mono" pitchFamily="34" charset="-120"/>
              </a:rPr>
              <a:t> probe.returncode != </a:t>
            </a:r>
            <a:pPr algn="l" indent="0" marL="0">
              <a:buNone/>
            </a:pPr>
            <a:r>
              <a:rPr lang="en-US" sz="900" dirty="0">
                <a:solidFill>
                  <a:srgbClr val="F59E0B"/>
                </a:solidFill>
                <a:latin typeface="IBM Plex Mono" pitchFamily="34" charset="0"/>
                <a:ea typeface="IBM Plex Mono" pitchFamily="34" charset="-122"/>
                <a:cs typeface="IBM Plex Mono" pitchFamily="34" charset="-120"/>
              </a:rPr>
              <a:t>0</a:t>
            </a:r>
            <a:pPr algn="l" indent="0" marL="0">
              <a:buNone/>
            </a:pPr>
            <a:r>
              <a:rPr lang="en-US" sz="900" dirty="0">
                <a:solidFill>
                  <a:srgbClr val="1E293B"/>
                </a:solidFill>
                <a:latin typeface="IBM Plex Mono" pitchFamily="34" charset="0"/>
                <a:ea typeface="IBM Plex Mono" pitchFamily="34" charset="-122"/>
                <a:cs typeface="IBM Plex Mono" pitchFamily="34" charset="-120"/>
              </a:rPr>
              <a:t>: </a:t>
            </a:r>
            <a:pPr algn="l" indent="0" marL="0">
              <a:buNone/>
            </a:pPr>
            <a:r>
              <a:rPr lang="en-US" sz="900" dirty="0">
                <a:solidFill>
                  <a:srgbClr val="94A3B8"/>
                </a:solidFill>
                <a:latin typeface="IBM Plex Mono" pitchFamily="34" charset="0"/>
                <a:ea typeface="IBM Plex Mono" pitchFamily="34" charset="-122"/>
                <a:cs typeface="IBM Plex Mono" pitchFamily="34" charset="-120"/>
              </a:rPr>
              <a:t>23</a:t>
            </a:r>
            <a:pPr algn="l" indent="0" marL="0">
              <a:buNone/>
            </a:pPr>
            <a:r>
              <a:rPr lang="en-US" sz="900" dirty="0">
                <a:solidFill>
                  <a:srgbClr val="1E293B"/>
                </a:solidFill>
                <a:latin typeface="IBM Plex Mono" pitchFamily="34" charset="0"/>
                <a:ea typeface="IBM Plex Mono" pitchFamily="34" charset="-122"/>
                <a:cs typeface="IBM Plex Mono" pitchFamily="34" charset="-120"/>
              </a:rPr>
              <a:t> stderr = probe.stderr.strip() </a:t>
            </a:r>
            <a:pPr algn="l" indent="0" marL="0">
              <a:buNone/>
            </a:pPr>
            <a:r>
              <a:rPr lang="en-US" sz="900" b="1" dirty="0">
                <a:solidFill>
                  <a:srgbClr val="D946EF"/>
                </a:solidFill>
                <a:latin typeface="IBM Plex Mono" pitchFamily="34" charset="0"/>
                <a:ea typeface="IBM Plex Mono" pitchFamily="34" charset="-122"/>
                <a:cs typeface="IBM Plex Mono" pitchFamily="34" charset="-120"/>
              </a:rPr>
              <a:t>or</a:t>
            </a:r>
            <a:pPr algn="l" indent="0" marL="0">
              <a:buNone/>
            </a:pPr>
            <a:r>
              <a:rPr lang="en-US" sz="900" dirty="0">
                <a:solidFill>
                  <a:srgbClr val="1E293B"/>
                </a:solidFill>
                <a:latin typeface="IBM Plex Mono" pitchFamily="34" charset="0"/>
                <a:ea typeface="IBM Plex Mono" pitchFamily="34" charset="-122"/>
                <a:cs typeface="IBM Plex Mono" pitchFamily="34" charset="-120"/>
              </a:rPr>
              <a:t> probe.stdout.strip() </a:t>
            </a:r>
            <a:pPr algn="l" indent="0" marL="0">
              <a:buNone/>
            </a:pPr>
            <a:r>
              <a:rPr lang="en-US" sz="900" b="1" dirty="0">
                <a:solidFill>
                  <a:srgbClr val="D946EF"/>
                </a:solidFill>
                <a:latin typeface="IBM Plex Mono" pitchFamily="34" charset="0"/>
                <a:ea typeface="IBM Plex Mono" pitchFamily="34" charset="-122"/>
                <a:cs typeface="IBM Plex Mono" pitchFamily="34" charset="-120"/>
              </a:rPr>
              <a:t>or</a:t>
            </a:r>
            <a:pPr algn="l" indent="0" marL="0">
              <a:buNone/>
            </a:pPr>
            <a:r>
              <a:rPr lang="en-US" sz="900" dirty="0">
                <a:solidFill>
                  <a:srgbClr val="059669"/>
                </a:solidFill>
                <a:latin typeface="IBM Plex Mono" pitchFamily="34" charset="0"/>
                <a:ea typeface="IBM Plex Mono" pitchFamily="34" charset="-122"/>
                <a:cs typeface="IBM Plex Mono" pitchFamily="34" charset="-120"/>
              </a:rPr>
              <a:t>"Unable to reach Ollama."</a:t>
            </a:r>
            <a:pPr algn="l" indent="0" marL="0">
              <a:buNone/>
            </a:pPr>
            <a:r>
              <a:rPr lang="en-US" sz="900" dirty="0">
                <a:solidFill>
                  <a:srgbClr val="94A3B8"/>
                </a:solidFill>
                <a:latin typeface="IBM Plex Mono" pitchFamily="34" charset="0"/>
                <a:ea typeface="IBM Plex Mono" pitchFamily="34" charset="-122"/>
                <a:cs typeface="IBM Plex Mono" pitchFamily="34" charset="-120"/>
              </a:rPr>
              <a:t>24</a:t>
            </a:r>
            <a:pPr algn="l" indent="0" marL="0">
              <a:buNone/>
            </a:pPr>
            <a:r>
              <a:rPr lang="en-US" sz="900" b="1" dirty="0">
                <a:solidFill>
                  <a:srgbClr val="D946EF"/>
                </a:solidFill>
                <a:latin typeface="IBM Plex Mono" pitchFamily="34" charset="0"/>
                <a:ea typeface="IBM Plex Mono" pitchFamily="34" charset="-122"/>
                <a:cs typeface="IBM Plex Mono" pitchFamily="34" charset="-120"/>
              </a:rPr>
              <a:t>return False</a:t>
            </a:r>
            <a:pPr algn="l" indent="0" marL="0">
              <a:buNone/>
            </a:pPr>
            <a:r>
              <a:rPr lang="en-US" sz="900" dirty="0">
                <a:solidFill>
                  <a:srgbClr val="1E293B"/>
                </a:solidFill>
                <a:latin typeface="IBM Plex Mono" pitchFamily="34" charset="0"/>
                <a:ea typeface="IBM Plex Mono" pitchFamily="34" charset="-122"/>
                <a:cs typeface="IBM Plex Mono" pitchFamily="34" charset="-120"/>
              </a:rPr>
              <a:t>, </a:t>
            </a:r>
            <a:pPr algn="l" indent="0" marL="0">
              <a:buNone/>
            </a:pPr>
            <a:r>
              <a:rPr lang="en-US" sz="900" dirty="0">
                <a:solidFill>
                  <a:srgbClr val="059669"/>
                </a:solidFill>
                <a:latin typeface="IBM Plex Mono" pitchFamily="34" charset="0"/>
                <a:ea typeface="IBM Plex Mono" pitchFamily="34" charset="-122"/>
                <a:cs typeface="IBM Plex Mono" pitchFamily="34" charset="-120"/>
              </a:rPr>
              <a:t>f"Ollama is installed but not reachable: </a:t>
            </a:r>
            <a:pPr algn="l" indent="0" marL="0">
              <a:buNone/>
            </a:pPr>
            <a:r>
              <a:rPr lang="en-US" sz="900" dirty="0">
                <a:solidFill>
                  <a:srgbClr val="0EA5E9"/>
                </a:solidFill>
                <a:latin typeface="IBM Plex Mono" pitchFamily="34" charset="0"/>
                <a:ea typeface="IBM Plex Mono" pitchFamily="34" charset="-122"/>
                <a:cs typeface="IBM Plex Mono" pitchFamily="34" charset="-120"/>
              </a:rPr>
              <a:t>{</a:t>
            </a:r>
            <a:pPr algn="l" indent="0" marL="0">
              <a:buNone/>
            </a:pPr>
            <a:r>
              <a:rPr lang="en-US" sz="900" dirty="0">
                <a:solidFill>
                  <a:srgbClr val="1E293B"/>
                </a:solidFill>
                <a:latin typeface="IBM Plex Mono" pitchFamily="34" charset="0"/>
                <a:ea typeface="IBM Plex Mono" pitchFamily="34" charset="-122"/>
                <a:cs typeface="IBM Plex Mono" pitchFamily="34" charset="-120"/>
              </a:rPr>
              <a:t>stderr</a:t>
            </a:r>
            <a:pPr algn="l" indent="0" marL="0">
              <a:buNone/>
            </a:pPr>
            <a:r>
              <a:rPr lang="en-US" sz="900" dirty="0">
                <a:solidFill>
                  <a:srgbClr val="0EA5E9"/>
                </a:solidFill>
                <a:latin typeface="IBM Plex Mono" pitchFamily="34" charset="0"/>
                <a:ea typeface="IBM Plex Mono" pitchFamily="34" charset="-122"/>
                <a:cs typeface="IBM Plex Mono" pitchFamily="34" charset="-120"/>
              </a:rPr>
              <a:t>}</a:t>
            </a:r>
            <a:pPr algn="l" indent="0" marL="0">
              <a:buNone/>
            </a:pPr>
            <a:r>
              <a:rPr lang="en-US" sz="900" dirty="0">
                <a:solidFill>
                  <a:srgbClr val="059669"/>
                </a:solidFill>
                <a:latin typeface="IBM Plex Mono" pitchFamily="34" charset="0"/>
                <a:ea typeface="IBM Plex Mono" pitchFamily="34" charset="-122"/>
                <a:cs typeface="IBM Plex Mono" pitchFamily="34" charset="-120"/>
              </a:rPr>
              <a:t>"</a:t>
            </a:r>
            <a:pPr algn="l" indent="0" marL="0">
              <a:buNone/>
            </a:pPr>
            <a:r>
              <a:rPr lang="en-US" sz="900" dirty="0">
                <a:solidFill>
                  <a:srgbClr val="94A3B8"/>
                </a:solidFill>
                <a:latin typeface="IBM Plex Mono" pitchFamily="34" charset="0"/>
                <a:ea typeface="IBM Plex Mono" pitchFamily="34" charset="-122"/>
                <a:cs typeface="IBM Plex Mono" pitchFamily="34" charset="-120"/>
              </a:rPr>
              <a:t>25</a:t>
            </a:r>
            <a:pPr algn="l" indent="0" marL="0">
              <a:buNone/>
            </a:pPr>
            <a:r>
              <a:rPr lang="en-US" sz="900" dirty="0">
                <a:solidFill>
                  <a:srgbClr val="94A3B8"/>
                </a:solidFill>
                <a:latin typeface="IBM Plex Mono" pitchFamily="34" charset="0"/>
                <a:ea typeface="IBM Plex Mono" pitchFamily="34" charset="-122"/>
                <a:cs typeface="IBM Plex Mono" pitchFamily="34" charset="-120"/>
              </a:rPr>
              <a:t>26</a:t>
            </a:r>
            <a:pPr algn="l" indent="0" marL="0">
              <a:buNone/>
            </a:pPr>
            <a:r>
              <a:rPr lang="en-US" sz="900" dirty="0">
                <a:solidFill>
                  <a:srgbClr val="1E293B"/>
                </a:solidFill>
                <a:latin typeface="IBM Plex Mono" pitchFamily="34" charset="0"/>
                <a:ea typeface="IBM Plex Mono" pitchFamily="34" charset="-122"/>
                <a:cs typeface="IBM Plex Mono" pitchFamily="34" charset="-120"/>
              </a:rPr>
              <a:t> installed_models = probe.stdout.lower() </a:t>
            </a:r>
            <a:pPr algn="l" indent="0" marL="0">
              <a:buNone/>
            </a:pPr>
            <a:r>
              <a:rPr lang="en-US" sz="900" dirty="0">
                <a:solidFill>
                  <a:srgbClr val="94A3B8"/>
                </a:solidFill>
                <a:latin typeface="IBM Plex Mono" pitchFamily="34" charset="0"/>
                <a:ea typeface="IBM Plex Mono" pitchFamily="34" charset="-122"/>
                <a:cs typeface="IBM Plex Mono" pitchFamily="34" charset="-120"/>
              </a:rPr>
              <a:t>27</a:t>
            </a:r>
            <a:pPr algn="l" indent="0" marL="0">
              <a:buNone/>
            </a:pPr>
            <a:r>
              <a:rPr lang="en-US" sz="900" dirty="0">
                <a:solidFill>
                  <a:srgbClr val="1E293B"/>
                </a:solidFill>
                <a:latin typeface="IBM Plex Mono" pitchFamily="34" charset="0"/>
                <a:ea typeface="IBM Plex Mono" pitchFamily="34" charset="-122"/>
                <a:cs typeface="IBM Plex Mono" pitchFamily="34" charset="-120"/>
              </a:rPr>
              <a:t> missing = [m </a:t>
            </a:r>
            <a:pPr algn="l" indent="0" marL="0">
              <a:buNone/>
            </a:pPr>
            <a:r>
              <a:rPr lang="en-US" sz="900" b="1" dirty="0">
                <a:solidFill>
                  <a:srgbClr val="D946EF"/>
                </a:solidFill>
                <a:latin typeface="IBM Plex Mono" pitchFamily="34" charset="0"/>
                <a:ea typeface="IBM Plex Mono" pitchFamily="34" charset="-122"/>
                <a:cs typeface="IBM Plex Mono" pitchFamily="34" charset="-120"/>
              </a:rPr>
              <a:t>for</a:t>
            </a:r>
            <a:pPr algn="l" indent="0" marL="0">
              <a:buNone/>
            </a:pPr>
            <a:r>
              <a:rPr lang="en-US" sz="900" dirty="0">
                <a:solidFill>
                  <a:srgbClr val="1E293B"/>
                </a:solidFill>
                <a:latin typeface="IBM Plex Mono" pitchFamily="34" charset="0"/>
                <a:ea typeface="IBM Plex Mono" pitchFamily="34" charset="-122"/>
                <a:cs typeface="IBM Plex Mono" pitchFamily="34" charset="-120"/>
              </a:rPr>
              <a:t> m </a:t>
            </a:r>
            <a:pPr algn="l" indent="0" marL="0">
              <a:buNone/>
            </a:pPr>
            <a:r>
              <a:rPr lang="en-US" sz="900" b="1" dirty="0">
                <a:solidFill>
                  <a:srgbClr val="D946EF"/>
                </a:solidFill>
                <a:latin typeface="IBM Plex Mono" pitchFamily="34" charset="0"/>
                <a:ea typeface="IBM Plex Mono" pitchFamily="34" charset="-122"/>
                <a:cs typeface="IBM Plex Mono" pitchFamily="34" charset="-120"/>
              </a:rPr>
              <a:t>in</a:t>
            </a:r>
            <a:pPr algn="l" indent="0" marL="0">
              <a:buNone/>
            </a:pPr>
            <a:r>
              <a:rPr lang="en-US" sz="900" dirty="0">
                <a:solidFill>
                  <a:srgbClr val="1E293B"/>
                </a:solidFill>
                <a:latin typeface="IBM Plex Mono" pitchFamily="34" charset="0"/>
                <a:ea typeface="IBM Plex Mono" pitchFamily="34" charset="-122"/>
                <a:cs typeface="IBM Plex Mono" pitchFamily="34" charset="-120"/>
              </a:rPr>
              <a:t> REQUIRED_MODELS </a:t>
            </a:r>
            <a:pPr algn="l" indent="0" marL="0">
              <a:buNone/>
            </a:pPr>
            <a:r>
              <a:rPr lang="en-US" sz="900" b="1" dirty="0">
                <a:solidFill>
                  <a:srgbClr val="D946EF"/>
                </a:solidFill>
                <a:latin typeface="IBM Plex Mono" pitchFamily="34" charset="0"/>
                <a:ea typeface="IBM Plex Mono" pitchFamily="34" charset="-122"/>
                <a:cs typeface="IBM Plex Mono" pitchFamily="34" charset="-120"/>
              </a:rPr>
              <a:t>if</a:t>
            </a:r>
            <a:pPr algn="l" indent="0" marL="0">
              <a:buNone/>
            </a:pPr>
            <a:r>
              <a:rPr lang="en-US" sz="900" dirty="0">
                <a:solidFill>
                  <a:srgbClr val="1E293B"/>
                </a:solidFill>
                <a:latin typeface="IBM Plex Mono" pitchFamily="34" charset="0"/>
                <a:ea typeface="IBM Plex Mono" pitchFamily="34" charset="-122"/>
                <a:cs typeface="IBM Plex Mono" pitchFamily="34" charset="-120"/>
              </a:rPr>
              <a:t> m.lower() </a:t>
            </a:r>
            <a:pPr algn="l" indent="0" marL="0">
              <a:buNone/>
            </a:pPr>
            <a:r>
              <a:rPr lang="en-US" sz="900" b="1" dirty="0">
                <a:solidFill>
                  <a:srgbClr val="D946EF"/>
                </a:solidFill>
                <a:latin typeface="IBM Plex Mono" pitchFamily="34" charset="0"/>
                <a:ea typeface="IBM Plex Mono" pitchFamily="34" charset="-122"/>
                <a:cs typeface="IBM Plex Mono" pitchFamily="34" charset="-120"/>
              </a:rPr>
              <a:t>not in</a:t>
            </a:r>
            <a:pPr algn="l" indent="0" marL="0">
              <a:buNone/>
            </a:pPr>
            <a:r>
              <a:rPr lang="en-US" sz="900" dirty="0">
                <a:solidFill>
                  <a:srgbClr val="1E293B"/>
                </a:solidFill>
                <a:latin typeface="IBM Plex Mono" pitchFamily="34" charset="0"/>
                <a:ea typeface="IBM Plex Mono" pitchFamily="34" charset="-122"/>
                <a:cs typeface="IBM Plex Mono" pitchFamily="34" charset="-120"/>
              </a:rPr>
              <a:t> installed_models] </a:t>
            </a:r>
            <a:pPr algn="l" indent="0" marL="0">
              <a:buNone/>
            </a:pPr>
            <a:r>
              <a:rPr lang="en-US" sz="900" dirty="0">
                <a:solidFill>
                  <a:srgbClr val="94A3B8"/>
                </a:solidFill>
                <a:latin typeface="IBM Plex Mono" pitchFamily="34" charset="0"/>
                <a:ea typeface="IBM Plex Mono" pitchFamily="34" charset="-122"/>
                <a:cs typeface="IBM Plex Mono" pitchFamily="34" charset="-120"/>
              </a:rPr>
              <a:t>28</a:t>
            </a:r>
            <a:pPr algn="l" indent="0" marL="0">
              <a:buNone/>
            </a:pPr>
            <a:r>
              <a:rPr lang="en-US" sz="900" b="1" dirty="0">
                <a:solidFill>
                  <a:srgbClr val="D946EF"/>
                </a:solidFill>
                <a:latin typeface="IBM Plex Mono" pitchFamily="34" charset="0"/>
                <a:ea typeface="IBM Plex Mono" pitchFamily="34" charset="-122"/>
                <a:cs typeface="IBM Plex Mono" pitchFamily="34" charset="-120"/>
              </a:rPr>
              <a:t>if</a:t>
            </a:r>
            <a:pPr algn="l" indent="0" marL="0">
              <a:buNone/>
            </a:pPr>
            <a:r>
              <a:rPr lang="en-US" sz="900" dirty="0">
                <a:solidFill>
                  <a:srgbClr val="1E293B"/>
                </a:solidFill>
                <a:latin typeface="IBM Plex Mono" pitchFamily="34" charset="0"/>
                <a:ea typeface="IBM Plex Mono" pitchFamily="34" charset="-122"/>
                <a:cs typeface="IBM Plex Mono" pitchFamily="34" charset="-120"/>
              </a:rPr>
              <a:t> missing: </a:t>
            </a:r>
            <a:pPr algn="l" indent="0" marL="0">
              <a:buNone/>
            </a:pPr>
            <a:r>
              <a:rPr lang="en-US" sz="900" dirty="0">
                <a:solidFill>
                  <a:srgbClr val="94A3B8"/>
                </a:solidFill>
                <a:latin typeface="IBM Plex Mono" pitchFamily="34" charset="0"/>
                <a:ea typeface="IBM Plex Mono" pitchFamily="34" charset="-122"/>
                <a:cs typeface="IBM Plex Mono" pitchFamily="34" charset="-120"/>
              </a:rPr>
              <a:t>29</a:t>
            </a:r>
            <a:pPr algn="l" indent="0" marL="0">
              <a:buNone/>
            </a:pPr>
            <a:r>
              <a:rPr lang="en-US" sz="900" dirty="0">
                <a:solidFill>
                  <a:srgbClr val="1E293B"/>
                </a:solidFill>
                <a:latin typeface="IBM Plex Mono" pitchFamily="34" charset="0"/>
                <a:ea typeface="IBM Plex Mono" pitchFamily="34" charset="-122"/>
                <a:cs typeface="IBM Plex Mono" pitchFamily="34" charset="-120"/>
              </a:rPr>
              <a:t> missing_list = </a:t>
            </a:r>
            <a:pPr algn="l" indent="0" marL="0">
              <a:buNone/>
            </a:pPr>
            <a:r>
              <a:rPr lang="en-US" sz="900" dirty="0">
                <a:solidFill>
                  <a:srgbClr val="059669"/>
                </a:solidFill>
                <a:latin typeface="IBM Plex Mono" pitchFamily="34" charset="0"/>
                <a:ea typeface="IBM Plex Mono" pitchFamily="34" charset="-122"/>
                <a:cs typeface="IBM Plex Mono" pitchFamily="34" charset="-120"/>
              </a:rPr>
              <a:t>", "</a:t>
            </a:r>
            <a:pPr algn="l" indent="0" marL="0">
              <a:buNone/>
            </a:pPr>
            <a:r>
              <a:rPr lang="en-US" sz="900" dirty="0">
                <a:solidFill>
                  <a:srgbClr val="1E293B"/>
                </a:solidFill>
                <a:latin typeface="IBM Plex Mono" pitchFamily="34" charset="0"/>
                <a:ea typeface="IBM Plex Mono" pitchFamily="34" charset="-122"/>
                <a:cs typeface="IBM Plex Mono" pitchFamily="34" charset="-120"/>
              </a:rPr>
              <a:t>.join(missing) </a:t>
            </a:r>
            <a:pPr algn="l" indent="0" marL="0">
              <a:buNone/>
            </a:pPr>
            <a:r>
              <a:rPr lang="en-US" sz="900" dirty="0">
                <a:solidFill>
                  <a:srgbClr val="94A3B8"/>
                </a:solidFill>
                <a:latin typeface="IBM Plex Mono" pitchFamily="34" charset="0"/>
                <a:ea typeface="IBM Plex Mono" pitchFamily="34" charset="-122"/>
                <a:cs typeface="IBM Plex Mono" pitchFamily="34" charset="-120"/>
              </a:rPr>
              <a:t>30</a:t>
            </a:r>
            <a:pPr algn="l" indent="0" marL="0">
              <a:buNone/>
            </a:pPr>
            <a:r>
              <a:rPr lang="en-US" sz="900" b="1" dirty="0">
                <a:solidFill>
                  <a:srgbClr val="D946EF"/>
                </a:solidFill>
                <a:latin typeface="IBM Plex Mono" pitchFamily="34" charset="0"/>
                <a:ea typeface="IBM Plex Mono" pitchFamily="34" charset="-122"/>
                <a:cs typeface="IBM Plex Mono" pitchFamily="34" charset="-120"/>
              </a:rPr>
              <a:t>return False</a:t>
            </a:r>
            <a:pPr algn="l" indent="0" marL="0">
              <a:buNone/>
            </a:pPr>
            <a:r>
              <a:rPr lang="en-US" sz="900" dirty="0">
                <a:solidFill>
                  <a:srgbClr val="1E293B"/>
                </a:solidFill>
                <a:latin typeface="IBM Plex Mono" pitchFamily="34" charset="0"/>
                <a:ea typeface="IBM Plex Mono" pitchFamily="34" charset="-122"/>
                <a:cs typeface="IBM Plex Mono" pitchFamily="34" charset="-120"/>
              </a:rPr>
              <a:t>, </a:t>
            </a:r>
            <a:pPr algn="l" indent="0" marL="0">
              <a:buNone/>
            </a:pPr>
            <a:r>
              <a:rPr lang="en-US" sz="900" dirty="0">
                <a:solidFill>
                  <a:srgbClr val="059669"/>
                </a:solidFill>
                <a:latin typeface="IBM Plex Mono" pitchFamily="34" charset="0"/>
                <a:ea typeface="IBM Plex Mono" pitchFamily="34" charset="-122"/>
                <a:cs typeface="IBM Plex Mono" pitchFamily="34" charset="-120"/>
              </a:rPr>
              <a:t>f"Missing models: </a:t>
            </a:r>
            <a:pPr algn="l" indent="0" marL="0">
              <a:buNone/>
            </a:pPr>
            <a:r>
              <a:rPr lang="en-US" sz="900" dirty="0">
                <a:solidFill>
                  <a:srgbClr val="0EA5E9"/>
                </a:solidFill>
                <a:latin typeface="IBM Plex Mono" pitchFamily="34" charset="0"/>
                <a:ea typeface="IBM Plex Mono" pitchFamily="34" charset="-122"/>
                <a:cs typeface="IBM Plex Mono" pitchFamily="34" charset="-120"/>
              </a:rPr>
              <a:t>{</a:t>
            </a:r>
            <a:pPr algn="l" indent="0" marL="0">
              <a:buNone/>
            </a:pPr>
            <a:r>
              <a:rPr lang="en-US" sz="900" dirty="0">
                <a:solidFill>
                  <a:srgbClr val="1E293B"/>
                </a:solidFill>
                <a:latin typeface="IBM Plex Mono" pitchFamily="34" charset="0"/>
                <a:ea typeface="IBM Plex Mono" pitchFamily="34" charset="-122"/>
                <a:cs typeface="IBM Plex Mono" pitchFamily="34" charset="-120"/>
              </a:rPr>
              <a:t>missing_list</a:t>
            </a:r>
            <a:pPr algn="l" indent="0" marL="0">
              <a:buNone/>
            </a:pPr>
            <a:r>
              <a:rPr lang="en-US" sz="900" dirty="0">
                <a:solidFill>
                  <a:srgbClr val="0EA5E9"/>
                </a:solidFill>
                <a:latin typeface="IBM Plex Mono" pitchFamily="34" charset="0"/>
                <a:ea typeface="IBM Plex Mono" pitchFamily="34" charset="-122"/>
                <a:cs typeface="IBM Plex Mono" pitchFamily="34" charset="-120"/>
              </a:rPr>
              <a:t>}</a:t>
            </a:r>
            <a:pPr algn="l" indent="0" marL="0">
              <a:buNone/>
            </a:pPr>
            <a:r>
              <a:rPr lang="en-US" sz="900" dirty="0">
                <a:solidFill>
                  <a:srgbClr val="059669"/>
                </a:solidFill>
                <a:latin typeface="IBM Plex Mono" pitchFamily="34" charset="0"/>
                <a:ea typeface="IBM Plex Mono" pitchFamily="34" charset="-122"/>
                <a:cs typeface="IBM Plex Mono" pitchFamily="34" charset="-120"/>
              </a:rPr>
              <a:t>. Run `ollama pull` for each."</a:t>
            </a:r>
            <a:pPr algn="l" indent="0" marL="0">
              <a:buNone/>
            </a:pPr>
            <a:r>
              <a:rPr lang="en-US" sz="900" dirty="0">
                <a:solidFill>
                  <a:srgbClr val="94A3B8"/>
                </a:solidFill>
                <a:latin typeface="IBM Plex Mono" pitchFamily="34" charset="0"/>
                <a:ea typeface="IBM Plex Mono" pitchFamily="34" charset="-122"/>
                <a:cs typeface="IBM Plex Mono" pitchFamily="34" charset="-120"/>
              </a:rPr>
              <a:t>31</a:t>
            </a:r>
            <a:pPr algn="l" indent="0" marL="0">
              <a:buNone/>
            </a:pPr>
            <a:r>
              <a:rPr lang="en-US" sz="900" dirty="0">
                <a:solidFill>
                  <a:srgbClr val="94A3B8"/>
                </a:solidFill>
                <a:latin typeface="IBM Plex Mono" pitchFamily="34" charset="0"/>
                <a:ea typeface="IBM Plex Mono" pitchFamily="34" charset="-122"/>
                <a:cs typeface="IBM Plex Mono" pitchFamily="34" charset="-120"/>
              </a:rPr>
              <a:t>32</a:t>
            </a:r>
            <a:pPr algn="l" indent="0" marL="0">
              <a:buNone/>
            </a:pPr>
            <a:r>
              <a:rPr lang="en-US" sz="900" b="1" dirty="0">
                <a:solidFill>
                  <a:srgbClr val="D946EF"/>
                </a:solidFill>
                <a:latin typeface="IBM Plex Mono" pitchFamily="34" charset="0"/>
                <a:ea typeface="IBM Plex Mono" pitchFamily="34" charset="-122"/>
                <a:cs typeface="IBM Plex Mono" pitchFamily="34" charset="-120"/>
              </a:rPr>
              <a:t>return True</a:t>
            </a:r>
            <a:pPr algn="l" indent="0" marL="0">
              <a:buNone/>
            </a:pPr>
            <a:r>
              <a:rPr lang="en-US" sz="900" dirty="0">
                <a:solidFill>
                  <a:srgbClr val="1E293B"/>
                </a:solidFill>
                <a:latin typeface="IBM Plex Mono" pitchFamily="34" charset="0"/>
                <a:ea typeface="IBM Plex Mono" pitchFamily="34" charset="-122"/>
                <a:cs typeface="IBM Plex Mono" pitchFamily="34" charset="-120"/>
              </a:rPr>
              <a:t>, </a:t>
            </a:r>
            <a:pPr algn="l" indent="0" marL="0">
              <a:buNone/>
            </a:pPr>
            <a:r>
              <a:rPr lang="en-US" sz="900" dirty="0">
                <a:solidFill>
                  <a:srgbClr val="059669"/>
                </a:solidFill>
                <a:latin typeface="IBM Plex Mono" pitchFamily="34" charset="0"/>
                <a:ea typeface="IBM Plex Mono" pitchFamily="34" charset="-122"/>
                <a:cs typeface="IBM Plex Mono" pitchFamily="34" charset="-120"/>
              </a:rPr>
              <a:t>"Ollama is reachable and required models are installed."</a:t>
            </a:r>
            <a:endParaRPr lang="en-US" sz="900" dirty="0"/>
          </a:p>
        </p:txBody>
      </p:sp>
      <p:sp>
        <p:nvSpPr>
          <p:cNvPr id="21" name="Shape 15"/>
          <p:cNvSpPr/>
          <p:nvPr/>
        </p:nvSpPr>
        <p:spPr>
          <a:xfrm>
            <a:off x="857707" y="5905195"/>
            <a:ext cx="418795" cy="418795"/>
          </a:xfrm>
          <a:prstGeom prst="roundRect">
            <a:avLst>
              <a:gd name="adj" fmla="val 79397"/>
            </a:avLst>
          </a:prstGeom>
          <a:solidFill>
            <a:srgbClr val="EF4444">
              <a:alpha val="10000"/>
            </a:srgbClr>
          </a:solidFill>
          <a:ln w="12700">
            <a:solidFill>
              <a:srgbClr val="FFFFFF">
                <a:alpha val="0"/>
              </a:srgbClr>
            </a:solidFill>
            <a:prstDash val="solid"/>
          </a:ln>
        </p:spPr>
      </p:sp>
      <p:pic>
        <p:nvPicPr>
          <p:cNvPr id="22" name="Image 4" descr="preencoded.png">    </p:cNvPr>
          <p:cNvPicPr>
            <a:picLocks noChangeAspect="1"/>
          </p:cNvPicPr>
          <p:nvPr/>
        </p:nvPicPr>
        <p:blipFill>
          <a:blip r:embed="rId5"/>
          <a:srcRect l="0" r="0" t="0" b="0"/>
          <a:stretch/>
        </p:blipFill>
        <p:spPr>
          <a:xfrm>
            <a:off x="972007" y="6019495"/>
            <a:ext cx="190195" cy="190195"/>
          </a:xfrm>
          <a:prstGeom prst="rect">
            <a:avLst/>
          </a:prstGeom>
        </p:spPr>
      </p:pic>
      <p:sp>
        <p:nvSpPr>
          <p:cNvPr id="23" name="Text 16"/>
          <p:cNvSpPr txBox="1"/>
          <p:nvPr/>
        </p:nvSpPr>
        <p:spPr>
          <a:xfrm>
            <a:off x="1476756" y="5857646"/>
            <a:ext cx="9859061" cy="181051"/>
          </a:xfrm>
          <a:prstGeom prst="rect">
            <a:avLst/>
          </a:prstGeom>
          <a:noFill/>
          <a:ln/>
        </p:spPr>
        <p:txBody>
          <a:bodyPr wrap="square" lIns="0" tIns="0" rIns="0" bIns="0" rtlCol="0" anchor="ctr"/>
          <a:lstStyle/>
          <a:p>
            <a:pPr algn="l" indent="0" marL="0">
              <a:buNone/>
            </a:pPr>
            <a:r>
              <a:rPr lang="en-US" sz="1100" b="1" dirty="0">
                <a:solidFill>
                  <a:srgbClr val="1E293B"/>
                </a:solidFill>
                <a:latin typeface="Inter" pitchFamily="34" charset="0"/>
                <a:ea typeface="Inter" pitchFamily="34" charset="-122"/>
                <a:cs typeface="Inter" pitchFamily="34" charset="-120"/>
              </a:rPr>
              <a:t>Teaching Point: Fail Early, Fail Explicitly</a:t>
            </a:r>
            <a:endParaRPr lang="en-US" sz="1100" dirty="0"/>
          </a:p>
        </p:txBody>
      </p:sp>
      <p:sp>
        <p:nvSpPr>
          <p:cNvPr id="24" name="Text 17"/>
          <p:cNvSpPr txBox="1"/>
          <p:nvPr/>
        </p:nvSpPr>
        <p:spPr>
          <a:xfrm>
            <a:off x="1476756" y="6096305"/>
            <a:ext cx="9859061" cy="381305"/>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This function acts as a circuit breaker. By validating the environment </a:t>
            </a:r>
            <a:pPr algn="l" indent="0" marL="0">
              <a:buNone/>
            </a:pPr>
            <a:r>
              <a:rPr lang="en-US" sz="1000" b="1" dirty="0">
                <a:solidFill>
                  <a:srgbClr val="EF4444"/>
                </a:solidFill>
                <a:latin typeface="Inter" pitchFamily="34" charset="0"/>
                <a:ea typeface="Inter" pitchFamily="34" charset="-122"/>
                <a:cs typeface="Inter" pitchFamily="34" charset="-120"/>
              </a:rPr>
              <a:t>before</a:t>
            </a:r>
            <a:pPr algn="l" indent="0" marL="0">
              <a:buNone/>
            </a:pPr>
            <a:r>
              <a:rPr lang="en-US" sz="1000" dirty="0">
                <a:solidFill>
                  <a:srgbClr val="475569"/>
                </a:solidFill>
                <a:latin typeface="Inter" pitchFamily="34" charset="0"/>
                <a:ea typeface="Inter" pitchFamily="34" charset="-122"/>
                <a:cs typeface="Inter" pitchFamily="34" charset="-120"/>
              </a:rPr>
              <a:t> attempting to start the Streamlit UI or initialize LangChain components, we prevent cryptic stack traces later. The error messages explicitly tell the user what is wrong and how to fix it (e.g., "Run `ollama pull`").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5" name="Shape 3"/>
          <p:cNvSpPr/>
          <p:nvPr/>
        </p:nvSpPr>
        <p:spPr>
          <a:xfrm>
            <a:off x="571500" y="2762402"/>
            <a:ext cx="11067898" cy="1733702"/>
          </a:xfrm>
          <a:prstGeom prst="roundRect">
            <a:avLst>
              <a:gd name="adj" fmla="val 6955"/>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6" name="Shape 4"/>
          <p:cNvSpPr/>
          <p:nvPr/>
        </p:nvSpPr>
        <p:spPr>
          <a:xfrm>
            <a:off x="571500" y="4858207"/>
            <a:ext cx="11067898" cy="1543507"/>
          </a:xfrm>
          <a:prstGeom prst="roundRect">
            <a:avLst>
              <a:gd name="adj" fmla="val 8777"/>
            </a:avLst>
          </a:prstGeom>
          <a:solidFill>
            <a:srgbClr val="6366F1">
              <a:alpha val="4000"/>
            </a:srgbClr>
          </a:solidFill>
          <a:ln w="12700">
            <a:solidFill>
              <a:srgbClr val="6366F1">
                <a:alpha val="15000"/>
              </a:srgbClr>
            </a:solidFill>
            <a:prstDash val="solid"/>
          </a:ln>
        </p:spPr>
      </p:sp>
      <p:pic>
        <p:nvPicPr>
          <p:cNvPr id="7" name="Image 0" descr="preencoded.png">    </p:cNvPr>
          <p:cNvPicPr>
            <a:picLocks noChangeAspect="1"/>
          </p:cNvPicPr>
          <p:nvPr/>
        </p:nvPicPr>
        <p:blipFill>
          <a:blip r:embed="rId1"/>
          <a:srcRect l="-43" r="-43" t="0" b="0"/>
          <a:stretch/>
        </p:blipFill>
        <p:spPr>
          <a:xfrm>
            <a:off x="580644" y="2771546"/>
            <a:ext cx="11030407" cy="466344"/>
          </a:xfrm>
          <a:prstGeom prst="rect">
            <a:avLst/>
          </a:prstGeom>
        </p:spPr>
      </p:pic>
      <p:sp>
        <p:nvSpPr>
          <p:cNvPr id="8" name="Shape 5"/>
          <p:cNvSpPr/>
          <p:nvPr/>
        </p:nvSpPr>
        <p:spPr>
          <a:xfrm>
            <a:off x="571500" y="409651"/>
            <a:ext cx="418795" cy="418795"/>
          </a:xfrm>
          <a:prstGeom prst="roundRect">
            <a:avLst>
              <a:gd name="adj" fmla="val 119095"/>
            </a:avLst>
          </a:prstGeom>
          <a:solidFill>
            <a:srgbClr val="6366F1"/>
          </a:solidFill>
          <a:ln w="12700">
            <a:solidFill>
              <a:srgbClr val="FFFFFF">
                <a:alpha val="0"/>
              </a:srgbClr>
            </a:solidFill>
            <a:prstDash val="solid"/>
          </a:ln>
        </p:spPr>
      </p:sp>
      <p:pic>
        <p:nvPicPr>
          <p:cNvPr id="9" name="Image 1" descr="preencoded.png">    </p:cNvPr>
          <p:cNvPicPr>
            <a:picLocks noChangeAspect="1"/>
          </p:cNvPicPr>
          <p:nvPr/>
        </p:nvPicPr>
        <p:blipFill>
          <a:blip r:embed="rId2"/>
          <a:srcRect l="0" r="0" t="0" b="0"/>
          <a:stretch/>
        </p:blipFill>
        <p:spPr>
          <a:xfrm>
            <a:off x="676656" y="514807"/>
            <a:ext cx="209398" cy="209398"/>
          </a:xfrm>
          <a:prstGeom prst="rect">
            <a:avLst/>
          </a:prstGeom>
        </p:spPr>
      </p:pic>
      <p:sp>
        <p:nvSpPr>
          <p:cNvPr id="10" name="Text 6"/>
          <p:cNvSpPr txBox="1"/>
          <p:nvPr/>
        </p:nvSpPr>
        <p:spPr>
          <a:xfrm>
            <a:off x="1143000" y="47183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11" name="Shape 7"/>
          <p:cNvSpPr/>
          <p:nvPr/>
        </p:nvSpPr>
        <p:spPr>
          <a:xfrm>
            <a:off x="9215323" y="424282"/>
            <a:ext cx="2409444" cy="390449"/>
          </a:xfrm>
          <a:prstGeom prst="roundRect">
            <a:avLst>
              <a:gd name="adj" fmla="val 234192"/>
            </a:avLst>
          </a:prstGeom>
          <a:solidFill>
            <a:srgbClr val="6366F1">
              <a:alpha val="8000"/>
            </a:srgbClr>
          </a:solidFill>
          <a:ln w="12700">
            <a:solidFill>
              <a:srgbClr val="6366F1">
                <a:alpha val="15000"/>
              </a:srgbClr>
            </a:solidFill>
            <a:prstDash val="solid"/>
          </a:ln>
        </p:spPr>
      </p:sp>
      <p:pic>
        <p:nvPicPr>
          <p:cNvPr id="12" name="Image 2" descr="preencoded.png">    </p:cNvPr>
          <p:cNvPicPr>
            <a:picLocks noChangeAspect="1"/>
          </p:cNvPicPr>
          <p:nvPr/>
        </p:nvPicPr>
        <p:blipFill>
          <a:blip r:embed="rId3"/>
          <a:srcRect l="0" r="0" t="0" b="0"/>
          <a:stretch/>
        </p:blipFill>
        <p:spPr>
          <a:xfrm>
            <a:off x="9415577" y="552298"/>
            <a:ext cx="133502" cy="133502"/>
          </a:xfrm>
          <a:prstGeom prst="rect">
            <a:avLst/>
          </a:prstGeom>
        </p:spPr>
      </p:pic>
      <p:sp>
        <p:nvSpPr>
          <p:cNvPr id="13" name="Text 8"/>
          <p:cNvSpPr txBox="1"/>
          <p:nvPr/>
        </p:nvSpPr>
        <p:spPr>
          <a:xfrm>
            <a:off x="9644177" y="424282"/>
            <a:ext cx="1781251" cy="391363"/>
          </a:xfrm>
          <a:prstGeom prst="rect">
            <a:avLst/>
          </a:prstGeom>
          <a:noFill/>
          <a:ln/>
        </p:spPr>
        <p:txBody>
          <a:bodyPr wrap="square" lIns="0" tIns="0" rIns="0" bIns="0" rtlCol="0" anchor="ctr"/>
          <a:lstStyle/>
          <a:p>
            <a:pPr algn="l" indent="0" marL="0">
              <a:buNone/>
            </a:pPr>
            <a:r>
              <a:rPr lang="en-US" sz="1100" dirty="0">
                <a:solidFill>
                  <a:srgbClr val="6366F1"/>
                </a:solidFill>
                <a:latin typeface="Inter" pitchFamily="34" charset="0"/>
                <a:ea typeface="Inter" pitchFamily="34" charset="-122"/>
                <a:cs typeface="Inter" pitchFamily="34" charset="-120"/>
              </a:rPr>
              <a:t>Local-First = Privacy-First</a:t>
            </a:r>
            <a:endParaRPr lang="en-US" sz="1100" dirty="0"/>
          </a:p>
        </p:txBody>
      </p:sp>
      <p:sp>
        <p:nvSpPr>
          <p:cNvPr id="14" name="Text 9"/>
          <p:cNvSpPr txBox="1"/>
          <p:nvPr/>
        </p:nvSpPr>
        <p:spPr>
          <a:xfrm>
            <a:off x="571500" y="1676095"/>
            <a:ext cx="11049610" cy="438912"/>
          </a:xfrm>
          <a:prstGeom prst="rect">
            <a:avLst/>
          </a:prstGeom>
          <a:noFill/>
          <a:ln/>
        </p:spPr>
        <p:txBody>
          <a:bodyPr wrap="square" lIns="0" tIns="0" rIns="0" bIns="0" rtlCol="0" anchor="ctr"/>
          <a:lstStyle/>
          <a:p>
            <a:pPr algn="l" indent="0" marL="0">
              <a:buNone/>
            </a:pPr>
            <a:r>
              <a:rPr lang="en-US" sz="3400" b="1" spc="-75" kern="0" dirty="0">
                <a:solidFill>
                  <a:srgbClr val="1E293B"/>
                </a:solidFill>
                <a:latin typeface="Inter" pitchFamily="34" charset="0"/>
                <a:ea typeface="Inter" pitchFamily="34" charset="-122"/>
                <a:cs typeface="Inter" pitchFamily="34" charset="-120"/>
              </a:rPr>
              <a:t>App Bootstrap </a:t>
            </a:r>
            <a:pPr algn="l" indent="0" marL="0">
              <a:buNone/>
            </a:pPr>
            <a:r>
              <a:rPr lang="en-US" sz="3400" b="1" spc="-75" kern="0" dirty="0">
                <a:solidFill>
                  <a:srgbClr val="6366F1"/>
                </a:solidFill>
                <a:latin typeface="Inter" pitchFamily="34" charset="0"/>
                <a:ea typeface="Inter" pitchFamily="34" charset="-122"/>
                <a:cs typeface="Inter" pitchFamily="34" charset="-120"/>
              </a:rPr>
              <a:t>Point</a:t>
            </a:r>
            <a:endParaRPr lang="en-US" sz="3400" dirty="0"/>
          </a:p>
        </p:txBody>
      </p:sp>
      <p:sp>
        <p:nvSpPr>
          <p:cNvPr id="15" name="Text 10"/>
          <p:cNvSpPr txBox="1"/>
          <p:nvPr/>
        </p:nvSpPr>
        <p:spPr>
          <a:xfrm>
            <a:off x="571500" y="2229307"/>
            <a:ext cx="8306410" cy="257861"/>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The initial configuration and entry point for the user-facing Streamlit interface.</a:t>
            </a:r>
            <a:endParaRPr lang="en-US" sz="1300" dirty="0"/>
          </a:p>
        </p:txBody>
      </p:sp>
      <p:sp>
        <p:nvSpPr>
          <p:cNvPr id="16" name="Shape 11"/>
          <p:cNvSpPr/>
          <p:nvPr/>
        </p:nvSpPr>
        <p:spPr>
          <a:xfrm>
            <a:off x="571500" y="1238098"/>
            <a:ext cx="1867205" cy="286207"/>
          </a:xfrm>
          <a:prstGeom prst="roundRect">
            <a:avLst>
              <a:gd name="adj" fmla="val 170394"/>
            </a:avLst>
          </a:prstGeom>
          <a:solidFill>
            <a:srgbClr val="6366F1">
              <a:alpha val="8000"/>
            </a:srgbClr>
          </a:solidFill>
          <a:ln w="12700">
            <a:solidFill>
              <a:srgbClr val="6366F1">
                <a:alpha val="20000"/>
              </a:srgbClr>
            </a:solidFill>
            <a:prstDash val="solid"/>
          </a:ln>
        </p:spPr>
      </p:sp>
      <p:sp>
        <p:nvSpPr>
          <p:cNvPr id="17" name="Text 12"/>
          <p:cNvSpPr txBox="1"/>
          <p:nvPr/>
        </p:nvSpPr>
        <p:spPr>
          <a:xfrm>
            <a:off x="571500" y="1238098"/>
            <a:ext cx="1867205"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6366F1"/>
                </a:solidFill>
                <a:latin typeface="Inter" pitchFamily="34" charset="0"/>
                <a:ea typeface="Inter" pitchFamily="34" charset="-122"/>
                <a:cs typeface="Inter" pitchFamily="34" charset="-120"/>
              </a:rPr>
              <a:t>Critical Code Blocks</a:t>
            </a:r>
            <a:endParaRPr lang="en-US" sz="900" dirty="0"/>
          </a:p>
        </p:txBody>
      </p:sp>
      <p:pic>
        <p:nvPicPr>
          <p:cNvPr id="18" name="Image 3" descr="preencoded.png">    </p:cNvPr>
          <p:cNvPicPr>
            <a:picLocks noChangeAspect="1"/>
          </p:cNvPicPr>
          <p:nvPr/>
        </p:nvPicPr>
        <p:blipFill>
          <a:blip r:embed="rId4"/>
          <a:srcRect l="0" r="0" t="-43" b="-43"/>
          <a:stretch/>
        </p:blipFill>
        <p:spPr>
          <a:xfrm>
            <a:off x="847649" y="2924251"/>
            <a:ext cx="133502" cy="152705"/>
          </a:xfrm>
          <a:prstGeom prst="rect">
            <a:avLst/>
          </a:prstGeom>
        </p:spPr>
      </p:pic>
      <p:sp>
        <p:nvSpPr>
          <p:cNvPr id="19" name="Text 13"/>
          <p:cNvSpPr txBox="1"/>
          <p:nvPr/>
        </p:nvSpPr>
        <p:spPr>
          <a:xfrm>
            <a:off x="1104595" y="2885846"/>
            <a:ext cx="2857500" cy="228600"/>
          </a:xfrm>
          <a:prstGeom prst="rect">
            <a:avLst/>
          </a:prstGeom>
          <a:noFill/>
          <a:ln/>
        </p:spPr>
        <p:txBody>
          <a:bodyPr wrap="square" lIns="0" tIns="0" rIns="0" bIns="0" rtlCol="0" anchor="ctr"/>
          <a:lstStyle/>
          <a:p>
            <a:pPr algn="l" indent="0" marL="0">
              <a:buNone/>
            </a:pPr>
            <a:r>
              <a:rPr lang="en-US" sz="1000" dirty="0">
                <a:solidFill>
                  <a:srgbClr val="475569"/>
                </a:solidFill>
                <a:latin typeface="IBM Plex Mono" pitchFamily="34" charset="0"/>
                <a:ea typeface="IBM Plex Mono" pitchFamily="34" charset="-122"/>
                <a:cs typeface="IBM Plex Mono" pitchFamily="34" charset="-120"/>
              </a:rPr>
              <a:t>src/streamlit_app.py</a:t>
            </a:r>
            <a:endParaRPr lang="en-US" sz="1000" dirty="0"/>
          </a:p>
        </p:txBody>
      </p:sp>
      <p:sp>
        <p:nvSpPr>
          <p:cNvPr id="20" name="Text 14"/>
          <p:cNvSpPr txBox="1"/>
          <p:nvPr/>
        </p:nvSpPr>
        <p:spPr>
          <a:xfrm>
            <a:off x="800100" y="3524098"/>
            <a:ext cx="10478110" cy="342900"/>
          </a:xfrm>
          <a:prstGeom prst="rect">
            <a:avLst/>
          </a:prstGeom>
          <a:noFill/>
          <a:ln/>
        </p:spPr>
        <p:txBody>
          <a:bodyPr wrap="square" lIns="0" tIns="0" rIns="0" bIns="0" rtlCol="0" anchor="ctr"/>
          <a:lstStyle/>
          <a:p>
            <a:pPr algn="l" indent="0" marL="0">
              <a:buNone/>
            </a:pPr>
            <a:r>
              <a:rPr lang="en-US" sz="1600" dirty="0">
                <a:solidFill>
                  <a:srgbClr val="94A3B8"/>
                </a:solidFill>
                <a:latin typeface="IBM Plex Mono" pitchFamily="34" charset="0"/>
                <a:ea typeface="IBM Plex Mono" pitchFamily="34" charset="-122"/>
                <a:cs typeface="IBM Plex Mono" pitchFamily="34" charset="-120"/>
              </a:rPr>
              <a:t>21</a:t>
            </a:r>
            <a:pPr algn="l" indent="0" marL="0">
              <a:buNone/>
            </a:pPr>
            <a:r>
              <a:rPr lang="en-US" sz="1600" dirty="0">
                <a:solidFill>
                  <a:srgbClr val="0EA5E9"/>
                </a:solidFill>
                <a:latin typeface="IBM Plex Mono" pitchFamily="34" charset="0"/>
                <a:ea typeface="IBM Plex Mono" pitchFamily="34" charset="-122"/>
                <a:cs typeface="IBM Plex Mono" pitchFamily="34" charset="-120"/>
              </a:rPr>
              <a:t>st</a:t>
            </a:r>
            <a:pPr algn="l" indent="0" marL="0">
              <a:buNone/>
            </a:pPr>
            <a:r>
              <a:rPr lang="en-US" sz="1600" dirty="0">
                <a:solidFill>
                  <a:srgbClr val="64748B"/>
                </a:solidFill>
                <a:latin typeface="IBM Plex Mono" pitchFamily="34" charset="0"/>
                <a:ea typeface="IBM Plex Mono" pitchFamily="34" charset="-122"/>
                <a:cs typeface="IBM Plex Mono" pitchFamily="34" charset="-120"/>
              </a:rPr>
              <a:t>.</a:t>
            </a:r>
            <a:pPr algn="l" indent="0" marL="0">
              <a:buNone/>
            </a:pPr>
            <a:r>
              <a:rPr lang="en-US" sz="1600" dirty="0">
                <a:solidFill>
                  <a:srgbClr val="0284C7"/>
                </a:solidFill>
                <a:latin typeface="IBM Plex Mono" pitchFamily="34" charset="0"/>
                <a:ea typeface="IBM Plex Mono" pitchFamily="34" charset="-122"/>
                <a:cs typeface="IBM Plex Mono" pitchFamily="34" charset="-120"/>
              </a:rPr>
              <a:t>set_page_config</a:t>
            </a:r>
            <a:pPr algn="l" indent="0" marL="0">
              <a:buNone/>
            </a:pPr>
            <a:r>
              <a:rPr lang="en-US" sz="1600" dirty="0">
                <a:solidFill>
                  <a:srgbClr val="64748B"/>
                </a:solidFill>
                <a:latin typeface="IBM Plex Mono" pitchFamily="34" charset="0"/>
                <a:ea typeface="IBM Plex Mono" pitchFamily="34" charset="-122"/>
                <a:cs typeface="IBM Plex Mono" pitchFamily="34" charset="-120"/>
              </a:rPr>
              <a:t>(layout=</a:t>
            </a:r>
            <a:pPr algn="l" indent="0" marL="0">
              <a:buNone/>
            </a:pPr>
            <a:r>
              <a:rPr lang="en-US" sz="1600" dirty="0">
                <a:solidFill>
                  <a:srgbClr val="059669"/>
                </a:solidFill>
                <a:latin typeface="IBM Plex Mono" pitchFamily="34" charset="0"/>
                <a:ea typeface="IBM Plex Mono" pitchFamily="34" charset="-122"/>
                <a:cs typeface="IBM Plex Mono" pitchFamily="34" charset="-120"/>
              </a:rPr>
              <a:t>"wide"</a:t>
            </a:r>
            <a:pPr algn="l" indent="0" marL="0">
              <a:buNone/>
            </a:pPr>
            <a:r>
              <a:rPr lang="en-US" sz="1600" dirty="0">
                <a:solidFill>
                  <a:srgbClr val="64748B"/>
                </a:solidFill>
                <a:latin typeface="IBM Plex Mono" pitchFamily="34" charset="0"/>
                <a:ea typeface="IBM Plex Mono" pitchFamily="34" charset="-122"/>
                <a:cs typeface="IBM Plex Mono" pitchFamily="34" charset="-120"/>
              </a:rPr>
              <a:t>, page_title=</a:t>
            </a:r>
            <a:pPr algn="l" indent="0" marL="0">
              <a:buNone/>
            </a:pPr>
            <a:r>
              <a:rPr lang="en-US" sz="1600" dirty="0">
                <a:solidFill>
                  <a:srgbClr val="059669"/>
                </a:solidFill>
                <a:latin typeface="IBM Plex Mono" pitchFamily="34" charset="0"/>
                <a:ea typeface="IBM Plex Mono" pitchFamily="34" charset="-122"/>
                <a:cs typeface="IBM Plex Mono" pitchFamily="34" charset="-120"/>
              </a:rPr>
              <a:t>"NewsNexus"</a:t>
            </a:r>
            <a:pPr algn="l" indent="0" marL="0">
              <a:buNone/>
            </a:pPr>
            <a:r>
              <a:rPr lang="en-US" sz="1600" dirty="0">
                <a:solidFill>
                  <a:srgbClr val="64748B"/>
                </a:solidFill>
                <a:latin typeface="IBM Plex Mono" pitchFamily="34" charset="0"/>
                <a:ea typeface="IBM Plex Mono" pitchFamily="34" charset="-122"/>
                <a:cs typeface="IBM Plex Mono" pitchFamily="34" charset="-120"/>
              </a:rPr>
              <a:t>)</a:t>
            </a:r>
            <a:endParaRPr lang="en-US" sz="1600" dirty="0"/>
          </a:p>
        </p:txBody>
      </p:sp>
      <p:sp>
        <p:nvSpPr>
          <p:cNvPr id="21" name="Shape 15"/>
          <p:cNvSpPr/>
          <p:nvPr/>
        </p:nvSpPr>
        <p:spPr>
          <a:xfrm>
            <a:off x="952805" y="5143500"/>
            <a:ext cx="418795" cy="418795"/>
          </a:xfrm>
          <a:prstGeom prst="roundRect">
            <a:avLst>
              <a:gd name="adj" fmla="val 79397"/>
            </a:avLst>
          </a:prstGeom>
          <a:solidFill>
            <a:srgbClr val="6366F1">
              <a:alpha val="10000"/>
            </a:srgbClr>
          </a:solidFill>
          <a:ln w="12700">
            <a:solidFill>
              <a:srgbClr val="FFFFFF">
                <a:alpha val="0"/>
              </a:srgbClr>
            </a:solidFill>
            <a:prstDash val="solid"/>
          </a:ln>
        </p:spPr>
      </p:sp>
      <p:pic>
        <p:nvPicPr>
          <p:cNvPr id="22" name="Image 4" descr="preencoded.png">    </p:cNvPr>
          <p:cNvPicPr>
            <a:picLocks noChangeAspect="1"/>
          </p:cNvPicPr>
          <p:nvPr/>
        </p:nvPicPr>
        <p:blipFill>
          <a:blip r:embed="rId5"/>
          <a:srcRect l="-1282" r="-1282" t="0" b="0"/>
          <a:stretch/>
        </p:blipFill>
        <p:spPr>
          <a:xfrm>
            <a:off x="1052474" y="5257800"/>
            <a:ext cx="219456" cy="190195"/>
          </a:xfrm>
          <a:prstGeom prst="rect">
            <a:avLst/>
          </a:prstGeom>
        </p:spPr>
      </p:pic>
      <p:sp>
        <p:nvSpPr>
          <p:cNvPr id="23" name="Text 16"/>
          <p:cNvSpPr txBox="1"/>
          <p:nvPr/>
        </p:nvSpPr>
        <p:spPr>
          <a:xfrm>
            <a:off x="1600200" y="5105095"/>
            <a:ext cx="9639605" cy="200254"/>
          </a:xfrm>
          <a:prstGeom prst="rect">
            <a:avLst/>
          </a:prstGeom>
          <a:noFill/>
          <a:ln/>
        </p:spPr>
        <p:txBody>
          <a:bodyPr wrap="square" lIns="0" tIns="0" rIns="0" bIns="0" rtlCol="0" anchor="ctr"/>
          <a:lstStyle/>
          <a:p>
            <a:pPr algn="l" indent="0" marL="0">
              <a:buNone/>
            </a:pPr>
            <a:r>
              <a:rPr lang="en-US" sz="1300" b="1" dirty="0">
                <a:solidFill>
                  <a:srgbClr val="1E293B"/>
                </a:solidFill>
                <a:latin typeface="Inter" pitchFamily="34" charset="0"/>
                <a:ea typeface="Inter" pitchFamily="34" charset="-122"/>
                <a:cs typeface="Inter" pitchFamily="34" charset="-120"/>
              </a:rPr>
              <a:t>Why set a "wide" layout?</a:t>
            </a:r>
            <a:endParaRPr lang="en-US" sz="1300" dirty="0"/>
          </a:p>
        </p:txBody>
      </p:sp>
      <p:sp>
        <p:nvSpPr>
          <p:cNvPr id="24" name="Text 17"/>
          <p:cNvSpPr txBox="1"/>
          <p:nvPr/>
        </p:nvSpPr>
        <p:spPr>
          <a:xfrm>
            <a:off x="1600200" y="5400446"/>
            <a:ext cx="9639605" cy="734263"/>
          </a:xfrm>
          <a:prstGeom prst="rect">
            <a:avLst/>
          </a:prstGeom>
          <a:noFill/>
          <a:ln/>
        </p:spPr>
        <p:txBody>
          <a:bodyPr wrap="square" lIns="0" tIns="0" rIns="0" bIns="0" rtlCol="0" anchor="ctr"/>
          <a:lstStyle/>
          <a:p>
            <a:pPr algn="l" indent="0" marL="0">
              <a:buNone/>
            </a:pPr>
            <a:r>
              <a:rPr lang="en-US" sz="1200" dirty="0">
                <a:solidFill>
                  <a:srgbClr val="475569"/>
                </a:solidFill>
                <a:latin typeface="Inter" pitchFamily="34" charset="0"/>
                <a:ea typeface="Inter" pitchFamily="34" charset="-122"/>
                <a:cs typeface="Inter" pitchFamily="34" charset="-120"/>
              </a:rPr>
              <a:t>Setting </a:t>
            </a:r>
            <a:pPr algn="l" indent="0" marL="0">
              <a:buNone/>
            </a:pPr>
            <a:r>
              <a:rPr lang="en-US" sz="1000" dirty="0">
                <a:solidFill>
                  <a:srgbClr val="4F46E5"/>
                </a:solidFill>
                <a:latin typeface="IBM Plex Mono" pitchFamily="34" charset="0"/>
                <a:ea typeface="IBM Plex Mono" pitchFamily="34" charset="-122"/>
                <a:cs typeface="IBM Plex Mono" pitchFamily="34" charset="-120"/>
              </a:rPr>
              <a:t>layout="wide"</a:t>
            </a:r>
            <a:pPr algn="l" indent="0" marL="0">
              <a:buNone/>
            </a:pPr>
            <a:r>
              <a:rPr lang="en-US" sz="1200" dirty="0">
                <a:solidFill>
                  <a:srgbClr val="475569"/>
                </a:solidFill>
                <a:latin typeface="Inter" pitchFamily="34" charset="0"/>
                <a:ea typeface="Inter" pitchFamily="34" charset="-122"/>
                <a:cs typeface="Inter" pitchFamily="34" charset="-120"/>
              </a:rPr>
              <a:t> immediately configures the Streamlit canvas to utilise the full width of the browser window. This is critical for GenAI applications like NewsNexus that require side-by-side panels—such as displaying the conversational chat interface on one side while rendering retrieved documents or agent reasoning traces on the other.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5" name="Shape 3"/>
          <p:cNvSpPr/>
          <p:nvPr/>
        </p:nvSpPr>
        <p:spPr>
          <a:xfrm>
            <a:off x="571500" y="2572207"/>
            <a:ext cx="5352898" cy="3762756"/>
          </a:xfrm>
          <a:prstGeom prst="roundRect">
            <a:avLst>
              <a:gd name="adj" fmla="val 147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6" name="Shape 4"/>
          <p:cNvSpPr/>
          <p:nvPr/>
        </p:nvSpPr>
        <p:spPr>
          <a:xfrm>
            <a:off x="571500" y="2572207"/>
            <a:ext cx="5352898" cy="38405"/>
          </a:xfrm>
          <a:prstGeom prst="roundRect">
            <a:avLst>
              <a:gd name="adj" fmla="val 144665"/>
            </a:avLst>
          </a:prstGeom>
          <a:solidFill>
            <a:srgbClr val="EF4444"/>
          </a:solidFill>
          <a:ln w="12700">
            <a:solidFill>
              <a:srgbClr val="EF4444">
                <a:alpha val="0"/>
              </a:srgbClr>
            </a:solidFill>
            <a:prstDash val="solid"/>
          </a:ln>
        </p:spPr>
      </p:sp>
      <p:sp>
        <p:nvSpPr>
          <p:cNvPr id="7" name="Shape 5"/>
          <p:cNvSpPr/>
          <p:nvPr/>
        </p:nvSpPr>
        <p:spPr>
          <a:xfrm>
            <a:off x="6286500" y="2572207"/>
            <a:ext cx="5352898" cy="3762756"/>
          </a:xfrm>
          <a:prstGeom prst="roundRect">
            <a:avLst>
              <a:gd name="adj" fmla="val 147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8" name="Shape 6"/>
          <p:cNvSpPr/>
          <p:nvPr/>
        </p:nvSpPr>
        <p:spPr>
          <a:xfrm>
            <a:off x="6286500" y="2572207"/>
            <a:ext cx="5352898" cy="38405"/>
          </a:xfrm>
          <a:prstGeom prst="roundRect">
            <a:avLst>
              <a:gd name="adj" fmla="val 144665"/>
            </a:avLst>
          </a:prstGeom>
          <a:solidFill>
            <a:srgbClr val="10B981"/>
          </a:solidFill>
          <a:ln w="12700">
            <a:solidFill>
              <a:srgbClr val="10B981">
                <a:alpha val="0"/>
              </a:srgbClr>
            </a:solidFill>
            <a:prstDash val="solid"/>
          </a:ln>
        </p:spPr>
      </p:sp>
      <p:sp>
        <p:nvSpPr>
          <p:cNvPr id="9" name="Shape 7"/>
          <p:cNvSpPr/>
          <p:nvPr/>
        </p:nvSpPr>
        <p:spPr>
          <a:xfrm>
            <a:off x="571500" y="409651"/>
            <a:ext cx="418795" cy="418795"/>
          </a:xfrm>
          <a:prstGeom prst="roundRect">
            <a:avLst>
              <a:gd name="adj" fmla="val 119095"/>
            </a:avLst>
          </a:prstGeom>
          <a:solidFill>
            <a:srgbClr val="6366F1"/>
          </a:solidFill>
          <a:ln w="12700">
            <a:solidFill>
              <a:srgbClr val="FFFFFF">
                <a:alpha val="0"/>
              </a:srgbClr>
            </a:solidFill>
            <a:prstDash val="solid"/>
          </a:ln>
        </p:spPr>
      </p:sp>
      <p:pic>
        <p:nvPicPr>
          <p:cNvPr id="10" name="Image 0" descr="preencoded.png">    </p:cNvPr>
          <p:cNvPicPr>
            <a:picLocks noChangeAspect="1"/>
          </p:cNvPicPr>
          <p:nvPr/>
        </p:nvPicPr>
        <p:blipFill>
          <a:blip r:embed="rId1"/>
          <a:srcRect l="-1004" r="-1004" t="0" b="0"/>
          <a:stretch/>
        </p:blipFill>
        <p:spPr>
          <a:xfrm>
            <a:off x="647395" y="514807"/>
            <a:ext cx="267005" cy="209398"/>
          </a:xfrm>
          <a:prstGeom prst="rect">
            <a:avLst/>
          </a:prstGeom>
        </p:spPr>
      </p:pic>
      <p:sp>
        <p:nvSpPr>
          <p:cNvPr id="11" name="Text 8"/>
          <p:cNvSpPr txBox="1"/>
          <p:nvPr/>
        </p:nvSpPr>
        <p:spPr>
          <a:xfrm>
            <a:off x="1143000" y="47183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12" name="Shape 9"/>
          <p:cNvSpPr/>
          <p:nvPr/>
        </p:nvSpPr>
        <p:spPr>
          <a:xfrm>
            <a:off x="9215323" y="424282"/>
            <a:ext cx="2409444" cy="390449"/>
          </a:xfrm>
          <a:prstGeom prst="roundRect">
            <a:avLst>
              <a:gd name="adj" fmla="val 234192"/>
            </a:avLst>
          </a:prstGeom>
          <a:solidFill>
            <a:srgbClr val="6366F1">
              <a:alpha val="8000"/>
            </a:srgbClr>
          </a:solidFill>
          <a:ln w="12700">
            <a:solidFill>
              <a:srgbClr val="6366F1">
                <a:alpha val="15000"/>
              </a:srgbClr>
            </a:solidFill>
            <a:prstDash val="solid"/>
          </a:ln>
        </p:spPr>
      </p:sp>
      <p:pic>
        <p:nvPicPr>
          <p:cNvPr id="13" name="Image 1" descr="preencoded.png">    </p:cNvPr>
          <p:cNvPicPr>
            <a:picLocks noChangeAspect="1"/>
          </p:cNvPicPr>
          <p:nvPr/>
        </p:nvPicPr>
        <p:blipFill>
          <a:blip r:embed="rId2"/>
          <a:srcRect l="0" r="0" t="0" b="0"/>
          <a:stretch/>
        </p:blipFill>
        <p:spPr>
          <a:xfrm>
            <a:off x="9415577" y="552298"/>
            <a:ext cx="133502" cy="133502"/>
          </a:xfrm>
          <a:prstGeom prst="rect">
            <a:avLst/>
          </a:prstGeom>
        </p:spPr>
      </p:pic>
      <p:sp>
        <p:nvSpPr>
          <p:cNvPr id="14" name="Text 10"/>
          <p:cNvSpPr txBox="1"/>
          <p:nvPr/>
        </p:nvSpPr>
        <p:spPr>
          <a:xfrm>
            <a:off x="9644177" y="424282"/>
            <a:ext cx="1781251" cy="391363"/>
          </a:xfrm>
          <a:prstGeom prst="rect">
            <a:avLst/>
          </a:prstGeom>
          <a:noFill/>
          <a:ln/>
        </p:spPr>
        <p:txBody>
          <a:bodyPr wrap="square" lIns="0" tIns="0" rIns="0" bIns="0" rtlCol="0" anchor="ctr"/>
          <a:lstStyle/>
          <a:p>
            <a:pPr algn="l" indent="0" marL="0">
              <a:buNone/>
            </a:pPr>
            <a:r>
              <a:rPr lang="en-US" sz="1100" dirty="0">
                <a:solidFill>
                  <a:srgbClr val="6366F1"/>
                </a:solidFill>
                <a:latin typeface="Inter" pitchFamily="34" charset="0"/>
                <a:ea typeface="Inter" pitchFamily="34" charset="-122"/>
                <a:cs typeface="Inter" pitchFamily="34" charset="-120"/>
              </a:rPr>
              <a:t>Local-First = Privacy-First</a:t>
            </a:r>
            <a:endParaRPr lang="en-US" sz="1100" dirty="0"/>
          </a:p>
        </p:txBody>
      </p:sp>
      <p:sp>
        <p:nvSpPr>
          <p:cNvPr id="15" name="Text 11"/>
          <p:cNvSpPr txBox="1"/>
          <p:nvPr/>
        </p:nvSpPr>
        <p:spPr>
          <a:xfrm>
            <a:off x="571500" y="1543507"/>
            <a:ext cx="11049610" cy="400507"/>
          </a:xfrm>
          <a:prstGeom prst="rect">
            <a:avLst/>
          </a:prstGeom>
          <a:noFill/>
          <a:ln/>
        </p:spPr>
        <p:txBody>
          <a:bodyPr wrap="square" lIns="0" tIns="0" rIns="0" bIns="0" rtlCol="0" anchor="ctr"/>
          <a:lstStyle/>
          <a:p>
            <a:pPr algn="l" indent="0" marL="0">
              <a:buNone/>
            </a:pPr>
            <a:r>
              <a:rPr lang="en-US" sz="3100" b="1" spc="-75" kern="0" dirty="0">
                <a:solidFill>
                  <a:srgbClr val="1E293B"/>
                </a:solidFill>
                <a:latin typeface="Inter" pitchFamily="34" charset="0"/>
                <a:ea typeface="Inter" pitchFamily="34" charset="-122"/>
                <a:cs typeface="Inter" pitchFamily="34" charset="-120"/>
              </a:rPr>
              <a:t>Strategic Pivot Away From </a:t>
            </a:r>
            <a:pPr algn="l" indent="0" marL="0">
              <a:buNone/>
            </a:pPr>
            <a:r>
              <a:rPr lang="en-US" sz="3100" b="1" spc="-75" kern="0" dirty="0">
                <a:solidFill>
                  <a:srgbClr val="6366F1"/>
                </a:solidFill>
                <a:latin typeface="Inter" pitchFamily="34" charset="0"/>
                <a:ea typeface="Inter" pitchFamily="34" charset="-122"/>
                <a:cs typeface="Inter" pitchFamily="34" charset="-120"/>
              </a:rPr>
              <a:t>Cloud APIs</a:t>
            </a:r>
            <a:endParaRPr lang="en-US" sz="3100" dirty="0"/>
          </a:p>
        </p:txBody>
      </p:sp>
      <p:sp>
        <p:nvSpPr>
          <p:cNvPr id="16" name="Text 12"/>
          <p:cNvSpPr txBox="1"/>
          <p:nvPr/>
        </p:nvSpPr>
        <p:spPr>
          <a:xfrm>
            <a:off x="571500" y="2038198"/>
            <a:ext cx="8306410" cy="257861"/>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Comparing the traditional cloud-based AI approach against the local-first design.</a:t>
            </a:r>
            <a:endParaRPr lang="en-US" sz="1300" dirty="0"/>
          </a:p>
        </p:txBody>
      </p:sp>
      <p:sp>
        <p:nvSpPr>
          <p:cNvPr id="17" name="Shape 13"/>
          <p:cNvSpPr/>
          <p:nvPr/>
        </p:nvSpPr>
        <p:spPr>
          <a:xfrm>
            <a:off x="571500" y="1143000"/>
            <a:ext cx="2143354" cy="286207"/>
          </a:xfrm>
          <a:prstGeom prst="roundRect">
            <a:avLst>
              <a:gd name="adj" fmla="val 170394"/>
            </a:avLst>
          </a:prstGeom>
          <a:solidFill>
            <a:srgbClr val="6366F1">
              <a:alpha val="8000"/>
            </a:srgbClr>
          </a:solidFill>
          <a:ln w="12700">
            <a:solidFill>
              <a:srgbClr val="6366F1">
                <a:alpha val="20000"/>
              </a:srgbClr>
            </a:solidFill>
            <a:prstDash val="solid"/>
          </a:ln>
        </p:spPr>
      </p:sp>
      <p:sp>
        <p:nvSpPr>
          <p:cNvPr id="18" name="Text 14"/>
          <p:cNvSpPr txBox="1"/>
          <p:nvPr/>
        </p:nvSpPr>
        <p:spPr>
          <a:xfrm>
            <a:off x="571500" y="1143000"/>
            <a:ext cx="2143354"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6366F1"/>
                </a:solidFill>
                <a:latin typeface="Inter" pitchFamily="34" charset="0"/>
                <a:ea typeface="Inter" pitchFamily="34" charset="-122"/>
                <a:cs typeface="Inter" pitchFamily="34" charset="-120"/>
              </a:rPr>
              <a:t>Architectural Paradigm</a:t>
            </a:r>
            <a:endParaRPr lang="en-US" sz="900" dirty="0"/>
          </a:p>
        </p:txBody>
      </p:sp>
      <p:sp>
        <p:nvSpPr>
          <p:cNvPr id="19" name="Shape 15"/>
          <p:cNvSpPr/>
          <p:nvPr/>
        </p:nvSpPr>
        <p:spPr>
          <a:xfrm>
            <a:off x="857707" y="2857500"/>
            <a:ext cx="457200" cy="457200"/>
          </a:xfrm>
          <a:prstGeom prst="roundRect">
            <a:avLst>
              <a:gd name="adj" fmla="val 83333"/>
            </a:avLst>
          </a:prstGeom>
          <a:solidFill>
            <a:srgbClr val="EF4444">
              <a:alpha val="10000"/>
            </a:srgbClr>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1004" r="-1004" t="0" b="0"/>
          <a:stretch/>
        </p:blipFill>
        <p:spPr>
          <a:xfrm>
            <a:off x="952805" y="2980944"/>
            <a:ext cx="267005" cy="209398"/>
          </a:xfrm>
          <a:prstGeom prst="rect">
            <a:avLst/>
          </a:prstGeom>
        </p:spPr>
      </p:pic>
      <p:sp>
        <p:nvSpPr>
          <p:cNvPr id="21" name="Text 16"/>
          <p:cNvSpPr txBox="1"/>
          <p:nvPr/>
        </p:nvSpPr>
        <p:spPr>
          <a:xfrm>
            <a:off x="1466698" y="2876702"/>
            <a:ext cx="4096512" cy="277063"/>
          </a:xfrm>
          <a:prstGeom prst="rect">
            <a:avLst/>
          </a:prstGeom>
          <a:noFill/>
          <a:ln/>
        </p:spPr>
        <p:txBody>
          <a:bodyPr wrap="square" lIns="0" tIns="0" rIns="0" bIns="0" rtlCol="0" anchor="ctr"/>
          <a:lstStyle/>
          <a:p>
            <a:pPr algn="l" indent="0" marL="0">
              <a:buNone/>
            </a:pPr>
            <a:r>
              <a:rPr lang="en-US" sz="1800" b="1" dirty="0">
                <a:solidFill>
                  <a:srgbClr val="1E293B"/>
                </a:solidFill>
                <a:latin typeface="Inter" pitchFamily="34" charset="0"/>
                <a:ea typeface="Inter" pitchFamily="34" charset="-122"/>
                <a:cs typeface="Inter" pitchFamily="34" charset="-120"/>
              </a:rPr>
              <a:t>Cloud AI</a:t>
            </a:r>
            <a:endParaRPr lang="en-US" sz="1800" dirty="0"/>
          </a:p>
        </p:txBody>
      </p:sp>
      <p:sp>
        <p:nvSpPr>
          <p:cNvPr id="22" name="Text 17"/>
          <p:cNvSpPr txBox="1"/>
          <p:nvPr/>
        </p:nvSpPr>
        <p:spPr>
          <a:xfrm>
            <a:off x="1466698" y="3191256"/>
            <a:ext cx="4096512" cy="162763"/>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API-dependent architecture</a:t>
            </a:r>
            <a:endParaRPr lang="en-US" sz="1000" dirty="0"/>
          </a:p>
        </p:txBody>
      </p:sp>
      <p:sp>
        <p:nvSpPr>
          <p:cNvPr id="23" name="Shape 18"/>
          <p:cNvSpPr/>
          <p:nvPr/>
        </p:nvSpPr>
        <p:spPr>
          <a:xfrm>
            <a:off x="857707" y="3619195"/>
            <a:ext cx="304495" cy="304495"/>
          </a:xfrm>
          <a:prstGeom prst="roundRect">
            <a:avLst>
              <a:gd name="adj" fmla="val 150150"/>
            </a:avLst>
          </a:prstGeom>
          <a:solidFill>
            <a:srgbClr val="EF4444">
              <a:alpha val="5000"/>
            </a:srgbClr>
          </a:solidFill>
          <a:ln w="12700">
            <a:solidFill>
              <a:srgbClr val="FFFFFF">
                <a:alpha val="0"/>
              </a:srgbClr>
            </a:solidFill>
            <a:prstDash val="solid"/>
          </a:ln>
        </p:spPr>
      </p:sp>
      <p:pic>
        <p:nvPicPr>
          <p:cNvPr id="24" name="Image 3" descr="preencoded.png">    </p:cNvPr>
          <p:cNvPicPr>
            <a:picLocks noChangeAspect="1"/>
          </p:cNvPicPr>
          <p:nvPr/>
        </p:nvPicPr>
        <p:blipFill>
          <a:blip r:embed="rId4"/>
          <a:srcRect l="0" r="0" t="-1100" b="-1100"/>
          <a:stretch/>
        </p:blipFill>
        <p:spPr>
          <a:xfrm>
            <a:off x="952805" y="3705149"/>
            <a:ext cx="114300" cy="133502"/>
          </a:xfrm>
          <a:prstGeom prst="rect">
            <a:avLst/>
          </a:prstGeom>
        </p:spPr>
      </p:pic>
      <p:sp>
        <p:nvSpPr>
          <p:cNvPr id="25" name="Text 19"/>
          <p:cNvSpPr txBox="1"/>
          <p:nvPr/>
        </p:nvSpPr>
        <p:spPr>
          <a:xfrm>
            <a:off x="1314907" y="3571646"/>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Data Privacy</a:t>
            </a:r>
            <a:endParaRPr lang="en-US" sz="1200" dirty="0"/>
          </a:p>
        </p:txBody>
      </p:sp>
      <p:sp>
        <p:nvSpPr>
          <p:cNvPr id="26" name="Text 20"/>
          <p:cNvSpPr txBox="1"/>
          <p:nvPr/>
        </p:nvSpPr>
        <p:spPr>
          <a:xfrm>
            <a:off x="1314907" y="3800246"/>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Data leaves your network, creating significant compliance risk and vulnerabilities.</a:t>
            </a:r>
            <a:endParaRPr lang="en-US" sz="1000" dirty="0"/>
          </a:p>
        </p:txBody>
      </p:sp>
      <p:sp>
        <p:nvSpPr>
          <p:cNvPr id="27" name="Shape 21"/>
          <p:cNvSpPr/>
          <p:nvPr/>
        </p:nvSpPr>
        <p:spPr>
          <a:xfrm>
            <a:off x="857707" y="4476902"/>
            <a:ext cx="304495" cy="304495"/>
          </a:xfrm>
          <a:prstGeom prst="roundRect">
            <a:avLst>
              <a:gd name="adj" fmla="val 150150"/>
            </a:avLst>
          </a:prstGeom>
          <a:solidFill>
            <a:srgbClr val="EF4444">
              <a:alpha val="5000"/>
            </a:srgbClr>
          </a:solidFill>
          <a:ln w="12700">
            <a:solidFill>
              <a:srgbClr val="FFFFFF">
                <a:alpha val="0"/>
              </a:srgbClr>
            </a:solidFill>
            <a:prstDash val="solid"/>
          </a:ln>
        </p:spPr>
      </p:sp>
      <p:pic>
        <p:nvPicPr>
          <p:cNvPr id="28" name="Image 4" descr="preencoded.png">    </p:cNvPr>
          <p:cNvPicPr>
            <a:picLocks noChangeAspect="1"/>
          </p:cNvPicPr>
          <p:nvPr/>
        </p:nvPicPr>
        <p:blipFill>
          <a:blip r:embed="rId5"/>
          <a:srcRect l="0" r="0" t="-1100" b="-1100"/>
          <a:stretch/>
        </p:blipFill>
        <p:spPr>
          <a:xfrm>
            <a:off x="952805" y="4562856"/>
            <a:ext cx="114300" cy="133502"/>
          </a:xfrm>
          <a:prstGeom prst="rect">
            <a:avLst/>
          </a:prstGeom>
        </p:spPr>
      </p:pic>
      <p:sp>
        <p:nvSpPr>
          <p:cNvPr id="29" name="Text 22"/>
          <p:cNvSpPr txBox="1"/>
          <p:nvPr/>
        </p:nvSpPr>
        <p:spPr>
          <a:xfrm>
            <a:off x="1314907" y="4429354"/>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Latency &amp; Hardware</a:t>
            </a:r>
            <a:endParaRPr lang="en-US" sz="1200" dirty="0"/>
          </a:p>
        </p:txBody>
      </p:sp>
      <p:sp>
        <p:nvSpPr>
          <p:cNvPr id="30" name="Text 23"/>
          <p:cNvSpPr txBox="1"/>
          <p:nvPr/>
        </p:nvSpPr>
        <p:spPr>
          <a:xfrm>
            <a:off x="1314907" y="4657954"/>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Variable latency tied to external provider load and network conditions.</a:t>
            </a:r>
            <a:endParaRPr lang="en-US" sz="1000" dirty="0"/>
          </a:p>
        </p:txBody>
      </p:sp>
      <p:sp>
        <p:nvSpPr>
          <p:cNvPr id="31" name="Shape 24"/>
          <p:cNvSpPr/>
          <p:nvPr/>
        </p:nvSpPr>
        <p:spPr>
          <a:xfrm>
            <a:off x="857707" y="5333695"/>
            <a:ext cx="304495" cy="304495"/>
          </a:xfrm>
          <a:prstGeom prst="roundRect">
            <a:avLst>
              <a:gd name="adj" fmla="val 150150"/>
            </a:avLst>
          </a:prstGeom>
          <a:solidFill>
            <a:srgbClr val="EF4444">
              <a:alpha val="5000"/>
            </a:srgbClr>
          </a:solidFill>
          <a:ln w="12700">
            <a:solidFill>
              <a:srgbClr val="FFFFFF">
                <a:alpha val="0"/>
              </a:srgbClr>
            </a:solidFill>
            <a:prstDash val="solid"/>
          </a:ln>
        </p:spPr>
      </p:sp>
      <p:pic>
        <p:nvPicPr>
          <p:cNvPr id="32" name="Image 5" descr="preencoded.png">    </p:cNvPr>
          <p:cNvPicPr>
            <a:picLocks noChangeAspect="1"/>
          </p:cNvPicPr>
          <p:nvPr/>
        </p:nvPicPr>
        <p:blipFill>
          <a:blip r:embed="rId6"/>
          <a:srcRect l="-837" r="-837" t="0" b="0"/>
          <a:stretch/>
        </p:blipFill>
        <p:spPr>
          <a:xfrm>
            <a:off x="933602" y="5419649"/>
            <a:ext cx="152705" cy="133502"/>
          </a:xfrm>
          <a:prstGeom prst="rect">
            <a:avLst/>
          </a:prstGeom>
        </p:spPr>
      </p:pic>
      <p:sp>
        <p:nvSpPr>
          <p:cNvPr id="33" name="Text 25"/>
          <p:cNvSpPr txBox="1"/>
          <p:nvPr/>
        </p:nvSpPr>
        <p:spPr>
          <a:xfrm>
            <a:off x="1314907" y="5286146"/>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Cost Predictability</a:t>
            </a:r>
            <a:endParaRPr lang="en-US" sz="1200" dirty="0"/>
          </a:p>
        </p:txBody>
      </p:sp>
      <p:sp>
        <p:nvSpPr>
          <p:cNvPr id="34" name="Text 26"/>
          <p:cNvSpPr txBox="1"/>
          <p:nvPr/>
        </p:nvSpPr>
        <p:spPr>
          <a:xfrm>
            <a:off x="1314907" y="5514746"/>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Usage-based pricing (per token) leads to unexpected and skyrocketing API bills.</a:t>
            </a:r>
            <a:endParaRPr lang="en-US" sz="1000" dirty="0"/>
          </a:p>
        </p:txBody>
      </p:sp>
      <p:sp>
        <p:nvSpPr>
          <p:cNvPr id="35" name="Shape 27"/>
          <p:cNvSpPr/>
          <p:nvPr/>
        </p:nvSpPr>
        <p:spPr>
          <a:xfrm>
            <a:off x="6572707" y="2857500"/>
            <a:ext cx="457200" cy="457200"/>
          </a:xfrm>
          <a:prstGeom prst="roundRect">
            <a:avLst>
              <a:gd name="adj" fmla="val 83333"/>
            </a:avLst>
          </a:prstGeom>
          <a:solidFill>
            <a:srgbClr val="10B981">
              <a:alpha val="10000"/>
            </a:srgbClr>
          </a:solidFill>
          <a:ln w="12700">
            <a:solidFill>
              <a:srgbClr val="FFFFFF">
                <a:alpha val="0"/>
              </a:srgbClr>
            </a:solidFill>
            <a:prstDash val="solid"/>
          </a:ln>
        </p:spPr>
      </p:sp>
      <p:pic>
        <p:nvPicPr>
          <p:cNvPr id="36" name="Image 6" descr="preencoded.png">    </p:cNvPr>
          <p:cNvPicPr>
            <a:picLocks noChangeAspect="1"/>
          </p:cNvPicPr>
          <p:nvPr/>
        </p:nvPicPr>
        <p:blipFill>
          <a:blip r:embed="rId7"/>
          <a:srcRect l="0" r="0" t="0" b="0"/>
          <a:stretch/>
        </p:blipFill>
        <p:spPr>
          <a:xfrm>
            <a:off x="6696151" y="2980944"/>
            <a:ext cx="209398" cy="209398"/>
          </a:xfrm>
          <a:prstGeom prst="rect">
            <a:avLst/>
          </a:prstGeom>
        </p:spPr>
      </p:pic>
      <p:sp>
        <p:nvSpPr>
          <p:cNvPr id="37" name="Text 28"/>
          <p:cNvSpPr txBox="1"/>
          <p:nvPr/>
        </p:nvSpPr>
        <p:spPr>
          <a:xfrm>
            <a:off x="7181698" y="2876702"/>
            <a:ext cx="4096512" cy="277063"/>
          </a:xfrm>
          <a:prstGeom prst="rect">
            <a:avLst/>
          </a:prstGeom>
          <a:noFill/>
          <a:ln/>
        </p:spPr>
        <p:txBody>
          <a:bodyPr wrap="square" lIns="0" tIns="0" rIns="0" bIns="0" rtlCol="0" anchor="ctr"/>
          <a:lstStyle/>
          <a:p>
            <a:pPr algn="l" indent="0" marL="0">
              <a:buNone/>
            </a:pPr>
            <a:r>
              <a:rPr lang="en-US" sz="1800" b="1" dirty="0">
                <a:solidFill>
                  <a:srgbClr val="1E293B"/>
                </a:solidFill>
                <a:latin typeface="Inter" pitchFamily="34" charset="0"/>
                <a:ea typeface="Inter" pitchFamily="34" charset="-122"/>
                <a:cs typeface="Inter" pitchFamily="34" charset="-120"/>
              </a:rPr>
              <a:t>Local AI</a:t>
            </a:r>
            <a:endParaRPr lang="en-US" sz="1800" dirty="0"/>
          </a:p>
        </p:txBody>
      </p:sp>
      <p:sp>
        <p:nvSpPr>
          <p:cNvPr id="38" name="Text 29"/>
          <p:cNvSpPr txBox="1"/>
          <p:nvPr/>
        </p:nvSpPr>
        <p:spPr>
          <a:xfrm>
            <a:off x="7181698" y="3191256"/>
            <a:ext cx="4096512" cy="162763"/>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Self-hosted architecture</a:t>
            </a:r>
            <a:endParaRPr lang="en-US" sz="1000" dirty="0"/>
          </a:p>
        </p:txBody>
      </p:sp>
      <p:sp>
        <p:nvSpPr>
          <p:cNvPr id="39" name="Shape 30"/>
          <p:cNvSpPr/>
          <p:nvPr/>
        </p:nvSpPr>
        <p:spPr>
          <a:xfrm>
            <a:off x="6572707" y="3619195"/>
            <a:ext cx="304495" cy="304495"/>
          </a:xfrm>
          <a:prstGeom prst="roundRect">
            <a:avLst>
              <a:gd name="adj" fmla="val 150150"/>
            </a:avLst>
          </a:prstGeom>
          <a:solidFill>
            <a:srgbClr val="10B981">
              <a:alpha val="5000"/>
            </a:srgbClr>
          </a:solidFill>
          <a:ln w="12700">
            <a:solidFill>
              <a:srgbClr val="FFFFFF">
                <a:alpha val="0"/>
              </a:srgbClr>
            </a:solidFill>
            <a:prstDash val="solid"/>
          </a:ln>
        </p:spPr>
      </p:sp>
      <p:pic>
        <p:nvPicPr>
          <p:cNvPr id="40" name="Image 7" descr="preencoded.png">    </p:cNvPr>
          <p:cNvPicPr>
            <a:picLocks noChangeAspect="1"/>
          </p:cNvPicPr>
          <p:nvPr/>
        </p:nvPicPr>
        <p:blipFill>
          <a:blip r:embed="rId8"/>
          <a:srcRect l="0" r="0" t="-1100" b="-1100"/>
          <a:stretch/>
        </p:blipFill>
        <p:spPr>
          <a:xfrm>
            <a:off x="6667805" y="3705149"/>
            <a:ext cx="114300" cy="133502"/>
          </a:xfrm>
          <a:prstGeom prst="rect">
            <a:avLst/>
          </a:prstGeom>
        </p:spPr>
      </p:pic>
      <p:sp>
        <p:nvSpPr>
          <p:cNvPr id="41" name="Text 31"/>
          <p:cNvSpPr txBox="1"/>
          <p:nvPr/>
        </p:nvSpPr>
        <p:spPr>
          <a:xfrm>
            <a:off x="7029907" y="3571646"/>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Data Privacy</a:t>
            </a:r>
            <a:endParaRPr lang="en-US" sz="1200" dirty="0"/>
          </a:p>
        </p:txBody>
      </p:sp>
      <p:sp>
        <p:nvSpPr>
          <p:cNvPr id="42" name="Text 32"/>
          <p:cNvSpPr txBox="1"/>
          <p:nvPr/>
        </p:nvSpPr>
        <p:spPr>
          <a:xfrm>
            <a:off x="7029907" y="3800246"/>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Total isolation. Sensitive business data never leaves your secure device environment.</a:t>
            </a:r>
            <a:endParaRPr lang="en-US" sz="1000" dirty="0"/>
          </a:p>
        </p:txBody>
      </p:sp>
      <p:sp>
        <p:nvSpPr>
          <p:cNvPr id="43" name="Shape 33"/>
          <p:cNvSpPr/>
          <p:nvPr/>
        </p:nvSpPr>
        <p:spPr>
          <a:xfrm>
            <a:off x="6572707" y="4476902"/>
            <a:ext cx="304495" cy="304495"/>
          </a:xfrm>
          <a:prstGeom prst="roundRect">
            <a:avLst>
              <a:gd name="adj" fmla="val 150150"/>
            </a:avLst>
          </a:prstGeom>
          <a:solidFill>
            <a:srgbClr val="10B981">
              <a:alpha val="5000"/>
            </a:srgbClr>
          </a:solidFill>
          <a:ln w="12700">
            <a:solidFill>
              <a:srgbClr val="FFFFFF">
                <a:alpha val="0"/>
              </a:srgbClr>
            </a:solidFill>
            <a:prstDash val="solid"/>
          </a:ln>
        </p:spPr>
      </p:sp>
      <p:pic>
        <p:nvPicPr>
          <p:cNvPr id="44" name="Image 8" descr="preencoded.png">    </p:cNvPr>
          <p:cNvPicPr>
            <a:picLocks noChangeAspect="1"/>
          </p:cNvPicPr>
          <p:nvPr/>
        </p:nvPicPr>
        <p:blipFill>
          <a:blip r:embed="rId9"/>
          <a:srcRect l="0" r="0" t="-1100" b="-1100"/>
          <a:stretch/>
        </p:blipFill>
        <p:spPr>
          <a:xfrm>
            <a:off x="6667805" y="4562856"/>
            <a:ext cx="114300" cy="133502"/>
          </a:xfrm>
          <a:prstGeom prst="rect">
            <a:avLst/>
          </a:prstGeom>
        </p:spPr>
      </p:pic>
      <p:sp>
        <p:nvSpPr>
          <p:cNvPr id="45" name="Text 34"/>
          <p:cNvSpPr txBox="1"/>
          <p:nvPr/>
        </p:nvSpPr>
        <p:spPr>
          <a:xfrm>
            <a:off x="7029907" y="4429354"/>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Latency &amp; Hardware</a:t>
            </a:r>
            <a:endParaRPr lang="en-US" sz="1200" dirty="0"/>
          </a:p>
        </p:txBody>
      </p:sp>
      <p:sp>
        <p:nvSpPr>
          <p:cNvPr id="46" name="Text 35"/>
          <p:cNvSpPr txBox="1"/>
          <p:nvPr/>
        </p:nvSpPr>
        <p:spPr>
          <a:xfrm>
            <a:off x="7029907" y="4657954"/>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Deterministic, reliable latency constrained only by your local machine capabilities.</a:t>
            </a:r>
            <a:endParaRPr lang="en-US" sz="1000" dirty="0"/>
          </a:p>
        </p:txBody>
      </p:sp>
      <p:sp>
        <p:nvSpPr>
          <p:cNvPr id="47" name="Shape 36"/>
          <p:cNvSpPr/>
          <p:nvPr/>
        </p:nvSpPr>
        <p:spPr>
          <a:xfrm>
            <a:off x="6572707" y="5333695"/>
            <a:ext cx="304495" cy="304495"/>
          </a:xfrm>
          <a:prstGeom prst="roundRect">
            <a:avLst>
              <a:gd name="adj" fmla="val 150150"/>
            </a:avLst>
          </a:prstGeom>
          <a:solidFill>
            <a:srgbClr val="10B981">
              <a:alpha val="5000"/>
            </a:srgbClr>
          </a:solidFill>
          <a:ln w="12700">
            <a:solidFill>
              <a:srgbClr val="FFFFFF">
                <a:alpha val="0"/>
              </a:srgbClr>
            </a:solidFill>
            <a:prstDash val="solid"/>
          </a:ln>
        </p:spPr>
      </p:sp>
      <p:pic>
        <p:nvPicPr>
          <p:cNvPr id="48" name="Image 9" descr="preencoded.png">    </p:cNvPr>
          <p:cNvPicPr>
            <a:picLocks noChangeAspect="1"/>
          </p:cNvPicPr>
          <p:nvPr/>
        </p:nvPicPr>
        <p:blipFill>
          <a:blip r:embed="rId10"/>
          <a:srcRect l="-837" r="-837" t="0" b="0"/>
          <a:stretch/>
        </p:blipFill>
        <p:spPr>
          <a:xfrm>
            <a:off x="6648602" y="5419649"/>
            <a:ext cx="152705" cy="133502"/>
          </a:xfrm>
          <a:prstGeom prst="rect">
            <a:avLst/>
          </a:prstGeom>
        </p:spPr>
      </p:pic>
      <p:sp>
        <p:nvSpPr>
          <p:cNvPr id="49" name="Text 37"/>
          <p:cNvSpPr txBox="1"/>
          <p:nvPr/>
        </p:nvSpPr>
        <p:spPr>
          <a:xfrm>
            <a:off x="7029907" y="5286146"/>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Cost Predictability</a:t>
            </a:r>
            <a:endParaRPr lang="en-US" sz="1200" dirty="0"/>
          </a:p>
        </p:txBody>
      </p:sp>
      <p:sp>
        <p:nvSpPr>
          <p:cNvPr id="50" name="Text 38"/>
          <p:cNvSpPr txBox="1"/>
          <p:nvPr/>
        </p:nvSpPr>
        <p:spPr>
          <a:xfrm>
            <a:off x="7029907" y="5514746"/>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Zero marginal cost per token. A single upfront hardware or steady server setup fee.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r>
          <p:cNvPicPr>
            <a:picLocks noChangeAspect="1"/>
          </p:cNvPicPr>
          <p:nvPr/>
        </p:nvPicPr>
        <p:blipFill>
          <a:blip r:embed="rId1"/>
          <a:srcRect l="0" r="0" t="-1" b="-1"/>
          <a:stretch/>
        </p:blipFill>
        <p:spPr>
          <a:xfrm>
            <a:off x="0" y="0"/>
            <a:ext cx="12191695" cy="6858000"/>
          </a:xfrm>
          <a:prstGeom prst="rect">
            <a:avLst/>
          </a:prstGeom>
        </p:spPr>
      </p:pic>
      <p:pic>
        <p:nvPicPr>
          <p:cNvPr id="5" name="Image 1" descr="preencoded.png">    </p:cNvPr>
          <p:cNvPicPr>
            <a:picLocks noChangeAspect="1"/>
          </p:cNvPicPr>
          <p:nvPr/>
        </p:nvPicPr>
        <p:blipFill>
          <a:blip r:embed="rId2"/>
          <a:srcRect l="-4" r="-4" t="0" b="0"/>
          <a:stretch/>
        </p:blipFill>
        <p:spPr>
          <a:xfrm>
            <a:off x="476402" y="3047695"/>
            <a:ext cx="6877202" cy="2495398"/>
          </a:xfrm>
          <a:prstGeom prst="rect">
            <a:avLst/>
          </a:prstGeom>
        </p:spPr>
      </p:pic>
      <p:pic>
        <p:nvPicPr>
          <p:cNvPr id="6" name="Image 2" descr="preencoded.png">    </p:cNvPr>
          <p:cNvPicPr>
            <a:picLocks noChangeAspect="1"/>
          </p:cNvPicPr>
          <p:nvPr/>
        </p:nvPicPr>
        <p:blipFill>
          <a:blip r:embed="rId3"/>
          <a:srcRect l="-2" r="-2" t="0" b="0"/>
          <a:stretch/>
        </p:blipFill>
        <p:spPr>
          <a:xfrm>
            <a:off x="7715707" y="952805"/>
            <a:ext cx="4019702" cy="2971800"/>
          </a:xfrm>
          <a:prstGeom prst="rect">
            <a:avLst/>
          </a:prstGeom>
        </p:spPr>
      </p:pic>
      <p:pic>
        <p:nvPicPr>
          <p:cNvPr id="7" name="Image 3" descr="preencoded.png">    </p:cNvPr>
          <p:cNvPicPr>
            <a:picLocks noChangeAspect="1"/>
          </p:cNvPicPr>
          <p:nvPr/>
        </p:nvPicPr>
        <p:blipFill>
          <a:blip r:embed="rId4"/>
          <a:srcRect l="-9" r="-9" t="0" b="0"/>
          <a:stretch/>
        </p:blipFill>
        <p:spPr>
          <a:xfrm>
            <a:off x="7715707" y="4095598"/>
            <a:ext cx="4019702" cy="2018995"/>
          </a:xfrm>
          <a:prstGeom prst="rect">
            <a:avLst/>
          </a:prstGeom>
        </p:spPr>
      </p:pic>
      <p:pic>
        <p:nvPicPr>
          <p:cNvPr id="8" name="Image 4" descr="preencoded.png">    </p:cNvPr>
          <p:cNvPicPr>
            <a:picLocks noChangeAspect="1"/>
          </p:cNvPicPr>
          <p:nvPr/>
        </p:nvPicPr>
        <p:blipFill>
          <a:blip r:embed="rId5"/>
          <a:srcRect l="0" r="0" t="0" b="0"/>
          <a:stretch/>
        </p:blipFill>
        <p:spPr>
          <a:xfrm>
            <a:off x="476402" y="286207"/>
            <a:ext cx="342900" cy="342900"/>
          </a:xfrm>
          <a:prstGeom prst="rect">
            <a:avLst/>
          </a:prstGeom>
        </p:spPr>
      </p:pic>
      <p:pic>
        <p:nvPicPr>
          <p:cNvPr id="9" name="Image 5" descr="preencoded.png">    </p:cNvPr>
          <p:cNvPicPr>
            <a:picLocks noChangeAspect="1"/>
          </p:cNvPicPr>
          <p:nvPr/>
        </p:nvPicPr>
        <p:blipFill>
          <a:blip r:embed="rId6"/>
          <a:srcRect l="0" r="0" t="0" b="0"/>
          <a:stretch/>
        </p:blipFill>
        <p:spPr>
          <a:xfrm>
            <a:off x="562356" y="371246"/>
            <a:ext cx="171907" cy="171907"/>
          </a:xfrm>
          <a:prstGeom prst="rect">
            <a:avLst/>
          </a:prstGeom>
        </p:spPr>
      </p:pic>
      <p:sp>
        <p:nvSpPr>
          <p:cNvPr id="10" name="Text 2"/>
          <p:cNvSpPr txBox="1"/>
          <p:nvPr/>
        </p:nvSpPr>
        <p:spPr>
          <a:xfrm>
            <a:off x="933602" y="319126"/>
            <a:ext cx="1427378" cy="277063"/>
          </a:xfrm>
          <a:prstGeom prst="rect">
            <a:avLst/>
          </a:prstGeom>
          <a:noFill/>
          <a:ln/>
        </p:spPr>
        <p:txBody>
          <a:bodyPr wrap="square" lIns="0" tIns="0" rIns="0" bIns="0" rtlCol="0" anchor="ctr"/>
          <a:lstStyle/>
          <a:p>
            <a:pPr algn="l" indent="0" marL="0">
              <a:buNone/>
            </a:pPr>
            <a:r>
              <a:rPr lang="en-US" sz="1800" b="1" spc="-37" kern="0" dirty="0">
                <a:solidFill>
                  <a:srgbClr val="1E293B"/>
                </a:solidFill>
                <a:latin typeface="Inter" pitchFamily="34" charset="0"/>
                <a:ea typeface="Inter" pitchFamily="34" charset="-122"/>
                <a:cs typeface="Inter" pitchFamily="34" charset="-120"/>
              </a:rPr>
              <a:t>News</a:t>
            </a:r>
            <a:pPr algn="l" indent="0" marL="0">
              <a:buNone/>
            </a:pPr>
            <a:r>
              <a:rPr lang="en-US" sz="1800" b="1" spc="-37" kern="0" dirty="0">
                <a:solidFill>
                  <a:srgbClr val="6366F1"/>
                </a:solidFill>
                <a:latin typeface="Inter" pitchFamily="34" charset="0"/>
                <a:ea typeface="Inter" pitchFamily="34" charset="-122"/>
                <a:cs typeface="Inter" pitchFamily="34" charset="-120"/>
              </a:rPr>
              <a:t>Nexus</a:t>
            </a:r>
            <a:endParaRPr lang="en-US" sz="1800" dirty="0"/>
          </a:p>
        </p:txBody>
      </p:sp>
      <p:pic>
        <p:nvPicPr>
          <p:cNvPr id="11" name="Image 6" descr="preencoded.png">    </p:cNvPr>
          <p:cNvPicPr>
            <a:picLocks noChangeAspect="1"/>
          </p:cNvPicPr>
          <p:nvPr/>
        </p:nvPicPr>
        <p:blipFill>
          <a:blip r:embed="rId7"/>
          <a:srcRect l="-164" r="-164" t="0" b="0"/>
          <a:stretch/>
        </p:blipFill>
        <p:spPr>
          <a:xfrm>
            <a:off x="9504274" y="286207"/>
            <a:ext cx="2219249" cy="295351"/>
          </a:xfrm>
          <a:prstGeom prst="rect">
            <a:avLst/>
          </a:prstGeom>
        </p:spPr>
      </p:pic>
      <p:sp>
        <p:nvSpPr>
          <p:cNvPr id="12" name="Shape 3"/>
          <p:cNvSpPr/>
          <p:nvPr/>
        </p:nvSpPr>
        <p:spPr>
          <a:xfrm>
            <a:off x="9504274" y="286207"/>
            <a:ext cx="2219249" cy="295351"/>
          </a:xfrm>
          <a:prstGeom prst="roundRect">
            <a:avLst>
              <a:gd name="adj" fmla="val 309598"/>
            </a:avLst>
          </a:prstGeom>
          <a:noFill/>
          <a:ln w="12700">
            <a:solidFill>
              <a:srgbClr val="E0E7FF"/>
            </a:solidFill>
            <a:prstDash val="solid"/>
          </a:ln>
        </p:spPr>
      </p:sp>
      <p:sp>
        <p:nvSpPr>
          <p:cNvPr id="13" name="Text 4"/>
          <p:cNvSpPr/>
          <p:nvPr/>
        </p:nvSpPr>
        <p:spPr>
          <a:xfrm>
            <a:off x="9875520" y="286207"/>
            <a:ext cx="1848917" cy="295351"/>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algn="l" indent="0" marL="0">
              <a:buNone/>
            </a:pPr>
            <a:r>
              <a:rPr lang="en-US" sz="1000" b="1" dirty="0">
                <a:solidFill>
                  <a:srgbClr val="4F46E5"/>
                </a:solidFill>
                <a:latin typeface="Inter" pitchFamily="34" charset="0"/>
                <a:ea typeface="Inter" pitchFamily="34" charset="-122"/>
                <a:cs typeface="Inter" pitchFamily="34" charset="-120"/>
              </a:rPr>
              <a:t> Local-First = Privacy-First </a:t>
            </a:r>
            <a:endParaRPr lang="en-US" sz="1000" dirty="0"/>
          </a:p>
        </p:txBody>
      </p:sp>
      <p:pic>
        <p:nvPicPr>
          <p:cNvPr id="14" name="Image 7" descr="preencoded.png">    </p:cNvPr>
          <p:cNvPicPr>
            <a:picLocks noChangeAspect="1"/>
          </p:cNvPicPr>
          <p:nvPr/>
        </p:nvPicPr>
        <p:blipFill>
          <a:blip r:embed="rId8"/>
          <a:srcRect l="0" r="0" t="0" b="0"/>
          <a:stretch/>
        </p:blipFill>
        <p:spPr>
          <a:xfrm>
            <a:off x="9666122" y="366674"/>
            <a:ext cx="133502" cy="133502"/>
          </a:xfrm>
          <a:prstGeom prst="rect">
            <a:avLst/>
          </a:prstGeom>
        </p:spPr>
      </p:pic>
      <p:sp>
        <p:nvSpPr>
          <p:cNvPr id="15" name="Text 5"/>
          <p:cNvSpPr txBox="1"/>
          <p:nvPr/>
        </p:nvSpPr>
        <p:spPr>
          <a:xfrm>
            <a:off x="476402" y="1390802"/>
            <a:ext cx="6858000" cy="924458"/>
          </a:xfrm>
          <a:prstGeom prst="rect">
            <a:avLst/>
          </a:prstGeom>
          <a:noFill/>
          <a:ln/>
        </p:spPr>
        <p:txBody>
          <a:bodyPr wrap="square" lIns="0" tIns="0" rIns="0" bIns="0" rtlCol="0" anchor="ctr"/>
          <a:lstStyle/>
          <a:p>
            <a:pPr algn="l" indent="0" marL="0">
              <a:buNone/>
            </a:pPr>
            <a:r>
              <a:rPr lang="en-US" sz="3100" b="1" spc="-75" kern="0" dirty="0">
                <a:solidFill>
                  <a:srgbClr val="1E293B"/>
                </a:solidFill>
                <a:latin typeface="Inter" pitchFamily="34" charset="0"/>
                <a:ea typeface="Inter" pitchFamily="34" charset="-122"/>
                <a:cs typeface="Inter" pitchFamily="34" charset="-120"/>
              </a:rPr>
              <a:t>Anatomy of the </a:t>
            </a:r>
            <a:pPr algn="l" indent="0" marL="0">
              <a:buNone/>
            </a:pPr>
            <a:r>
              <a:rPr lang="en-US" sz="3100" b="1" spc="-75" kern="0" dirty="0">
                <a:solidFill>
                  <a:srgbClr val="6D51EE"/>
                </a:solidFill>
                <a:latin typeface="Inter" pitchFamily="34" charset="0"/>
                <a:ea typeface="Inter" pitchFamily="34" charset="-122"/>
                <a:cs typeface="Inter" pitchFamily="34" charset="-120"/>
              </a:rPr>
              <a:t>Local GenAI</a:t>
            </a:r>
            <a:pPr algn="l" indent="0" marL="0">
              <a:buNone/>
            </a:pPr>
            <a:r>
              <a:rPr lang="en-US" sz="3100" b="1" spc="-75" kern="0" dirty="0">
                <a:solidFill>
                  <a:srgbClr val="1E293B"/>
                </a:solidFill>
                <a:latin typeface="Inter" pitchFamily="34" charset="0"/>
                <a:ea typeface="Inter" pitchFamily="34" charset="-122"/>
                <a:cs typeface="Inter" pitchFamily="34" charset="-120"/>
              </a:rPr>
              <a:t> Architecture</a:t>
            </a:r>
            <a:endParaRPr lang="en-US" sz="3100" dirty="0"/>
          </a:p>
        </p:txBody>
      </p:sp>
      <p:sp>
        <p:nvSpPr>
          <p:cNvPr id="16" name="Text 6"/>
          <p:cNvSpPr txBox="1"/>
          <p:nvPr/>
        </p:nvSpPr>
        <p:spPr>
          <a:xfrm>
            <a:off x="476402" y="2424989"/>
            <a:ext cx="6858000" cy="514807"/>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Complete data flow from user interface through local LLMs, vector storage, and stateful orchestration.</a:t>
            </a:r>
            <a:endParaRPr lang="en-US" sz="1300" dirty="0"/>
          </a:p>
        </p:txBody>
      </p:sp>
      <p:sp>
        <p:nvSpPr>
          <p:cNvPr id="17" name="Shape 7"/>
          <p:cNvSpPr/>
          <p:nvPr/>
        </p:nvSpPr>
        <p:spPr>
          <a:xfrm>
            <a:off x="476402" y="952805"/>
            <a:ext cx="1904695" cy="286207"/>
          </a:xfrm>
          <a:prstGeom prst="roundRect">
            <a:avLst>
              <a:gd name="adj" fmla="val 127796"/>
            </a:avLst>
          </a:prstGeom>
          <a:solidFill>
            <a:srgbClr val="EEF2FF"/>
          </a:solidFill>
          <a:ln w="12700">
            <a:solidFill>
              <a:srgbClr val="E0E7FF"/>
            </a:solidFill>
            <a:prstDash val="solid"/>
          </a:ln>
        </p:spPr>
      </p:sp>
      <p:sp>
        <p:nvSpPr>
          <p:cNvPr id="18" name="Text 8"/>
          <p:cNvSpPr txBox="1"/>
          <p:nvPr/>
        </p:nvSpPr>
        <p:spPr>
          <a:xfrm>
            <a:off x="476402" y="952805"/>
            <a:ext cx="1905610"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4F46E5"/>
                </a:solidFill>
                <a:latin typeface="Inter" pitchFamily="34" charset="0"/>
                <a:ea typeface="Inter" pitchFamily="34" charset="-122"/>
                <a:cs typeface="Inter" pitchFamily="34" charset="-120"/>
              </a:rPr>
              <a:t>SYSTEM ARCHITECTURE</a:t>
            </a:r>
            <a:endParaRPr lang="en-US" sz="900" dirty="0"/>
          </a:p>
        </p:txBody>
      </p:sp>
      <p:sp>
        <p:nvSpPr>
          <p:cNvPr id="19" name="Text 9"/>
          <p:cNvSpPr txBox="1"/>
          <p:nvPr/>
        </p:nvSpPr>
        <p:spPr>
          <a:xfrm>
            <a:off x="972007" y="3276295"/>
            <a:ext cx="6133795"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 Component Data Flow </a:t>
            </a:r>
            <a:endParaRPr lang="en-US" sz="1200" dirty="0"/>
          </a:p>
        </p:txBody>
      </p:sp>
      <p:pic>
        <p:nvPicPr>
          <p:cNvPr id="20" name="Image 8" descr="preencoded.png">    </p:cNvPr>
          <p:cNvPicPr>
            <a:picLocks noChangeAspect="1"/>
          </p:cNvPicPr>
          <p:nvPr/>
        </p:nvPicPr>
        <p:blipFill>
          <a:blip r:embed="rId9"/>
          <a:srcRect l="-33" r="-33" t="0" b="0"/>
          <a:stretch/>
        </p:blipFill>
        <p:spPr>
          <a:xfrm>
            <a:off x="705002" y="3295498"/>
            <a:ext cx="171907" cy="152705"/>
          </a:xfrm>
          <a:prstGeom prst="rect">
            <a:avLst/>
          </a:prstGeom>
        </p:spPr>
      </p:pic>
      <p:sp>
        <p:nvSpPr>
          <p:cNvPr id="21" name="Shape 10"/>
          <p:cNvSpPr/>
          <p:nvPr/>
        </p:nvSpPr>
        <p:spPr>
          <a:xfrm>
            <a:off x="705002" y="3696005"/>
            <a:ext cx="952805" cy="1333195"/>
          </a:xfrm>
          <a:prstGeom prst="roundRect">
            <a:avLst>
              <a:gd name="adj" fmla="val 23033"/>
            </a:avLst>
          </a:prstGeom>
          <a:solidFill>
            <a:srgbClr val="F8FAFC"/>
          </a:solidFill>
          <a:ln w="12700">
            <a:solidFill>
              <a:srgbClr val="E2E8F0"/>
            </a:solidFill>
            <a:prstDash val="solid"/>
          </a:ln>
        </p:spPr>
      </p:sp>
      <p:sp>
        <p:nvSpPr>
          <p:cNvPr id="22" name="Shape 11"/>
          <p:cNvSpPr/>
          <p:nvPr/>
        </p:nvSpPr>
        <p:spPr>
          <a:xfrm>
            <a:off x="1009498" y="3838651"/>
            <a:ext cx="342900" cy="342900"/>
          </a:xfrm>
          <a:prstGeom prst="roundRect">
            <a:avLst>
              <a:gd name="adj" fmla="val 118519"/>
            </a:avLst>
          </a:prstGeom>
          <a:solidFill>
            <a:srgbClr val="EEF2FF"/>
          </a:solidFill>
          <a:ln w="12700">
            <a:solidFill>
              <a:srgbClr val="FFFFFF">
                <a:alpha val="0"/>
              </a:srgbClr>
            </a:solidFill>
            <a:prstDash val="solid"/>
          </a:ln>
        </p:spPr>
      </p:sp>
      <p:pic>
        <p:nvPicPr>
          <p:cNvPr id="23" name="Image 9" descr="preencoded.png">    </p:cNvPr>
          <p:cNvPicPr>
            <a:picLocks noChangeAspect="1"/>
          </p:cNvPicPr>
          <p:nvPr/>
        </p:nvPicPr>
        <p:blipFill>
          <a:blip r:embed="rId10"/>
          <a:srcRect l="-33" r="-33" t="0" b="0"/>
          <a:stretch/>
        </p:blipFill>
        <p:spPr>
          <a:xfrm>
            <a:off x="1095451" y="3933749"/>
            <a:ext cx="171907" cy="152705"/>
          </a:xfrm>
          <a:prstGeom prst="rect">
            <a:avLst/>
          </a:prstGeom>
        </p:spPr>
      </p:pic>
      <p:sp>
        <p:nvSpPr>
          <p:cNvPr id="24" name="Text 12"/>
          <p:cNvSpPr txBox="1"/>
          <p:nvPr/>
        </p:nvSpPr>
        <p:spPr>
          <a:xfrm>
            <a:off x="1098194" y="4276649"/>
            <a:ext cx="173736" cy="152705"/>
          </a:xfrm>
          <a:prstGeom prst="rect">
            <a:avLst/>
          </a:prstGeom>
          <a:noFill/>
          <a:ln/>
        </p:spPr>
        <p:txBody>
          <a:bodyPr wrap="square" lIns="0" tIns="0" rIns="0" bIns="0" rtlCol="0" anchor="ctr"/>
          <a:lstStyle/>
          <a:p>
            <a:pPr algn="ctr" indent="0" marL="0">
              <a:buNone/>
            </a:pPr>
            <a:r>
              <a:rPr lang="en-US" sz="900" b="1" dirty="0">
                <a:solidFill>
                  <a:srgbClr val="1E293B"/>
                </a:solidFill>
                <a:latin typeface="Inter" pitchFamily="34" charset="0"/>
                <a:ea typeface="Inter" pitchFamily="34" charset="-122"/>
                <a:cs typeface="Inter" pitchFamily="34" charset="-120"/>
              </a:rPr>
              <a:t>UI</a:t>
            </a:r>
            <a:endParaRPr lang="en-US" sz="900" dirty="0"/>
          </a:p>
        </p:txBody>
      </p:sp>
      <p:sp>
        <p:nvSpPr>
          <p:cNvPr id="25" name="Text 13"/>
          <p:cNvSpPr txBox="1"/>
          <p:nvPr/>
        </p:nvSpPr>
        <p:spPr>
          <a:xfrm>
            <a:off x="895198" y="4466844"/>
            <a:ext cx="575158" cy="114300"/>
          </a:xfrm>
          <a:prstGeom prst="rect">
            <a:avLst/>
          </a:prstGeom>
          <a:noFill/>
          <a:ln/>
        </p:spPr>
        <p:txBody>
          <a:bodyPr wrap="square" lIns="0" tIns="0" rIns="0" bIns="0" rtlCol="0" anchor="ctr"/>
          <a:lstStyle/>
          <a:p>
            <a:pPr algn="ctr" indent="0" marL="0">
              <a:buNone/>
            </a:pPr>
            <a:r>
              <a:rPr lang="en-US" sz="800" dirty="0">
                <a:solidFill>
                  <a:srgbClr val="64748B"/>
                </a:solidFill>
                <a:latin typeface="Inter" pitchFamily="34" charset="0"/>
                <a:ea typeface="Inter" pitchFamily="34" charset="-122"/>
                <a:cs typeface="Inter" pitchFamily="34" charset="-120"/>
              </a:rPr>
              <a:t>Streamlit</a:t>
            </a:r>
            <a:endParaRPr lang="en-US" sz="800" dirty="0"/>
          </a:p>
        </p:txBody>
      </p:sp>
      <p:pic>
        <p:nvPicPr>
          <p:cNvPr id="26" name="Image 10" descr="preencoded.png">    </p:cNvPr>
          <p:cNvPicPr>
            <a:picLocks noChangeAspect="1"/>
          </p:cNvPicPr>
          <p:nvPr/>
        </p:nvPicPr>
        <p:blipFill>
          <a:blip r:embed="rId11"/>
          <a:srcRect l="-1507" r="-1507" t="0" b="0"/>
          <a:stretch/>
        </p:blipFill>
        <p:spPr>
          <a:xfrm>
            <a:off x="1683410" y="4295851"/>
            <a:ext cx="85954" cy="133502"/>
          </a:xfrm>
          <a:prstGeom prst="rect">
            <a:avLst/>
          </a:prstGeom>
        </p:spPr>
      </p:pic>
      <p:sp>
        <p:nvSpPr>
          <p:cNvPr id="27" name="Shape 14"/>
          <p:cNvSpPr/>
          <p:nvPr/>
        </p:nvSpPr>
        <p:spPr>
          <a:xfrm>
            <a:off x="1794967" y="3696005"/>
            <a:ext cx="952805" cy="1333195"/>
          </a:xfrm>
          <a:prstGeom prst="roundRect">
            <a:avLst>
              <a:gd name="adj" fmla="val 23033"/>
            </a:avLst>
          </a:prstGeom>
          <a:solidFill>
            <a:srgbClr val="F8FAFC"/>
          </a:solidFill>
          <a:ln w="12700">
            <a:solidFill>
              <a:srgbClr val="E2E8F0"/>
            </a:solidFill>
            <a:prstDash val="solid"/>
          </a:ln>
        </p:spPr>
      </p:sp>
      <p:sp>
        <p:nvSpPr>
          <p:cNvPr id="28" name="Shape 15"/>
          <p:cNvSpPr/>
          <p:nvPr/>
        </p:nvSpPr>
        <p:spPr>
          <a:xfrm>
            <a:off x="2099462" y="3838651"/>
            <a:ext cx="342900" cy="342900"/>
          </a:xfrm>
          <a:prstGeom prst="roundRect">
            <a:avLst>
              <a:gd name="adj" fmla="val 118519"/>
            </a:avLst>
          </a:prstGeom>
          <a:solidFill>
            <a:srgbClr val="EEF2FF"/>
          </a:solidFill>
          <a:ln w="12700">
            <a:solidFill>
              <a:srgbClr val="FFFFFF">
                <a:alpha val="0"/>
              </a:srgbClr>
            </a:solidFill>
            <a:prstDash val="solid"/>
          </a:ln>
        </p:spPr>
      </p:sp>
      <p:pic>
        <p:nvPicPr>
          <p:cNvPr id="29" name="Image 11" descr="preencoded.png">    </p:cNvPr>
          <p:cNvPicPr>
            <a:picLocks noChangeAspect="1"/>
          </p:cNvPicPr>
          <p:nvPr/>
        </p:nvPicPr>
        <p:blipFill>
          <a:blip r:embed="rId12"/>
          <a:srcRect l="0" r="0" t="-180" b="-180"/>
          <a:stretch/>
        </p:blipFill>
        <p:spPr>
          <a:xfrm>
            <a:off x="2175358" y="3933749"/>
            <a:ext cx="190195" cy="152705"/>
          </a:xfrm>
          <a:prstGeom prst="rect">
            <a:avLst/>
          </a:prstGeom>
        </p:spPr>
      </p:pic>
      <p:sp>
        <p:nvSpPr>
          <p:cNvPr id="30" name="Text 16"/>
          <p:cNvSpPr txBox="1"/>
          <p:nvPr/>
        </p:nvSpPr>
        <p:spPr>
          <a:xfrm>
            <a:off x="2143354" y="4276649"/>
            <a:ext cx="257861" cy="152705"/>
          </a:xfrm>
          <a:prstGeom prst="rect">
            <a:avLst/>
          </a:prstGeom>
          <a:noFill/>
          <a:ln/>
        </p:spPr>
        <p:txBody>
          <a:bodyPr wrap="square" lIns="0" tIns="0" rIns="0" bIns="0" rtlCol="0" anchor="ctr"/>
          <a:lstStyle/>
          <a:p>
            <a:pPr algn="ctr" indent="0" marL="0">
              <a:buNone/>
            </a:pPr>
            <a:r>
              <a:rPr lang="en-US" sz="900" b="1" dirty="0">
                <a:solidFill>
                  <a:srgbClr val="1E293B"/>
                </a:solidFill>
                <a:latin typeface="Inter" pitchFamily="34" charset="0"/>
                <a:ea typeface="Inter" pitchFamily="34" charset="-122"/>
                <a:cs typeface="Inter" pitchFamily="34" charset="-120"/>
              </a:rPr>
              <a:t>LLM</a:t>
            </a:r>
            <a:endParaRPr lang="en-US" sz="900" dirty="0"/>
          </a:p>
        </p:txBody>
      </p:sp>
      <p:sp>
        <p:nvSpPr>
          <p:cNvPr id="31" name="Text 17"/>
          <p:cNvSpPr txBox="1"/>
          <p:nvPr/>
        </p:nvSpPr>
        <p:spPr>
          <a:xfrm>
            <a:off x="2052828" y="4466844"/>
            <a:ext cx="438912" cy="228600"/>
          </a:xfrm>
          <a:prstGeom prst="rect">
            <a:avLst/>
          </a:prstGeom>
          <a:noFill/>
          <a:ln/>
        </p:spPr>
        <p:txBody>
          <a:bodyPr wrap="square" lIns="0" tIns="0" rIns="0" bIns="0" rtlCol="0" anchor="ctr"/>
          <a:lstStyle/>
          <a:p>
            <a:pPr algn="ctr" indent="0" marL="0">
              <a:buNone/>
            </a:pPr>
            <a:r>
              <a:rPr lang="en-US" sz="800" dirty="0">
                <a:solidFill>
                  <a:srgbClr val="64748B"/>
                </a:solidFill>
                <a:latin typeface="Inter" pitchFamily="34" charset="0"/>
                <a:ea typeface="Inter" pitchFamily="34" charset="-122"/>
                <a:cs typeface="Inter" pitchFamily="34" charset="-120"/>
              </a:rPr>
              <a:t>Ollama</a:t>
            </a:r>
            <a:pPr algn="ctr" indent="0" marL="0">
              <a:buNone/>
            </a:pPr>
            <a:endParaRPr lang="en-US" sz="800" dirty="0"/>
          </a:p>
          <a:p>
            <a:pPr algn="ctr" indent="0" marL="0">
              <a:buNone/>
            </a:pPr>
            <a:r>
              <a:rPr lang="en-US" sz="800" dirty="0">
                <a:solidFill>
                  <a:srgbClr val="64748B"/>
                </a:solidFill>
                <a:latin typeface="Inter" pitchFamily="34" charset="0"/>
                <a:ea typeface="Inter" pitchFamily="34" charset="-122"/>
                <a:cs typeface="Inter" pitchFamily="34" charset="-120"/>
              </a:rPr>
              <a:t>Llama 3.2</a:t>
            </a:r>
            <a:endParaRPr lang="en-US" sz="800" dirty="0"/>
          </a:p>
        </p:txBody>
      </p:sp>
      <p:pic>
        <p:nvPicPr>
          <p:cNvPr id="32" name="Image 12" descr="preencoded.png">    </p:cNvPr>
          <p:cNvPicPr>
            <a:picLocks noChangeAspect="1"/>
          </p:cNvPicPr>
          <p:nvPr/>
        </p:nvPicPr>
        <p:blipFill>
          <a:blip r:embed="rId13"/>
          <a:srcRect l="-1507" r="-1507" t="0" b="0"/>
          <a:stretch/>
        </p:blipFill>
        <p:spPr>
          <a:xfrm>
            <a:off x="2772461" y="4295851"/>
            <a:ext cx="85954" cy="133502"/>
          </a:xfrm>
          <a:prstGeom prst="rect">
            <a:avLst/>
          </a:prstGeom>
        </p:spPr>
      </p:pic>
      <p:sp>
        <p:nvSpPr>
          <p:cNvPr id="33" name="Shape 18"/>
          <p:cNvSpPr/>
          <p:nvPr/>
        </p:nvSpPr>
        <p:spPr>
          <a:xfrm>
            <a:off x="2884018" y="3696005"/>
            <a:ext cx="952805" cy="1333195"/>
          </a:xfrm>
          <a:prstGeom prst="roundRect">
            <a:avLst>
              <a:gd name="adj" fmla="val 23033"/>
            </a:avLst>
          </a:prstGeom>
          <a:solidFill>
            <a:srgbClr val="F8FAFC"/>
          </a:solidFill>
          <a:ln w="12700">
            <a:solidFill>
              <a:srgbClr val="E2E8F0"/>
            </a:solidFill>
            <a:prstDash val="solid"/>
          </a:ln>
        </p:spPr>
      </p:sp>
      <p:sp>
        <p:nvSpPr>
          <p:cNvPr id="34" name="Shape 19"/>
          <p:cNvSpPr/>
          <p:nvPr/>
        </p:nvSpPr>
        <p:spPr>
          <a:xfrm>
            <a:off x="3188513" y="3838651"/>
            <a:ext cx="342900" cy="342900"/>
          </a:xfrm>
          <a:prstGeom prst="roundRect">
            <a:avLst>
              <a:gd name="adj" fmla="val 118519"/>
            </a:avLst>
          </a:prstGeom>
          <a:solidFill>
            <a:srgbClr val="EEF2FF"/>
          </a:solidFill>
          <a:ln w="12700">
            <a:solidFill>
              <a:srgbClr val="FFFFFF">
                <a:alpha val="0"/>
              </a:srgbClr>
            </a:solidFill>
            <a:prstDash val="solid"/>
          </a:ln>
        </p:spPr>
      </p:sp>
      <p:pic>
        <p:nvPicPr>
          <p:cNvPr id="35" name="Image 13" descr="preencoded.png">    </p:cNvPr>
          <p:cNvPicPr>
            <a:picLocks noChangeAspect="1"/>
          </p:cNvPicPr>
          <p:nvPr/>
        </p:nvPicPr>
        <p:blipFill>
          <a:blip r:embed="rId14"/>
          <a:srcRect l="-33" r="-33" t="0" b="0"/>
          <a:stretch/>
        </p:blipFill>
        <p:spPr>
          <a:xfrm>
            <a:off x="3274466" y="3933749"/>
            <a:ext cx="171907" cy="152705"/>
          </a:xfrm>
          <a:prstGeom prst="rect">
            <a:avLst/>
          </a:prstGeom>
        </p:spPr>
      </p:pic>
      <p:sp>
        <p:nvSpPr>
          <p:cNvPr id="36" name="Text 20"/>
          <p:cNvSpPr txBox="1"/>
          <p:nvPr/>
        </p:nvSpPr>
        <p:spPr>
          <a:xfrm>
            <a:off x="3151022" y="4276649"/>
            <a:ext cx="419710" cy="152705"/>
          </a:xfrm>
          <a:prstGeom prst="rect">
            <a:avLst/>
          </a:prstGeom>
          <a:noFill/>
          <a:ln/>
        </p:spPr>
        <p:txBody>
          <a:bodyPr wrap="square" lIns="0" tIns="0" rIns="0" bIns="0" rtlCol="0" anchor="ctr"/>
          <a:lstStyle/>
          <a:p>
            <a:pPr algn="ctr" indent="0" marL="0">
              <a:buNone/>
            </a:pPr>
            <a:r>
              <a:rPr lang="en-US" sz="900" b="1" dirty="0">
                <a:solidFill>
                  <a:srgbClr val="1E293B"/>
                </a:solidFill>
                <a:latin typeface="Inter" pitchFamily="34" charset="0"/>
                <a:ea typeface="Inter" pitchFamily="34" charset="-122"/>
                <a:cs typeface="Inter" pitchFamily="34" charset="-120"/>
              </a:rPr>
              <a:t>Embed</a:t>
            </a:r>
            <a:endParaRPr lang="en-US" sz="900" dirty="0"/>
          </a:p>
        </p:txBody>
      </p:sp>
      <p:sp>
        <p:nvSpPr>
          <p:cNvPr id="37" name="Text 21"/>
          <p:cNvSpPr txBox="1"/>
          <p:nvPr/>
        </p:nvSpPr>
        <p:spPr>
          <a:xfrm>
            <a:off x="3045866" y="4466844"/>
            <a:ext cx="638251" cy="228600"/>
          </a:xfrm>
          <a:prstGeom prst="rect">
            <a:avLst/>
          </a:prstGeom>
          <a:noFill/>
          <a:ln/>
        </p:spPr>
        <p:txBody>
          <a:bodyPr wrap="square" lIns="0" tIns="0" rIns="0" bIns="0" rtlCol="0" anchor="ctr"/>
          <a:lstStyle/>
          <a:p>
            <a:pPr algn="ctr" indent="0" marL="0">
              <a:buNone/>
            </a:pPr>
            <a:r>
              <a:rPr lang="en-US" sz="800" dirty="0">
                <a:solidFill>
                  <a:srgbClr val="64748B"/>
                </a:solidFill>
                <a:latin typeface="Inter" pitchFamily="34" charset="0"/>
                <a:ea typeface="Inter" pitchFamily="34" charset="-122"/>
                <a:cs typeface="Inter" pitchFamily="34" charset="-120"/>
              </a:rPr>
              <a:t>nomic-embed</a:t>
            </a:r>
            <a:pPr algn="ctr" indent="0" marL="0">
              <a:buNone/>
            </a:pPr>
            <a:endParaRPr lang="en-US" sz="800" dirty="0"/>
          </a:p>
          <a:p>
            <a:pPr algn="ctr" indent="0" marL="0">
              <a:buNone/>
            </a:pPr>
            <a:r>
              <a:rPr lang="en-US" sz="800" dirty="0">
                <a:solidFill>
                  <a:srgbClr val="64748B"/>
                </a:solidFill>
                <a:latin typeface="Inter" pitchFamily="34" charset="0"/>
                <a:ea typeface="Inter" pitchFamily="34" charset="-122"/>
                <a:cs typeface="Inter" pitchFamily="34" charset="-120"/>
              </a:rPr>
              <a:t>-text</a:t>
            </a:r>
            <a:endParaRPr lang="en-US" sz="800" dirty="0"/>
          </a:p>
        </p:txBody>
      </p:sp>
      <p:pic>
        <p:nvPicPr>
          <p:cNvPr id="38" name="Image 14" descr="preencoded.png">    </p:cNvPr>
          <p:cNvPicPr>
            <a:picLocks noChangeAspect="1"/>
          </p:cNvPicPr>
          <p:nvPr/>
        </p:nvPicPr>
        <p:blipFill>
          <a:blip r:embed="rId15"/>
          <a:srcRect l="-1507" r="-1507" t="0" b="0"/>
          <a:stretch/>
        </p:blipFill>
        <p:spPr>
          <a:xfrm>
            <a:off x="3862426" y="4295851"/>
            <a:ext cx="85954" cy="133502"/>
          </a:xfrm>
          <a:prstGeom prst="rect">
            <a:avLst/>
          </a:prstGeom>
        </p:spPr>
      </p:pic>
      <p:sp>
        <p:nvSpPr>
          <p:cNvPr id="39" name="Shape 22"/>
          <p:cNvSpPr/>
          <p:nvPr/>
        </p:nvSpPr>
        <p:spPr>
          <a:xfrm>
            <a:off x="3973982" y="3696005"/>
            <a:ext cx="952805" cy="1333195"/>
          </a:xfrm>
          <a:prstGeom prst="roundRect">
            <a:avLst>
              <a:gd name="adj" fmla="val 23033"/>
            </a:avLst>
          </a:prstGeom>
          <a:solidFill>
            <a:srgbClr val="F8FAFC"/>
          </a:solidFill>
          <a:ln w="12700">
            <a:solidFill>
              <a:srgbClr val="E2E8F0"/>
            </a:solidFill>
            <a:prstDash val="solid"/>
          </a:ln>
        </p:spPr>
      </p:sp>
      <p:sp>
        <p:nvSpPr>
          <p:cNvPr id="40" name="Shape 23"/>
          <p:cNvSpPr/>
          <p:nvPr/>
        </p:nvSpPr>
        <p:spPr>
          <a:xfrm>
            <a:off x="4278478" y="3838651"/>
            <a:ext cx="342900" cy="342900"/>
          </a:xfrm>
          <a:prstGeom prst="roundRect">
            <a:avLst>
              <a:gd name="adj" fmla="val 118519"/>
            </a:avLst>
          </a:prstGeom>
          <a:solidFill>
            <a:srgbClr val="EEF2FF"/>
          </a:solidFill>
          <a:ln w="12700">
            <a:solidFill>
              <a:srgbClr val="FFFFFF">
                <a:alpha val="0"/>
              </a:srgbClr>
            </a:solidFill>
            <a:prstDash val="solid"/>
          </a:ln>
        </p:spPr>
      </p:sp>
      <p:pic>
        <p:nvPicPr>
          <p:cNvPr id="41" name="Image 15" descr="preencoded.png">    </p:cNvPr>
          <p:cNvPicPr>
            <a:picLocks noChangeAspect="1"/>
          </p:cNvPicPr>
          <p:nvPr/>
        </p:nvPicPr>
        <p:blipFill>
          <a:blip r:embed="rId16"/>
          <a:srcRect l="0" r="0" t="-43" b="-43"/>
          <a:stretch/>
        </p:blipFill>
        <p:spPr>
          <a:xfrm>
            <a:off x="4383634" y="3933749"/>
            <a:ext cx="133502" cy="152705"/>
          </a:xfrm>
          <a:prstGeom prst="rect">
            <a:avLst/>
          </a:prstGeom>
        </p:spPr>
      </p:pic>
      <p:sp>
        <p:nvSpPr>
          <p:cNvPr id="42" name="Text 24"/>
          <p:cNvSpPr txBox="1"/>
          <p:nvPr/>
        </p:nvSpPr>
        <p:spPr>
          <a:xfrm>
            <a:off x="4364431" y="4276649"/>
            <a:ext cx="171907" cy="152705"/>
          </a:xfrm>
          <a:prstGeom prst="rect">
            <a:avLst/>
          </a:prstGeom>
          <a:noFill/>
          <a:ln/>
        </p:spPr>
        <p:txBody>
          <a:bodyPr wrap="square" lIns="0" tIns="0" rIns="0" bIns="0" rtlCol="0" anchor="ctr"/>
          <a:lstStyle/>
          <a:p>
            <a:pPr algn="ctr" indent="0" marL="0">
              <a:buNone/>
            </a:pPr>
            <a:r>
              <a:rPr lang="en-US" sz="900" b="1" dirty="0">
                <a:solidFill>
                  <a:srgbClr val="1E293B"/>
                </a:solidFill>
                <a:latin typeface="Inter" pitchFamily="34" charset="0"/>
                <a:ea typeface="Inter" pitchFamily="34" charset="-122"/>
                <a:cs typeface="Inter" pitchFamily="34" charset="-120"/>
              </a:rPr>
              <a:t>DB</a:t>
            </a:r>
            <a:endParaRPr lang="en-US" sz="900" dirty="0"/>
          </a:p>
        </p:txBody>
      </p:sp>
      <p:sp>
        <p:nvSpPr>
          <p:cNvPr id="43" name="Text 25"/>
          <p:cNvSpPr txBox="1"/>
          <p:nvPr/>
        </p:nvSpPr>
        <p:spPr>
          <a:xfrm>
            <a:off x="4207154" y="4466844"/>
            <a:ext cx="486461" cy="114300"/>
          </a:xfrm>
          <a:prstGeom prst="rect">
            <a:avLst/>
          </a:prstGeom>
          <a:noFill/>
          <a:ln/>
        </p:spPr>
        <p:txBody>
          <a:bodyPr wrap="square" lIns="0" tIns="0" rIns="0" bIns="0" rtlCol="0" anchor="ctr"/>
          <a:lstStyle/>
          <a:p>
            <a:pPr algn="ctr" indent="0" marL="0">
              <a:buNone/>
            </a:pPr>
            <a:r>
              <a:rPr lang="en-US" sz="800" dirty="0">
                <a:solidFill>
                  <a:srgbClr val="64748B"/>
                </a:solidFill>
                <a:latin typeface="Inter" pitchFamily="34" charset="0"/>
                <a:ea typeface="Inter" pitchFamily="34" charset="-122"/>
                <a:cs typeface="Inter" pitchFamily="34" charset="-120"/>
              </a:rPr>
              <a:t>ChromaDB</a:t>
            </a:r>
            <a:endParaRPr lang="en-US" sz="800" dirty="0"/>
          </a:p>
        </p:txBody>
      </p:sp>
      <p:pic>
        <p:nvPicPr>
          <p:cNvPr id="44" name="Image 16" descr="preencoded.png">    </p:cNvPr>
          <p:cNvPicPr>
            <a:picLocks noChangeAspect="1"/>
          </p:cNvPicPr>
          <p:nvPr/>
        </p:nvPicPr>
        <p:blipFill>
          <a:blip r:embed="rId17"/>
          <a:srcRect l="-1507" r="-1507" t="0" b="0"/>
          <a:stretch/>
        </p:blipFill>
        <p:spPr>
          <a:xfrm>
            <a:off x="4952390" y="4295851"/>
            <a:ext cx="85954" cy="133502"/>
          </a:xfrm>
          <a:prstGeom prst="rect">
            <a:avLst/>
          </a:prstGeom>
        </p:spPr>
      </p:pic>
      <p:sp>
        <p:nvSpPr>
          <p:cNvPr id="45" name="Shape 26"/>
          <p:cNvSpPr/>
          <p:nvPr/>
        </p:nvSpPr>
        <p:spPr>
          <a:xfrm>
            <a:off x="5063033" y="3696005"/>
            <a:ext cx="952805" cy="1333195"/>
          </a:xfrm>
          <a:prstGeom prst="roundRect">
            <a:avLst>
              <a:gd name="adj" fmla="val 23033"/>
            </a:avLst>
          </a:prstGeom>
          <a:solidFill>
            <a:srgbClr val="F8FAFC"/>
          </a:solidFill>
          <a:ln w="12700">
            <a:solidFill>
              <a:srgbClr val="E2E8F0"/>
            </a:solidFill>
            <a:prstDash val="solid"/>
          </a:ln>
        </p:spPr>
      </p:sp>
      <p:sp>
        <p:nvSpPr>
          <p:cNvPr id="46" name="Shape 27"/>
          <p:cNvSpPr/>
          <p:nvPr/>
        </p:nvSpPr>
        <p:spPr>
          <a:xfrm>
            <a:off x="5368442" y="3838651"/>
            <a:ext cx="342900" cy="342900"/>
          </a:xfrm>
          <a:prstGeom prst="roundRect">
            <a:avLst>
              <a:gd name="adj" fmla="val 118519"/>
            </a:avLst>
          </a:prstGeom>
          <a:solidFill>
            <a:srgbClr val="EEF2FF"/>
          </a:solidFill>
          <a:ln w="12700">
            <a:solidFill>
              <a:srgbClr val="FFFFFF">
                <a:alpha val="0"/>
              </a:srgbClr>
            </a:solidFill>
            <a:prstDash val="solid"/>
          </a:ln>
        </p:spPr>
      </p:sp>
      <p:pic>
        <p:nvPicPr>
          <p:cNvPr id="47" name="Image 17" descr="preencoded.png">    </p:cNvPr>
          <p:cNvPicPr>
            <a:picLocks noChangeAspect="1"/>
          </p:cNvPicPr>
          <p:nvPr/>
        </p:nvPicPr>
        <p:blipFill>
          <a:blip r:embed="rId18"/>
          <a:srcRect l="0" r="0" t="-180" b="-180"/>
          <a:stretch/>
        </p:blipFill>
        <p:spPr>
          <a:xfrm>
            <a:off x="5444338" y="3933749"/>
            <a:ext cx="190195" cy="152705"/>
          </a:xfrm>
          <a:prstGeom prst="rect">
            <a:avLst/>
          </a:prstGeom>
        </p:spPr>
      </p:pic>
      <p:sp>
        <p:nvSpPr>
          <p:cNvPr id="48" name="Text 28"/>
          <p:cNvSpPr txBox="1"/>
          <p:nvPr/>
        </p:nvSpPr>
        <p:spPr>
          <a:xfrm>
            <a:off x="5323637" y="4276649"/>
            <a:ext cx="434340" cy="152705"/>
          </a:xfrm>
          <a:prstGeom prst="rect">
            <a:avLst/>
          </a:prstGeom>
          <a:noFill/>
          <a:ln/>
        </p:spPr>
        <p:txBody>
          <a:bodyPr wrap="square" lIns="0" tIns="0" rIns="0" bIns="0" rtlCol="0" anchor="ctr"/>
          <a:lstStyle/>
          <a:p>
            <a:pPr algn="ctr" indent="0" marL="0">
              <a:buNone/>
            </a:pPr>
            <a:r>
              <a:rPr lang="en-US" sz="900" b="1" dirty="0">
                <a:solidFill>
                  <a:srgbClr val="1E293B"/>
                </a:solidFill>
                <a:latin typeface="Inter" pitchFamily="34" charset="0"/>
                <a:ea typeface="Inter" pitchFamily="34" charset="-122"/>
                <a:cs typeface="Inter" pitchFamily="34" charset="-120"/>
              </a:rPr>
              <a:t>Logic</a:t>
            </a:r>
            <a:endParaRPr lang="en-US" sz="900" dirty="0"/>
          </a:p>
        </p:txBody>
      </p:sp>
      <p:sp>
        <p:nvSpPr>
          <p:cNvPr id="49" name="Text 29"/>
          <p:cNvSpPr txBox="1"/>
          <p:nvPr/>
        </p:nvSpPr>
        <p:spPr>
          <a:xfrm>
            <a:off x="5255057" y="4466844"/>
            <a:ext cx="571500" cy="228600"/>
          </a:xfrm>
          <a:prstGeom prst="rect">
            <a:avLst/>
          </a:prstGeom>
          <a:noFill/>
          <a:ln/>
        </p:spPr>
        <p:txBody>
          <a:bodyPr wrap="square" lIns="0" tIns="0" rIns="0" bIns="0" rtlCol="0" anchor="ctr"/>
          <a:lstStyle/>
          <a:p>
            <a:pPr algn="ctr" indent="0" marL="0">
              <a:buNone/>
            </a:pPr>
            <a:r>
              <a:rPr lang="en-US" sz="800" dirty="0">
                <a:solidFill>
                  <a:srgbClr val="64748B"/>
                </a:solidFill>
                <a:latin typeface="Inter" pitchFamily="34" charset="0"/>
                <a:ea typeface="Inter" pitchFamily="34" charset="-122"/>
                <a:cs typeface="Inter" pitchFamily="34" charset="-120"/>
              </a:rPr>
              <a:t>LangChain &amp;</a:t>
            </a:r>
            <a:pPr algn="ctr" indent="0" marL="0">
              <a:buNone/>
            </a:pPr>
            <a:endParaRPr lang="en-US" sz="800" dirty="0"/>
          </a:p>
          <a:p>
            <a:pPr algn="ctr" indent="0" marL="0">
              <a:buNone/>
            </a:pPr>
            <a:r>
              <a:rPr lang="en-US" sz="800" dirty="0">
                <a:solidFill>
                  <a:srgbClr val="64748B"/>
                </a:solidFill>
                <a:latin typeface="Inter" pitchFamily="34" charset="0"/>
                <a:ea typeface="Inter" pitchFamily="34" charset="-122"/>
                <a:cs typeface="Inter" pitchFamily="34" charset="-120"/>
              </a:rPr>
              <a:t>LangGraph</a:t>
            </a:r>
            <a:endParaRPr lang="en-US" sz="800" dirty="0"/>
          </a:p>
        </p:txBody>
      </p:sp>
      <p:pic>
        <p:nvPicPr>
          <p:cNvPr id="50" name="Image 18" descr="preencoded.png">    </p:cNvPr>
          <p:cNvPicPr>
            <a:picLocks noChangeAspect="1"/>
          </p:cNvPicPr>
          <p:nvPr/>
        </p:nvPicPr>
        <p:blipFill>
          <a:blip r:embed="rId19"/>
          <a:srcRect l="-1507" r="-1507" t="0" b="0"/>
          <a:stretch/>
        </p:blipFill>
        <p:spPr>
          <a:xfrm>
            <a:off x="6041441" y="4295851"/>
            <a:ext cx="85954" cy="133502"/>
          </a:xfrm>
          <a:prstGeom prst="rect">
            <a:avLst/>
          </a:prstGeom>
        </p:spPr>
      </p:pic>
      <p:sp>
        <p:nvSpPr>
          <p:cNvPr id="51" name="Shape 30"/>
          <p:cNvSpPr/>
          <p:nvPr/>
        </p:nvSpPr>
        <p:spPr>
          <a:xfrm>
            <a:off x="6152998" y="3696005"/>
            <a:ext cx="952805" cy="1333195"/>
          </a:xfrm>
          <a:prstGeom prst="roundRect">
            <a:avLst>
              <a:gd name="adj" fmla="val 23033"/>
            </a:avLst>
          </a:prstGeom>
          <a:solidFill>
            <a:srgbClr val="F8FAFC"/>
          </a:solidFill>
          <a:ln w="12700">
            <a:solidFill>
              <a:srgbClr val="E2E8F0"/>
            </a:solidFill>
            <a:prstDash val="solid"/>
          </a:ln>
        </p:spPr>
      </p:sp>
      <p:sp>
        <p:nvSpPr>
          <p:cNvPr id="52" name="Shape 31"/>
          <p:cNvSpPr/>
          <p:nvPr/>
        </p:nvSpPr>
        <p:spPr>
          <a:xfrm>
            <a:off x="6458407" y="3838651"/>
            <a:ext cx="342900" cy="342900"/>
          </a:xfrm>
          <a:prstGeom prst="roundRect">
            <a:avLst>
              <a:gd name="adj" fmla="val 118519"/>
            </a:avLst>
          </a:prstGeom>
          <a:solidFill>
            <a:srgbClr val="EEF2FF"/>
          </a:solidFill>
          <a:ln w="12700">
            <a:solidFill>
              <a:srgbClr val="FFFFFF">
                <a:alpha val="0"/>
              </a:srgbClr>
            </a:solidFill>
            <a:prstDash val="solid"/>
          </a:ln>
        </p:spPr>
      </p:sp>
      <p:pic>
        <p:nvPicPr>
          <p:cNvPr id="53" name="Image 19" descr="preencoded.png">    </p:cNvPr>
          <p:cNvPicPr>
            <a:picLocks noChangeAspect="1"/>
          </p:cNvPicPr>
          <p:nvPr/>
        </p:nvPicPr>
        <p:blipFill>
          <a:blip r:embed="rId20"/>
          <a:srcRect l="0" r="0" t="-180" b="-180"/>
          <a:stretch/>
        </p:blipFill>
        <p:spPr>
          <a:xfrm>
            <a:off x="6534302" y="3933749"/>
            <a:ext cx="190195" cy="152705"/>
          </a:xfrm>
          <a:prstGeom prst="rect">
            <a:avLst/>
          </a:prstGeom>
        </p:spPr>
      </p:pic>
      <p:sp>
        <p:nvSpPr>
          <p:cNvPr id="54" name="Text 32"/>
          <p:cNvSpPr txBox="1"/>
          <p:nvPr/>
        </p:nvSpPr>
        <p:spPr>
          <a:xfrm>
            <a:off x="6368796" y="4276649"/>
            <a:ext cx="526694" cy="152705"/>
          </a:xfrm>
          <a:prstGeom prst="rect">
            <a:avLst/>
          </a:prstGeom>
          <a:noFill/>
          <a:ln/>
        </p:spPr>
        <p:txBody>
          <a:bodyPr wrap="square" lIns="0" tIns="0" rIns="0" bIns="0" rtlCol="0" anchor="ctr"/>
          <a:lstStyle/>
          <a:p>
            <a:pPr algn="ctr" indent="0" marL="0">
              <a:buNone/>
            </a:pPr>
            <a:r>
              <a:rPr lang="en-US" sz="900" b="1" dirty="0">
                <a:solidFill>
                  <a:srgbClr val="1E293B"/>
                </a:solidFill>
                <a:latin typeface="Inter" pitchFamily="34" charset="0"/>
                <a:ea typeface="Inter" pitchFamily="34" charset="-122"/>
                <a:cs typeface="Inter" pitchFamily="34" charset="-120"/>
              </a:rPr>
              <a:t>Agents</a:t>
            </a:r>
            <a:endParaRPr lang="en-US" sz="900" dirty="0"/>
          </a:p>
        </p:txBody>
      </p:sp>
      <p:sp>
        <p:nvSpPr>
          <p:cNvPr id="55" name="Text 33"/>
          <p:cNvSpPr txBox="1"/>
          <p:nvPr/>
        </p:nvSpPr>
        <p:spPr>
          <a:xfrm>
            <a:off x="6398971" y="4466844"/>
            <a:ext cx="467258" cy="228600"/>
          </a:xfrm>
          <a:prstGeom prst="rect">
            <a:avLst/>
          </a:prstGeom>
          <a:noFill/>
          <a:ln/>
        </p:spPr>
        <p:txBody>
          <a:bodyPr wrap="square" lIns="0" tIns="0" rIns="0" bIns="0" rtlCol="0" anchor="ctr"/>
          <a:lstStyle/>
          <a:p>
            <a:pPr algn="ctr" indent="0" marL="0">
              <a:buNone/>
            </a:pPr>
            <a:r>
              <a:rPr lang="en-US" sz="800" dirty="0">
                <a:solidFill>
                  <a:srgbClr val="64748B"/>
                </a:solidFill>
                <a:latin typeface="Inter" pitchFamily="34" charset="0"/>
                <a:ea typeface="Inter" pitchFamily="34" charset="-122"/>
                <a:cs typeface="Inter" pitchFamily="34" charset="-120"/>
              </a:rPr>
              <a:t>Memory &amp;</a:t>
            </a:r>
            <a:pPr algn="ctr" indent="0" marL="0">
              <a:buNone/>
            </a:pPr>
            <a:endParaRPr lang="en-US" sz="800" dirty="0"/>
          </a:p>
          <a:p>
            <a:pPr algn="ctr" indent="0" marL="0">
              <a:buNone/>
            </a:pPr>
            <a:r>
              <a:rPr lang="en-US" sz="800" dirty="0">
                <a:solidFill>
                  <a:srgbClr val="64748B"/>
                </a:solidFill>
                <a:latin typeface="Inter" pitchFamily="34" charset="0"/>
                <a:ea typeface="Inter" pitchFamily="34" charset="-122"/>
                <a:cs typeface="Inter" pitchFamily="34" charset="-120"/>
              </a:rPr>
              <a:t>Tool Use</a:t>
            </a:r>
            <a:endParaRPr lang="en-US" sz="800" dirty="0"/>
          </a:p>
        </p:txBody>
      </p:sp>
      <p:sp>
        <p:nvSpPr>
          <p:cNvPr id="56" name="Shape 34"/>
          <p:cNvSpPr/>
          <p:nvPr/>
        </p:nvSpPr>
        <p:spPr>
          <a:xfrm>
            <a:off x="476402" y="5810098"/>
            <a:ext cx="1343254" cy="371246"/>
          </a:xfrm>
          <a:prstGeom prst="roundRect">
            <a:avLst>
              <a:gd name="adj" fmla="val 101048"/>
            </a:avLst>
          </a:prstGeom>
          <a:solidFill>
            <a:srgbClr val="FFFFFF"/>
          </a:solidFill>
          <a:ln w="12700">
            <a:solidFill>
              <a:srgbClr val="E2E8F0"/>
            </a:solidFill>
            <a:prstDash val="solid"/>
          </a:ln>
        </p:spPr>
      </p:sp>
      <p:pic>
        <p:nvPicPr>
          <p:cNvPr id="57" name="Image 20" descr="preencoded.png">    </p:cNvPr>
          <p:cNvPicPr>
            <a:picLocks noChangeAspect="1"/>
          </p:cNvPicPr>
          <p:nvPr/>
        </p:nvPicPr>
        <p:blipFill>
          <a:blip r:embed="rId21"/>
          <a:srcRect l="0" r="0" t="-1100" b="-1100"/>
          <a:stretch/>
        </p:blipFill>
        <p:spPr>
          <a:xfrm>
            <a:off x="638251" y="5928970"/>
            <a:ext cx="114300" cy="133502"/>
          </a:xfrm>
          <a:prstGeom prst="rect">
            <a:avLst/>
          </a:prstGeom>
        </p:spPr>
      </p:pic>
      <p:sp>
        <p:nvSpPr>
          <p:cNvPr id="58" name="Text 35"/>
          <p:cNvSpPr txBox="1"/>
          <p:nvPr/>
        </p:nvSpPr>
        <p:spPr>
          <a:xfrm>
            <a:off x="828446" y="5810098"/>
            <a:ext cx="829361" cy="372161"/>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Python 3.10+</a:t>
            </a:r>
            <a:endParaRPr lang="en-US" sz="1000" dirty="0"/>
          </a:p>
        </p:txBody>
      </p:sp>
      <p:sp>
        <p:nvSpPr>
          <p:cNvPr id="59" name="Shape 36"/>
          <p:cNvSpPr/>
          <p:nvPr/>
        </p:nvSpPr>
        <p:spPr>
          <a:xfrm>
            <a:off x="1931213" y="5810098"/>
            <a:ext cx="1019556" cy="371246"/>
          </a:xfrm>
          <a:prstGeom prst="roundRect">
            <a:avLst>
              <a:gd name="adj" fmla="val 101048"/>
            </a:avLst>
          </a:prstGeom>
          <a:solidFill>
            <a:srgbClr val="FFFFFF"/>
          </a:solidFill>
          <a:ln w="12700">
            <a:solidFill>
              <a:srgbClr val="E2E8F0"/>
            </a:solidFill>
            <a:prstDash val="solid"/>
          </a:ln>
        </p:spPr>
      </p:sp>
      <p:pic>
        <p:nvPicPr>
          <p:cNvPr id="60" name="Image 21" descr="preencoded.png">    </p:cNvPr>
          <p:cNvPicPr>
            <a:picLocks noChangeAspect="1"/>
          </p:cNvPicPr>
          <p:nvPr/>
        </p:nvPicPr>
        <p:blipFill>
          <a:blip r:embed="rId22"/>
          <a:srcRect l="-1507" r="-1507" t="0" b="0"/>
          <a:stretch/>
        </p:blipFill>
        <p:spPr>
          <a:xfrm>
            <a:off x="2093062" y="5928970"/>
            <a:ext cx="171907" cy="133502"/>
          </a:xfrm>
          <a:prstGeom prst="rect">
            <a:avLst/>
          </a:prstGeom>
        </p:spPr>
      </p:pic>
      <p:sp>
        <p:nvSpPr>
          <p:cNvPr id="61" name="Text 37"/>
          <p:cNvSpPr txBox="1"/>
          <p:nvPr/>
        </p:nvSpPr>
        <p:spPr>
          <a:xfrm>
            <a:off x="2340864" y="5810098"/>
            <a:ext cx="448056" cy="372161"/>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Ollama</a:t>
            </a:r>
            <a:endParaRPr lang="en-US" sz="1000" dirty="0"/>
          </a:p>
        </p:txBody>
      </p:sp>
      <p:sp>
        <p:nvSpPr>
          <p:cNvPr id="62" name="Shape 38"/>
          <p:cNvSpPr/>
          <p:nvPr/>
        </p:nvSpPr>
        <p:spPr>
          <a:xfrm>
            <a:off x="3055925" y="5810098"/>
            <a:ext cx="1238098" cy="371246"/>
          </a:xfrm>
          <a:prstGeom prst="roundRect">
            <a:avLst>
              <a:gd name="adj" fmla="val 101048"/>
            </a:avLst>
          </a:prstGeom>
          <a:solidFill>
            <a:srgbClr val="FFFFFF"/>
          </a:solidFill>
          <a:ln w="12700">
            <a:solidFill>
              <a:srgbClr val="E2E8F0"/>
            </a:solidFill>
            <a:prstDash val="solid"/>
          </a:ln>
        </p:spPr>
      </p:sp>
      <p:pic>
        <p:nvPicPr>
          <p:cNvPr id="63" name="Image 22" descr="preencoded.png">    </p:cNvPr>
          <p:cNvPicPr>
            <a:picLocks noChangeAspect="1"/>
          </p:cNvPicPr>
          <p:nvPr/>
        </p:nvPicPr>
        <p:blipFill>
          <a:blip r:embed="rId23"/>
          <a:srcRect l="-837" r="-837" t="0" b="0"/>
          <a:stretch/>
        </p:blipFill>
        <p:spPr>
          <a:xfrm>
            <a:off x="3218688" y="5928970"/>
            <a:ext cx="152705" cy="133502"/>
          </a:xfrm>
          <a:prstGeom prst="rect">
            <a:avLst/>
          </a:prstGeom>
        </p:spPr>
      </p:pic>
      <p:sp>
        <p:nvSpPr>
          <p:cNvPr id="64" name="Text 39"/>
          <p:cNvSpPr txBox="1"/>
          <p:nvPr/>
        </p:nvSpPr>
        <p:spPr>
          <a:xfrm>
            <a:off x="3447288" y="5810098"/>
            <a:ext cx="685800" cy="372161"/>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LangChain</a:t>
            </a:r>
            <a:endParaRPr lang="en-US" sz="1000" dirty="0"/>
          </a:p>
        </p:txBody>
      </p:sp>
      <p:sp>
        <p:nvSpPr>
          <p:cNvPr id="65" name="Shape 40"/>
          <p:cNvSpPr/>
          <p:nvPr/>
        </p:nvSpPr>
        <p:spPr>
          <a:xfrm>
            <a:off x="4404665" y="5810098"/>
            <a:ext cx="1104595" cy="371246"/>
          </a:xfrm>
          <a:prstGeom prst="roundRect">
            <a:avLst>
              <a:gd name="adj" fmla="val 101048"/>
            </a:avLst>
          </a:prstGeom>
          <a:solidFill>
            <a:srgbClr val="FFFFFF"/>
          </a:solidFill>
          <a:ln w="12700">
            <a:solidFill>
              <a:srgbClr val="E2E8F0"/>
            </a:solidFill>
            <a:prstDash val="solid"/>
          </a:ln>
        </p:spPr>
      </p:sp>
      <p:pic>
        <p:nvPicPr>
          <p:cNvPr id="66" name="Image 23" descr="preencoded.png">    </p:cNvPr>
          <p:cNvPicPr>
            <a:picLocks noChangeAspect="1"/>
          </p:cNvPicPr>
          <p:nvPr/>
        </p:nvPicPr>
        <p:blipFill>
          <a:blip r:embed="rId24"/>
          <a:srcRect l="0" r="0" t="0" b="0"/>
          <a:stretch/>
        </p:blipFill>
        <p:spPr>
          <a:xfrm>
            <a:off x="4566514" y="5928970"/>
            <a:ext cx="133502" cy="133502"/>
          </a:xfrm>
          <a:prstGeom prst="rect">
            <a:avLst/>
          </a:prstGeom>
        </p:spPr>
      </p:pic>
      <p:sp>
        <p:nvSpPr>
          <p:cNvPr id="67" name="Text 41"/>
          <p:cNvSpPr txBox="1"/>
          <p:nvPr/>
        </p:nvSpPr>
        <p:spPr>
          <a:xfrm>
            <a:off x="4775911" y="5810098"/>
            <a:ext cx="571500" cy="372161"/>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Streamlit</a:t>
            </a:r>
            <a:endParaRPr lang="en-US" sz="1000" dirty="0"/>
          </a:p>
        </p:txBody>
      </p:sp>
      <p:sp>
        <p:nvSpPr>
          <p:cNvPr id="68" name="Text 42"/>
          <p:cNvSpPr txBox="1"/>
          <p:nvPr/>
        </p:nvSpPr>
        <p:spPr>
          <a:xfrm>
            <a:off x="8192110" y="1205179"/>
            <a:ext cx="1690726"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 Tech Stack Details </a:t>
            </a:r>
            <a:endParaRPr lang="en-US" sz="1200" dirty="0"/>
          </a:p>
        </p:txBody>
      </p:sp>
      <p:pic>
        <p:nvPicPr>
          <p:cNvPr id="69" name="Image 24" descr="preencoded.png">    </p:cNvPr>
          <p:cNvPicPr>
            <a:picLocks noChangeAspect="1"/>
          </p:cNvPicPr>
          <p:nvPr/>
        </p:nvPicPr>
        <p:blipFill>
          <a:blip r:embed="rId25"/>
          <a:srcRect l="0" r="0" t="0" b="0"/>
          <a:stretch/>
        </p:blipFill>
        <p:spPr>
          <a:xfrm>
            <a:off x="7944307" y="1224382"/>
            <a:ext cx="152705" cy="152705"/>
          </a:xfrm>
          <a:prstGeom prst="rect">
            <a:avLst/>
          </a:prstGeom>
        </p:spPr>
      </p:pic>
      <p:sp>
        <p:nvSpPr>
          <p:cNvPr id="70" name="Shape 43"/>
          <p:cNvSpPr/>
          <p:nvPr/>
        </p:nvSpPr>
        <p:spPr>
          <a:xfrm>
            <a:off x="10892333" y="1181405"/>
            <a:ext cx="599846" cy="237744"/>
          </a:xfrm>
          <a:prstGeom prst="roundRect">
            <a:avLst>
              <a:gd name="adj" fmla="val 184615"/>
            </a:avLst>
          </a:prstGeom>
          <a:solidFill>
            <a:srgbClr val="ECFDF5"/>
          </a:solidFill>
          <a:ln w="12700">
            <a:solidFill>
              <a:srgbClr val="A7F3D0"/>
            </a:solidFill>
            <a:prstDash val="solid"/>
          </a:ln>
        </p:spPr>
      </p:sp>
      <p:sp>
        <p:nvSpPr>
          <p:cNvPr id="71" name="Text 44"/>
          <p:cNvSpPr txBox="1"/>
          <p:nvPr/>
        </p:nvSpPr>
        <p:spPr>
          <a:xfrm>
            <a:off x="10892333" y="1181405"/>
            <a:ext cx="600761" cy="23865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algn="l" indent="0" marL="0">
              <a:buNone/>
            </a:pPr>
            <a:r>
              <a:rPr lang="en-US" sz="900" b="1" dirty="0">
                <a:solidFill>
                  <a:srgbClr val="059669"/>
                </a:solidFill>
                <a:latin typeface="Inter" pitchFamily="34" charset="0"/>
                <a:ea typeface="Inter" pitchFamily="34" charset="-122"/>
                <a:cs typeface="Inter" pitchFamily="34" charset="-120"/>
              </a:rPr>
              <a:t>Ready</a:t>
            </a:r>
            <a:endParaRPr lang="en-US" sz="900" dirty="0"/>
          </a:p>
        </p:txBody>
      </p:sp>
      <p:sp>
        <p:nvSpPr>
          <p:cNvPr id="72" name="Shape 45"/>
          <p:cNvSpPr/>
          <p:nvPr/>
        </p:nvSpPr>
        <p:spPr>
          <a:xfrm>
            <a:off x="7944307" y="1609344"/>
            <a:ext cx="3543300" cy="409651"/>
          </a:xfrm>
          <a:prstGeom prst="roundRect">
            <a:avLst>
              <a:gd name="adj" fmla="val 103821"/>
            </a:avLst>
          </a:prstGeom>
          <a:solidFill>
            <a:srgbClr val="F8FAFC"/>
          </a:solidFill>
          <a:ln w="12700">
            <a:solidFill>
              <a:srgbClr val="F1F5F9"/>
            </a:solidFill>
            <a:prstDash val="solid"/>
          </a:ln>
        </p:spPr>
      </p:sp>
      <p:sp>
        <p:nvSpPr>
          <p:cNvPr id="73" name="Shape 46"/>
          <p:cNvSpPr/>
          <p:nvPr/>
        </p:nvSpPr>
        <p:spPr>
          <a:xfrm>
            <a:off x="8106156" y="1776679"/>
            <a:ext cx="75895" cy="75895"/>
          </a:xfrm>
          <a:prstGeom prst="ellipse">
            <a:avLst/>
          </a:prstGeom>
          <a:solidFill>
            <a:srgbClr val="059669"/>
          </a:solidFill>
          <a:ln w="12700">
            <a:solidFill>
              <a:srgbClr val="FFFFFF">
                <a:alpha val="0"/>
              </a:srgbClr>
            </a:solidFill>
            <a:prstDash val="solid"/>
          </a:ln>
        </p:spPr>
      </p:sp>
      <p:sp>
        <p:nvSpPr>
          <p:cNvPr id="74" name="Text 47"/>
          <p:cNvSpPr txBox="1"/>
          <p:nvPr/>
        </p:nvSpPr>
        <p:spPr>
          <a:xfrm>
            <a:off x="8296351" y="1733702"/>
            <a:ext cx="659282" cy="162763"/>
          </a:xfrm>
          <a:prstGeom prst="rect">
            <a:avLst/>
          </a:prstGeom>
          <a:noFill/>
          <a:ln/>
        </p:spPr>
        <p:txBody>
          <a:bodyPr wrap="square" lIns="0" tIns="0" rIns="0" bIns="0" rtlCol="0" anchor="ctr"/>
          <a:lstStyle/>
          <a:p>
            <a:pPr algn="l" indent="0" marL="0">
              <a:buNone/>
            </a:pPr>
            <a:r>
              <a:rPr lang="en-US" sz="1000" b="1" dirty="0">
                <a:solidFill>
                  <a:srgbClr val="334155"/>
                </a:solidFill>
                <a:latin typeface="Inter" pitchFamily="34" charset="0"/>
                <a:ea typeface="Inter" pitchFamily="34" charset="-122"/>
                <a:cs typeface="Inter" pitchFamily="34" charset="-120"/>
              </a:rPr>
              <a:t>Runtime</a:t>
            </a:r>
            <a:endParaRPr lang="en-US" sz="1000" dirty="0"/>
          </a:p>
        </p:txBody>
      </p:sp>
      <p:sp>
        <p:nvSpPr>
          <p:cNvPr id="75" name="Text 48"/>
          <p:cNvSpPr txBox="1"/>
          <p:nvPr/>
        </p:nvSpPr>
        <p:spPr>
          <a:xfrm>
            <a:off x="10569550" y="1738274"/>
            <a:ext cx="1005840" cy="152705"/>
          </a:xfrm>
          <a:prstGeom prst="rect">
            <a:avLst/>
          </a:prstGeom>
          <a:noFill/>
          <a:ln/>
        </p:spPr>
        <p:txBody>
          <a:bodyPr wrap="squar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Python 3.10+</a:t>
            </a:r>
            <a:endParaRPr lang="en-US" sz="900" dirty="0"/>
          </a:p>
        </p:txBody>
      </p:sp>
      <p:sp>
        <p:nvSpPr>
          <p:cNvPr id="76" name="Shape 49"/>
          <p:cNvSpPr/>
          <p:nvPr/>
        </p:nvSpPr>
        <p:spPr>
          <a:xfrm>
            <a:off x="7944307" y="2115007"/>
            <a:ext cx="3543300" cy="409651"/>
          </a:xfrm>
          <a:prstGeom prst="roundRect">
            <a:avLst>
              <a:gd name="adj" fmla="val 103821"/>
            </a:avLst>
          </a:prstGeom>
          <a:solidFill>
            <a:srgbClr val="F8FAFC"/>
          </a:solidFill>
          <a:ln w="12700">
            <a:solidFill>
              <a:srgbClr val="F1F5F9"/>
            </a:solidFill>
            <a:prstDash val="solid"/>
          </a:ln>
        </p:spPr>
      </p:sp>
      <p:sp>
        <p:nvSpPr>
          <p:cNvPr id="77" name="Shape 50"/>
          <p:cNvSpPr/>
          <p:nvPr/>
        </p:nvSpPr>
        <p:spPr>
          <a:xfrm>
            <a:off x="8106156" y="2281428"/>
            <a:ext cx="75895" cy="75895"/>
          </a:xfrm>
          <a:prstGeom prst="ellipse">
            <a:avLst/>
          </a:prstGeom>
          <a:solidFill>
            <a:srgbClr val="059669"/>
          </a:solidFill>
          <a:ln w="12700">
            <a:solidFill>
              <a:srgbClr val="FFFFFF">
                <a:alpha val="0"/>
              </a:srgbClr>
            </a:solidFill>
            <a:prstDash val="solid"/>
          </a:ln>
        </p:spPr>
      </p:sp>
      <p:sp>
        <p:nvSpPr>
          <p:cNvPr id="78" name="Text 51"/>
          <p:cNvSpPr txBox="1"/>
          <p:nvPr/>
        </p:nvSpPr>
        <p:spPr>
          <a:xfrm>
            <a:off x="8296351" y="2238451"/>
            <a:ext cx="1306678" cy="162763"/>
          </a:xfrm>
          <a:prstGeom prst="rect">
            <a:avLst/>
          </a:prstGeom>
          <a:noFill/>
          <a:ln/>
        </p:spPr>
        <p:txBody>
          <a:bodyPr wrap="square" lIns="0" tIns="0" rIns="0" bIns="0" rtlCol="0" anchor="ctr"/>
          <a:lstStyle/>
          <a:p>
            <a:pPr algn="l" indent="0" marL="0">
              <a:buNone/>
            </a:pPr>
            <a:r>
              <a:rPr lang="en-US" sz="1000" b="1" dirty="0">
                <a:solidFill>
                  <a:srgbClr val="334155"/>
                </a:solidFill>
                <a:latin typeface="Inter" pitchFamily="34" charset="0"/>
                <a:ea typeface="Inter" pitchFamily="34" charset="-122"/>
                <a:cs typeface="Inter" pitchFamily="34" charset="-120"/>
              </a:rPr>
              <a:t>llama3.2 Model</a:t>
            </a:r>
            <a:endParaRPr lang="en-US" sz="1000" dirty="0"/>
          </a:p>
        </p:txBody>
      </p:sp>
      <p:sp>
        <p:nvSpPr>
          <p:cNvPr id="79" name="Text 52"/>
          <p:cNvSpPr txBox="1"/>
          <p:nvPr/>
        </p:nvSpPr>
        <p:spPr>
          <a:xfrm>
            <a:off x="10805465" y="2247595"/>
            <a:ext cx="523951" cy="143561"/>
          </a:xfrm>
          <a:prstGeom prst="rect">
            <a:avLst/>
          </a:prstGeom>
          <a:noFill/>
          <a:ln/>
        </p:spPr>
        <p:txBody>
          <a:bodyPr wrap="square" lIns="0" tIns="0" rIns="0" bIns="0" rtlCol="0" anchor="ctr"/>
          <a:lstStyle/>
          <a:p>
            <a:pPr algn="l" indent="0" marL="0">
              <a:buNone/>
            </a:pPr>
            <a:r>
              <a:rPr lang="en-US" sz="900" dirty="0">
                <a:solidFill>
                  <a:srgbClr val="64748B"/>
                </a:solidFill>
                <a:latin typeface="Courier New" pitchFamily="34" charset="0"/>
                <a:ea typeface="Courier New" pitchFamily="34" charset="-122"/>
                <a:cs typeface="Courier New" pitchFamily="34" charset="-120"/>
              </a:rPr>
              <a:t>~2.0 GB</a:t>
            </a:r>
            <a:endParaRPr lang="en-US" sz="900" dirty="0"/>
          </a:p>
        </p:txBody>
      </p:sp>
      <p:sp>
        <p:nvSpPr>
          <p:cNvPr id="80" name="Shape 53"/>
          <p:cNvSpPr/>
          <p:nvPr/>
        </p:nvSpPr>
        <p:spPr>
          <a:xfrm>
            <a:off x="7944307" y="2619756"/>
            <a:ext cx="3543300" cy="409651"/>
          </a:xfrm>
          <a:prstGeom prst="roundRect">
            <a:avLst>
              <a:gd name="adj" fmla="val 103821"/>
            </a:avLst>
          </a:prstGeom>
          <a:solidFill>
            <a:srgbClr val="F8FAFC"/>
          </a:solidFill>
          <a:ln w="12700">
            <a:solidFill>
              <a:srgbClr val="F1F5F9"/>
            </a:solidFill>
            <a:prstDash val="solid"/>
          </a:ln>
        </p:spPr>
      </p:sp>
      <p:sp>
        <p:nvSpPr>
          <p:cNvPr id="81" name="Shape 54"/>
          <p:cNvSpPr/>
          <p:nvPr/>
        </p:nvSpPr>
        <p:spPr>
          <a:xfrm>
            <a:off x="8106156" y="2786177"/>
            <a:ext cx="75895" cy="75895"/>
          </a:xfrm>
          <a:prstGeom prst="ellipse">
            <a:avLst/>
          </a:prstGeom>
          <a:solidFill>
            <a:srgbClr val="059669"/>
          </a:solidFill>
          <a:ln w="12700">
            <a:solidFill>
              <a:srgbClr val="FFFFFF">
                <a:alpha val="0"/>
              </a:srgbClr>
            </a:solidFill>
            <a:prstDash val="solid"/>
          </a:ln>
        </p:spPr>
      </p:sp>
      <p:sp>
        <p:nvSpPr>
          <p:cNvPr id="82" name="Text 55"/>
          <p:cNvSpPr txBox="1"/>
          <p:nvPr/>
        </p:nvSpPr>
        <p:spPr>
          <a:xfrm>
            <a:off x="8296351" y="2743200"/>
            <a:ext cx="1046074" cy="162763"/>
          </a:xfrm>
          <a:prstGeom prst="rect">
            <a:avLst/>
          </a:prstGeom>
          <a:noFill/>
          <a:ln/>
        </p:spPr>
        <p:txBody>
          <a:bodyPr wrap="square" lIns="0" tIns="0" rIns="0" bIns="0" rtlCol="0" anchor="ctr"/>
          <a:lstStyle/>
          <a:p>
            <a:pPr algn="l" indent="0" marL="0">
              <a:buNone/>
            </a:pPr>
            <a:r>
              <a:rPr lang="en-US" sz="1000" b="1" dirty="0">
                <a:solidFill>
                  <a:srgbClr val="334155"/>
                </a:solidFill>
                <a:latin typeface="Inter" pitchFamily="34" charset="0"/>
                <a:ea typeface="Inter" pitchFamily="34" charset="-122"/>
                <a:cs typeface="Inter" pitchFamily="34" charset="-120"/>
              </a:rPr>
              <a:t>nomic-embed</a:t>
            </a:r>
            <a:endParaRPr lang="en-US" sz="1000" dirty="0"/>
          </a:p>
        </p:txBody>
      </p:sp>
      <p:sp>
        <p:nvSpPr>
          <p:cNvPr id="83" name="Text 56"/>
          <p:cNvSpPr txBox="1"/>
          <p:nvPr/>
        </p:nvSpPr>
        <p:spPr>
          <a:xfrm>
            <a:off x="10805465" y="2752344"/>
            <a:ext cx="523951" cy="143561"/>
          </a:xfrm>
          <a:prstGeom prst="rect">
            <a:avLst/>
          </a:prstGeom>
          <a:noFill/>
          <a:ln/>
        </p:spPr>
        <p:txBody>
          <a:bodyPr wrap="square" lIns="0" tIns="0" rIns="0" bIns="0" rtlCol="0" anchor="ctr"/>
          <a:lstStyle/>
          <a:p>
            <a:pPr algn="l" indent="0" marL="0">
              <a:buNone/>
            </a:pPr>
            <a:r>
              <a:rPr lang="en-US" sz="900" dirty="0">
                <a:solidFill>
                  <a:srgbClr val="64748B"/>
                </a:solidFill>
                <a:latin typeface="Courier New" pitchFamily="34" charset="0"/>
                <a:ea typeface="Courier New" pitchFamily="34" charset="-122"/>
                <a:cs typeface="Courier New" pitchFamily="34" charset="-120"/>
              </a:rPr>
              <a:t>~274 MB</a:t>
            </a:r>
            <a:endParaRPr lang="en-US" sz="900" dirty="0"/>
          </a:p>
        </p:txBody>
      </p:sp>
      <p:sp>
        <p:nvSpPr>
          <p:cNvPr id="84" name="Shape 57"/>
          <p:cNvSpPr/>
          <p:nvPr/>
        </p:nvSpPr>
        <p:spPr>
          <a:xfrm>
            <a:off x="7944307" y="3124505"/>
            <a:ext cx="3543300" cy="409651"/>
          </a:xfrm>
          <a:prstGeom prst="roundRect">
            <a:avLst>
              <a:gd name="adj" fmla="val 103821"/>
            </a:avLst>
          </a:prstGeom>
          <a:solidFill>
            <a:srgbClr val="F8FAFC"/>
          </a:solidFill>
          <a:ln w="12700">
            <a:solidFill>
              <a:srgbClr val="F1F5F9"/>
            </a:solidFill>
            <a:prstDash val="solid"/>
          </a:ln>
        </p:spPr>
      </p:sp>
      <p:sp>
        <p:nvSpPr>
          <p:cNvPr id="85" name="Shape 58"/>
          <p:cNvSpPr/>
          <p:nvPr/>
        </p:nvSpPr>
        <p:spPr>
          <a:xfrm>
            <a:off x="8106156" y="3290926"/>
            <a:ext cx="75895" cy="75895"/>
          </a:xfrm>
          <a:prstGeom prst="ellipse">
            <a:avLst/>
          </a:prstGeom>
          <a:solidFill>
            <a:srgbClr val="059669"/>
          </a:solidFill>
          <a:ln w="12700">
            <a:solidFill>
              <a:srgbClr val="FFFFFF">
                <a:alpha val="0"/>
              </a:srgbClr>
            </a:solidFill>
            <a:prstDash val="solid"/>
          </a:ln>
        </p:spPr>
      </p:sp>
      <p:sp>
        <p:nvSpPr>
          <p:cNvPr id="86" name="Text 59"/>
          <p:cNvSpPr txBox="1"/>
          <p:nvPr/>
        </p:nvSpPr>
        <p:spPr>
          <a:xfrm>
            <a:off x="8296351" y="3247949"/>
            <a:ext cx="1844345" cy="162763"/>
          </a:xfrm>
          <a:prstGeom prst="rect">
            <a:avLst/>
          </a:prstGeom>
          <a:noFill/>
          <a:ln/>
        </p:spPr>
        <p:txBody>
          <a:bodyPr wrap="square" lIns="0" tIns="0" rIns="0" bIns="0" rtlCol="0" anchor="ctr"/>
          <a:lstStyle/>
          <a:p>
            <a:pPr algn="l" indent="0" marL="0">
              <a:buNone/>
            </a:pPr>
            <a:r>
              <a:rPr lang="en-US" sz="1000" b="1" dirty="0">
                <a:solidFill>
                  <a:srgbClr val="334155"/>
                </a:solidFill>
                <a:latin typeface="Inter" pitchFamily="34" charset="0"/>
                <a:ea typeface="Inter" pitchFamily="34" charset="-122"/>
                <a:cs typeface="Inter" pitchFamily="34" charset="-120"/>
              </a:rPr>
              <a:t>ChromaDB + LangGraph</a:t>
            </a:r>
            <a:endParaRPr lang="en-US" sz="1000" dirty="0"/>
          </a:p>
        </p:txBody>
      </p:sp>
      <p:sp>
        <p:nvSpPr>
          <p:cNvPr id="87" name="Text 60"/>
          <p:cNvSpPr txBox="1"/>
          <p:nvPr/>
        </p:nvSpPr>
        <p:spPr>
          <a:xfrm>
            <a:off x="10834726" y="3252521"/>
            <a:ext cx="743407" cy="152705"/>
          </a:xfrm>
          <a:prstGeom prst="rect">
            <a:avLst/>
          </a:prstGeom>
          <a:noFill/>
          <a:ln/>
        </p:spPr>
        <p:txBody>
          <a:bodyPr wrap="squar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Installed</a:t>
            </a:r>
            <a:endParaRPr lang="en-US" sz="900" dirty="0"/>
          </a:p>
        </p:txBody>
      </p:sp>
      <p:sp>
        <p:nvSpPr>
          <p:cNvPr id="88" name="Text 61"/>
          <p:cNvSpPr txBox="1"/>
          <p:nvPr/>
        </p:nvSpPr>
        <p:spPr>
          <a:xfrm>
            <a:off x="8192110" y="4324198"/>
            <a:ext cx="3295498"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 Local-First Benefits </a:t>
            </a:r>
            <a:endParaRPr lang="en-US" sz="1200" dirty="0"/>
          </a:p>
        </p:txBody>
      </p:sp>
      <p:pic>
        <p:nvPicPr>
          <p:cNvPr id="89" name="Image 25" descr="preencoded.png">    </p:cNvPr>
          <p:cNvPicPr>
            <a:picLocks noChangeAspect="1"/>
          </p:cNvPicPr>
          <p:nvPr/>
        </p:nvPicPr>
        <p:blipFill>
          <a:blip r:embed="rId26"/>
          <a:srcRect l="0" r="0" t="0" b="0"/>
          <a:stretch/>
        </p:blipFill>
        <p:spPr>
          <a:xfrm>
            <a:off x="7944307" y="4343400"/>
            <a:ext cx="152705" cy="152705"/>
          </a:xfrm>
          <a:prstGeom prst="rect">
            <a:avLst/>
          </a:prstGeom>
        </p:spPr>
      </p:pic>
      <p:sp>
        <p:nvSpPr>
          <p:cNvPr id="90" name="Shape 62"/>
          <p:cNvSpPr/>
          <p:nvPr/>
        </p:nvSpPr>
        <p:spPr>
          <a:xfrm>
            <a:off x="7944307" y="4667098"/>
            <a:ext cx="1714500" cy="552298"/>
          </a:xfrm>
          <a:prstGeom prst="roundRect">
            <a:avLst>
              <a:gd name="adj" fmla="val 68509"/>
            </a:avLst>
          </a:prstGeom>
          <a:solidFill>
            <a:srgbClr val="F8FAFC"/>
          </a:solidFill>
          <a:ln w="12700">
            <a:solidFill>
              <a:srgbClr val="F1F5F9"/>
            </a:solidFill>
            <a:prstDash val="solid"/>
          </a:ln>
        </p:spPr>
      </p:sp>
      <p:sp>
        <p:nvSpPr>
          <p:cNvPr id="91" name="Shape 63"/>
          <p:cNvSpPr/>
          <p:nvPr/>
        </p:nvSpPr>
        <p:spPr>
          <a:xfrm>
            <a:off x="8067751" y="4791456"/>
            <a:ext cx="267005" cy="267005"/>
          </a:xfrm>
          <a:prstGeom prst="roundRect">
            <a:avLst>
              <a:gd name="adj" fmla="val 146771"/>
            </a:avLst>
          </a:prstGeom>
          <a:solidFill>
            <a:srgbClr val="EEF2FF"/>
          </a:solidFill>
          <a:ln w="12700">
            <a:solidFill>
              <a:srgbClr val="FFFFFF">
                <a:alpha val="0"/>
              </a:srgbClr>
            </a:solidFill>
            <a:prstDash val="solid"/>
          </a:ln>
        </p:spPr>
      </p:sp>
      <p:pic>
        <p:nvPicPr>
          <p:cNvPr id="92" name="Image 26" descr="preencoded.png">    </p:cNvPr>
          <p:cNvPicPr>
            <a:picLocks noChangeAspect="1"/>
          </p:cNvPicPr>
          <p:nvPr/>
        </p:nvPicPr>
        <p:blipFill>
          <a:blip r:embed="rId27"/>
          <a:srcRect l="-2571" r="-2571" t="0" b="0"/>
          <a:stretch/>
        </p:blipFill>
        <p:spPr>
          <a:xfrm>
            <a:off x="8148218" y="4867351"/>
            <a:ext cx="105156" cy="114300"/>
          </a:xfrm>
          <a:prstGeom prst="rect">
            <a:avLst/>
          </a:prstGeom>
        </p:spPr>
      </p:pic>
      <p:sp>
        <p:nvSpPr>
          <p:cNvPr id="93" name="Text 64"/>
          <p:cNvSpPr txBox="1"/>
          <p:nvPr/>
        </p:nvSpPr>
        <p:spPr>
          <a:xfrm>
            <a:off x="8429854" y="4791456"/>
            <a:ext cx="790956" cy="152705"/>
          </a:xfrm>
          <a:prstGeom prst="rect">
            <a:avLst/>
          </a:prstGeom>
          <a:noFill/>
          <a:ln/>
        </p:spPr>
        <p:txBody>
          <a:bodyPr wrap="square" lIns="0" tIns="0" rIns="0" bIns="0" rtlCol="0" anchor="ctr"/>
          <a:lstStyle/>
          <a:p>
            <a:pPr algn="l" indent="0" marL="0">
              <a:buNone/>
            </a:pPr>
            <a:r>
              <a:rPr lang="en-US" sz="900" b="1" dirty="0">
                <a:solidFill>
                  <a:srgbClr val="334155"/>
                </a:solidFill>
                <a:latin typeface="Inter" pitchFamily="34" charset="0"/>
                <a:ea typeface="Inter" pitchFamily="34" charset="-122"/>
                <a:cs typeface="Inter" pitchFamily="34" charset="-120"/>
              </a:rPr>
              <a:t>Privacy</a:t>
            </a:r>
            <a:endParaRPr lang="en-US" sz="900" dirty="0"/>
          </a:p>
        </p:txBody>
      </p:sp>
      <p:sp>
        <p:nvSpPr>
          <p:cNvPr id="94" name="Text 65"/>
          <p:cNvSpPr txBox="1"/>
          <p:nvPr/>
        </p:nvSpPr>
        <p:spPr>
          <a:xfrm>
            <a:off x="8429854" y="4962449"/>
            <a:ext cx="1124712" cy="133502"/>
          </a:xfrm>
          <a:prstGeom prst="rect">
            <a:avLst/>
          </a:prstGeom>
          <a:noFill/>
          <a:ln/>
        </p:spPr>
        <p:txBody>
          <a:bodyPr wrap="square" lIns="0" tIns="0" rIns="0" bIns="0" rtlCol="0" anchor="ctr"/>
          <a:lstStyle/>
          <a:p>
            <a:pPr algn="l" indent="0" marL="0">
              <a:buNone/>
            </a:pPr>
            <a:r>
              <a:rPr lang="en-US" sz="800" dirty="0">
                <a:solidFill>
                  <a:srgbClr val="64748B"/>
                </a:solidFill>
                <a:latin typeface="Inter" pitchFamily="34" charset="0"/>
                <a:ea typeface="Inter" pitchFamily="34" charset="-122"/>
                <a:cs typeface="Inter" pitchFamily="34" charset="-120"/>
              </a:rPr>
              <a:t>Data stays local</a:t>
            </a:r>
            <a:endParaRPr lang="en-US" sz="800" dirty="0"/>
          </a:p>
        </p:txBody>
      </p:sp>
      <p:sp>
        <p:nvSpPr>
          <p:cNvPr id="95" name="Shape 66"/>
          <p:cNvSpPr/>
          <p:nvPr/>
        </p:nvSpPr>
        <p:spPr>
          <a:xfrm>
            <a:off x="9773107" y="4667098"/>
            <a:ext cx="1714500" cy="552298"/>
          </a:xfrm>
          <a:prstGeom prst="roundRect">
            <a:avLst>
              <a:gd name="adj" fmla="val 68509"/>
            </a:avLst>
          </a:prstGeom>
          <a:solidFill>
            <a:srgbClr val="F8FAFC"/>
          </a:solidFill>
          <a:ln w="12700">
            <a:solidFill>
              <a:srgbClr val="F1F5F9"/>
            </a:solidFill>
            <a:prstDash val="solid"/>
          </a:ln>
        </p:spPr>
      </p:sp>
      <p:sp>
        <p:nvSpPr>
          <p:cNvPr id="96" name="Shape 67"/>
          <p:cNvSpPr/>
          <p:nvPr/>
        </p:nvSpPr>
        <p:spPr>
          <a:xfrm>
            <a:off x="9896551" y="4791456"/>
            <a:ext cx="267005" cy="267005"/>
          </a:xfrm>
          <a:prstGeom prst="roundRect">
            <a:avLst>
              <a:gd name="adj" fmla="val 146771"/>
            </a:avLst>
          </a:prstGeom>
          <a:solidFill>
            <a:srgbClr val="EEF2FF"/>
          </a:solidFill>
          <a:ln w="12700">
            <a:solidFill>
              <a:srgbClr val="FFFFFF">
                <a:alpha val="0"/>
              </a:srgbClr>
            </a:solidFill>
            <a:prstDash val="solid"/>
          </a:ln>
        </p:spPr>
      </p:sp>
      <p:pic>
        <p:nvPicPr>
          <p:cNvPr id="97" name="Image 27" descr="preencoded.png">    </p:cNvPr>
          <p:cNvPicPr>
            <a:picLocks noChangeAspect="1"/>
          </p:cNvPicPr>
          <p:nvPr/>
        </p:nvPicPr>
        <p:blipFill>
          <a:blip r:embed="rId28"/>
          <a:srcRect l="-3120" r="-3120" t="0" b="0"/>
          <a:stretch/>
        </p:blipFill>
        <p:spPr>
          <a:xfrm>
            <a:off x="9991649" y="4867351"/>
            <a:ext cx="75895" cy="114300"/>
          </a:xfrm>
          <a:prstGeom prst="rect">
            <a:avLst/>
          </a:prstGeom>
        </p:spPr>
      </p:pic>
      <p:sp>
        <p:nvSpPr>
          <p:cNvPr id="98" name="Text 68"/>
          <p:cNvSpPr txBox="1"/>
          <p:nvPr/>
        </p:nvSpPr>
        <p:spPr>
          <a:xfrm>
            <a:off x="10258654" y="4791456"/>
            <a:ext cx="1036015" cy="152705"/>
          </a:xfrm>
          <a:prstGeom prst="rect">
            <a:avLst/>
          </a:prstGeom>
          <a:noFill/>
          <a:ln/>
        </p:spPr>
        <p:txBody>
          <a:bodyPr wrap="square" lIns="0" tIns="0" rIns="0" bIns="0" rtlCol="0" anchor="ctr"/>
          <a:lstStyle/>
          <a:p>
            <a:pPr algn="l" indent="0" marL="0">
              <a:buNone/>
            </a:pPr>
            <a:r>
              <a:rPr lang="en-US" sz="900" b="1" dirty="0">
                <a:solidFill>
                  <a:srgbClr val="334155"/>
                </a:solidFill>
                <a:latin typeface="Inter" pitchFamily="34" charset="0"/>
                <a:ea typeface="Inter" pitchFamily="34" charset="-122"/>
                <a:cs typeface="Inter" pitchFamily="34" charset="-120"/>
              </a:rPr>
              <a:t>Cost Control</a:t>
            </a:r>
            <a:endParaRPr lang="en-US" sz="900" dirty="0"/>
          </a:p>
        </p:txBody>
      </p:sp>
      <p:sp>
        <p:nvSpPr>
          <p:cNvPr id="99" name="Text 69"/>
          <p:cNvSpPr txBox="1"/>
          <p:nvPr/>
        </p:nvSpPr>
        <p:spPr>
          <a:xfrm>
            <a:off x="10258654" y="4962449"/>
            <a:ext cx="762610" cy="133502"/>
          </a:xfrm>
          <a:prstGeom prst="rect">
            <a:avLst/>
          </a:prstGeom>
          <a:noFill/>
          <a:ln/>
        </p:spPr>
        <p:txBody>
          <a:bodyPr wrap="square" lIns="0" tIns="0" rIns="0" bIns="0" rtlCol="0" anchor="ctr"/>
          <a:lstStyle/>
          <a:p>
            <a:pPr algn="l" indent="0" marL="0">
              <a:buNone/>
            </a:pPr>
            <a:r>
              <a:rPr lang="en-US" sz="800" dirty="0">
                <a:solidFill>
                  <a:srgbClr val="64748B"/>
                </a:solidFill>
                <a:latin typeface="Inter" pitchFamily="34" charset="0"/>
                <a:ea typeface="Inter" pitchFamily="34" charset="-122"/>
                <a:cs typeface="Inter" pitchFamily="34" charset="-120"/>
              </a:rPr>
              <a:t>No API fees</a:t>
            </a:r>
            <a:endParaRPr lang="en-US" sz="800" dirty="0"/>
          </a:p>
        </p:txBody>
      </p:sp>
      <p:sp>
        <p:nvSpPr>
          <p:cNvPr id="100" name="Shape 70"/>
          <p:cNvSpPr/>
          <p:nvPr/>
        </p:nvSpPr>
        <p:spPr>
          <a:xfrm>
            <a:off x="7944307" y="5333695"/>
            <a:ext cx="1714500" cy="552298"/>
          </a:xfrm>
          <a:prstGeom prst="roundRect">
            <a:avLst>
              <a:gd name="adj" fmla="val 68509"/>
            </a:avLst>
          </a:prstGeom>
          <a:solidFill>
            <a:srgbClr val="F8FAFC"/>
          </a:solidFill>
          <a:ln w="12700">
            <a:solidFill>
              <a:srgbClr val="F1F5F9"/>
            </a:solidFill>
            <a:prstDash val="solid"/>
          </a:ln>
        </p:spPr>
      </p:sp>
      <p:sp>
        <p:nvSpPr>
          <p:cNvPr id="101" name="Shape 71"/>
          <p:cNvSpPr/>
          <p:nvPr/>
        </p:nvSpPr>
        <p:spPr>
          <a:xfrm>
            <a:off x="8067751" y="5458054"/>
            <a:ext cx="267005" cy="267005"/>
          </a:xfrm>
          <a:prstGeom prst="roundRect">
            <a:avLst>
              <a:gd name="adj" fmla="val 146771"/>
            </a:avLst>
          </a:prstGeom>
          <a:solidFill>
            <a:srgbClr val="EEF2FF"/>
          </a:solidFill>
          <a:ln w="12700">
            <a:solidFill>
              <a:srgbClr val="FFFFFF">
                <a:alpha val="0"/>
              </a:srgbClr>
            </a:solidFill>
            <a:prstDash val="solid"/>
          </a:ln>
        </p:spPr>
      </p:sp>
      <p:pic>
        <p:nvPicPr>
          <p:cNvPr id="102" name="Image 28" descr="preencoded.png">    </p:cNvPr>
          <p:cNvPicPr>
            <a:picLocks noChangeAspect="1"/>
          </p:cNvPicPr>
          <p:nvPr/>
        </p:nvPicPr>
        <p:blipFill>
          <a:blip r:embed="rId29"/>
          <a:srcRect l="-2571" r="-2571" t="0" b="0"/>
          <a:stretch/>
        </p:blipFill>
        <p:spPr>
          <a:xfrm>
            <a:off x="8148218" y="5533949"/>
            <a:ext cx="105156" cy="114300"/>
          </a:xfrm>
          <a:prstGeom prst="rect">
            <a:avLst/>
          </a:prstGeom>
        </p:spPr>
      </p:pic>
      <p:sp>
        <p:nvSpPr>
          <p:cNvPr id="103" name="Text 72"/>
          <p:cNvSpPr txBox="1"/>
          <p:nvPr/>
        </p:nvSpPr>
        <p:spPr>
          <a:xfrm>
            <a:off x="8429854" y="5458054"/>
            <a:ext cx="961034" cy="152705"/>
          </a:xfrm>
          <a:prstGeom prst="rect">
            <a:avLst/>
          </a:prstGeom>
          <a:noFill/>
          <a:ln/>
        </p:spPr>
        <p:txBody>
          <a:bodyPr wrap="square" lIns="0" tIns="0" rIns="0" bIns="0" rtlCol="0" anchor="ctr"/>
          <a:lstStyle/>
          <a:p>
            <a:pPr algn="l" indent="0" marL="0">
              <a:buNone/>
            </a:pPr>
            <a:r>
              <a:rPr lang="en-US" sz="900" b="1" dirty="0">
                <a:solidFill>
                  <a:srgbClr val="334155"/>
                </a:solidFill>
                <a:latin typeface="Inter" pitchFamily="34" charset="0"/>
                <a:ea typeface="Inter" pitchFamily="34" charset="-122"/>
                <a:cs typeface="Inter" pitchFamily="34" charset="-120"/>
              </a:rPr>
              <a:t>Low Latency</a:t>
            </a:r>
            <a:endParaRPr lang="en-US" sz="900" dirty="0"/>
          </a:p>
        </p:txBody>
      </p:sp>
      <p:sp>
        <p:nvSpPr>
          <p:cNvPr id="104" name="Text 73"/>
          <p:cNvSpPr txBox="1"/>
          <p:nvPr/>
        </p:nvSpPr>
        <p:spPr>
          <a:xfrm>
            <a:off x="8429854" y="5629046"/>
            <a:ext cx="1058875" cy="133502"/>
          </a:xfrm>
          <a:prstGeom prst="rect">
            <a:avLst/>
          </a:prstGeom>
          <a:noFill/>
          <a:ln/>
        </p:spPr>
        <p:txBody>
          <a:bodyPr wrap="square" lIns="0" tIns="0" rIns="0" bIns="0" rtlCol="0" anchor="ctr"/>
          <a:lstStyle/>
          <a:p>
            <a:pPr algn="l" indent="0" marL="0">
              <a:buNone/>
            </a:pPr>
            <a:r>
              <a:rPr lang="en-US" sz="800" dirty="0">
                <a:solidFill>
                  <a:srgbClr val="64748B"/>
                </a:solidFill>
                <a:latin typeface="Inter" pitchFamily="34" charset="0"/>
                <a:ea typeface="Inter" pitchFamily="34" charset="-122"/>
                <a:cs typeface="Inter" pitchFamily="34" charset="-120"/>
              </a:rPr>
              <a:t>Local inference</a:t>
            </a:r>
            <a:endParaRPr lang="en-US" sz="800" dirty="0"/>
          </a:p>
        </p:txBody>
      </p:sp>
      <p:sp>
        <p:nvSpPr>
          <p:cNvPr id="105" name="Shape 74"/>
          <p:cNvSpPr/>
          <p:nvPr/>
        </p:nvSpPr>
        <p:spPr>
          <a:xfrm>
            <a:off x="9773107" y="5333695"/>
            <a:ext cx="1714500" cy="552298"/>
          </a:xfrm>
          <a:prstGeom prst="roundRect">
            <a:avLst>
              <a:gd name="adj" fmla="val 68509"/>
            </a:avLst>
          </a:prstGeom>
          <a:solidFill>
            <a:srgbClr val="F8FAFC"/>
          </a:solidFill>
          <a:ln w="12700">
            <a:solidFill>
              <a:srgbClr val="F1F5F9"/>
            </a:solidFill>
            <a:prstDash val="solid"/>
          </a:ln>
        </p:spPr>
      </p:sp>
      <p:sp>
        <p:nvSpPr>
          <p:cNvPr id="106" name="Shape 75"/>
          <p:cNvSpPr/>
          <p:nvPr/>
        </p:nvSpPr>
        <p:spPr>
          <a:xfrm>
            <a:off x="9896551" y="5458054"/>
            <a:ext cx="267005" cy="267005"/>
          </a:xfrm>
          <a:prstGeom prst="roundRect">
            <a:avLst>
              <a:gd name="adj" fmla="val 146771"/>
            </a:avLst>
          </a:prstGeom>
          <a:solidFill>
            <a:srgbClr val="EEF2FF"/>
          </a:solidFill>
          <a:ln w="12700">
            <a:solidFill>
              <a:srgbClr val="FFFFFF">
                <a:alpha val="0"/>
              </a:srgbClr>
            </a:solidFill>
            <a:prstDash val="solid"/>
          </a:ln>
        </p:spPr>
      </p:sp>
      <p:sp>
        <p:nvSpPr>
          <p:cNvPr id="107" name="Text 76"/>
          <p:cNvSpPr txBox="1"/>
          <p:nvPr/>
        </p:nvSpPr>
        <p:spPr>
          <a:xfrm>
            <a:off x="10258654" y="5458054"/>
            <a:ext cx="866851" cy="152705"/>
          </a:xfrm>
          <a:prstGeom prst="rect">
            <a:avLst/>
          </a:prstGeom>
          <a:noFill/>
          <a:ln/>
        </p:spPr>
        <p:txBody>
          <a:bodyPr wrap="square" lIns="0" tIns="0" rIns="0" bIns="0" rtlCol="0" anchor="ctr"/>
          <a:lstStyle/>
          <a:p>
            <a:pPr algn="l" indent="0" marL="0">
              <a:buNone/>
            </a:pPr>
            <a:r>
              <a:rPr lang="en-US" sz="900" b="1" dirty="0">
                <a:solidFill>
                  <a:srgbClr val="334155"/>
                </a:solidFill>
                <a:latin typeface="Inter" pitchFamily="34" charset="0"/>
                <a:ea typeface="Inter" pitchFamily="34" charset="-122"/>
                <a:cs typeface="Inter" pitchFamily="34" charset="-120"/>
              </a:rPr>
              <a:t>Resilience</a:t>
            </a:r>
            <a:endParaRPr lang="en-US" sz="900" dirty="0"/>
          </a:p>
        </p:txBody>
      </p:sp>
      <p:sp>
        <p:nvSpPr>
          <p:cNvPr id="108" name="Text 77"/>
          <p:cNvSpPr txBox="1"/>
          <p:nvPr/>
        </p:nvSpPr>
        <p:spPr>
          <a:xfrm>
            <a:off x="10258654" y="5629046"/>
            <a:ext cx="916229" cy="133502"/>
          </a:xfrm>
          <a:prstGeom prst="rect">
            <a:avLst/>
          </a:prstGeom>
          <a:noFill/>
          <a:ln/>
        </p:spPr>
        <p:txBody>
          <a:bodyPr wrap="square" lIns="0" tIns="0" rIns="0" bIns="0" rtlCol="0" anchor="ctr"/>
          <a:lstStyle/>
          <a:p>
            <a:pPr algn="l" indent="0" marL="0">
              <a:buNone/>
            </a:pPr>
            <a:r>
              <a:rPr lang="en-US" sz="800" dirty="0">
                <a:solidFill>
                  <a:srgbClr val="64748B"/>
                </a:solidFill>
                <a:latin typeface="Inter" pitchFamily="34" charset="0"/>
                <a:ea typeface="Inter" pitchFamily="34" charset="-122"/>
                <a:cs typeface="Inter" pitchFamily="34" charset="-120"/>
              </a:rPr>
              <a:t>Works offline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5" name="Shape 3"/>
          <p:cNvSpPr/>
          <p:nvPr/>
        </p:nvSpPr>
        <p:spPr>
          <a:xfrm>
            <a:off x="571500" y="2572207"/>
            <a:ext cx="5381244" cy="1638605"/>
          </a:xfrm>
          <a:prstGeom prst="roundRect">
            <a:avLst>
              <a:gd name="adj" fmla="val 778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6" name="Shape 4"/>
          <p:cNvSpPr/>
          <p:nvPr/>
        </p:nvSpPr>
        <p:spPr>
          <a:xfrm>
            <a:off x="571500" y="2572207"/>
            <a:ext cx="38405" cy="1638605"/>
          </a:xfrm>
          <a:prstGeom prst="roundRect">
            <a:avLst>
              <a:gd name="adj" fmla="val 332224"/>
            </a:avLst>
          </a:prstGeom>
          <a:solidFill>
            <a:srgbClr val="4F46E5"/>
          </a:solidFill>
          <a:ln w="12700">
            <a:solidFill>
              <a:srgbClr val="4F46E5">
                <a:alpha val="0"/>
              </a:srgbClr>
            </a:solidFill>
            <a:prstDash val="solid"/>
          </a:ln>
        </p:spPr>
      </p:sp>
      <p:sp>
        <p:nvSpPr>
          <p:cNvPr id="7" name="Shape 5"/>
          <p:cNvSpPr/>
          <p:nvPr/>
        </p:nvSpPr>
        <p:spPr>
          <a:xfrm>
            <a:off x="6286500" y="2572207"/>
            <a:ext cx="5381244" cy="1638605"/>
          </a:xfrm>
          <a:prstGeom prst="roundRect">
            <a:avLst>
              <a:gd name="adj" fmla="val 778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8" name="Shape 6"/>
          <p:cNvSpPr/>
          <p:nvPr/>
        </p:nvSpPr>
        <p:spPr>
          <a:xfrm>
            <a:off x="6286500" y="2572207"/>
            <a:ext cx="38405" cy="1638605"/>
          </a:xfrm>
          <a:prstGeom prst="roundRect">
            <a:avLst>
              <a:gd name="adj" fmla="val 332224"/>
            </a:avLst>
          </a:prstGeom>
          <a:solidFill>
            <a:srgbClr val="059669"/>
          </a:solidFill>
          <a:ln w="12700">
            <a:solidFill>
              <a:srgbClr val="059669">
                <a:alpha val="0"/>
              </a:srgbClr>
            </a:solidFill>
            <a:prstDash val="solid"/>
          </a:ln>
        </p:spPr>
      </p:sp>
      <p:sp>
        <p:nvSpPr>
          <p:cNvPr id="9" name="Shape 7"/>
          <p:cNvSpPr/>
          <p:nvPr/>
        </p:nvSpPr>
        <p:spPr>
          <a:xfrm>
            <a:off x="571500" y="4476902"/>
            <a:ext cx="5381244" cy="1638605"/>
          </a:xfrm>
          <a:prstGeom prst="roundRect">
            <a:avLst>
              <a:gd name="adj" fmla="val 778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10" name="Shape 8"/>
          <p:cNvSpPr/>
          <p:nvPr/>
        </p:nvSpPr>
        <p:spPr>
          <a:xfrm>
            <a:off x="571500" y="4476902"/>
            <a:ext cx="38405" cy="1638605"/>
          </a:xfrm>
          <a:prstGeom prst="roundRect">
            <a:avLst>
              <a:gd name="adj" fmla="val 332224"/>
            </a:avLst>
          </a:prstGeom>
          <a:solidFill>
            <a:srgbClr val="EAB308"/>
          </a:solidFill>
          <a:ln w="12700">
            <a:solidFill>
              <a:srgbClr val="EAB308">
                <a:alpha val="0"/>
              </a:srgbClr>
            </a:solidFill>
            <a:prstDash val="solid"/>
          </a:ln>
        </p:spPr>
      </p:sp>
      <p:sp>
        <p:nvSpPr>
          <p:cNvPr id="11" name="Shape 9"/>
          <p:cNvSpPr/>
          <p:nvPr/>
        </p:nvSpPr>
        <p:spPr>
          <a:xfrm>
            <a:off x="6286500" y="4476902"/>
            <a:ext cx="5381244" cy="1638605"/>
          </a:xfrm>
          <a:prstGeom prst="roundRect">
            <a:avLst>
              <a:gd name="adj" fmla="val 778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12" name="Shape 10"/>
          <p:cNvSpPr/>
          <p:nvPr/>
        </p:nvSpPr>
        <p:spPr>
          <a:xfrm>
            <a:off x="6286500" y="4476902"/>
            <a:ext cx="38405" cy="1638605"/>
          </a:xfrm>
          <a:prstGeom prst="roundRect">
            <a:avLst>
              <a:gd name="adj" fmla="val 332224"/>
            </a:avLst>
          </a:prstGeom>
          <a:solidFill>
            <a:srgbClr val="DB2777"/>
          </a:solidFill>
          <a:ln w="12700">
            <a:solidFill>
              <a:srgbClr val="DB2777">
                <a:alpha val="0"/>
              </a:srgbClr>
            </a:solidFill>
            <a:prstDash val="solid"/>
          </a:ln>
        </p:spPr>
      </p:sp>
      <p:sp>
        <p:nvSpPr>
          <p:cNvPr id="13" name="Shape 11"/>
          <p:cNvSpPr/>
          <p:nvPr/>
        </p:nvSpPr>
        <p:spPr>
          <a:xfrm>
            <a:off x="571500" y="409651"/>
            <a:ext cx="418795" cy="418795"/>
          </a:xfrm>
          <a:prstGeom prst="roundRect">
            <a:avLst>
              <a:gd name="adj" fmla="val 119095"/>
            </a:avLst>
          </a:prstGeom>
          <a:solidFill>
            <a:srgbClr val="6366F1"/>
          </a:solidFill>
          <a:ln w="12700">
            <a:solidFill>
              <a:srgbClr val="FFFFFF">
                <a:alpha val="0"/>
              </a:srgbClr>
            </a:solidFill>
            <a:prstDash val="solid"/>
          </a:ln>
        </p:spPr>
      </p:sp>
      <p:pic>
        <p:nvPicPr>
          <p:cNvPr id="14" name="Image 0" descr="preencoded.png">    </p:cNvPr>
          <p:cNvPicPr>
            <a:picLocks noChangeAspect="1"/>
          </p:cNvPicPr>
          <p:nvPr/>
        </p:nvPicPr>
        <p:blipFill>
          <a:blip r:embed="rId1"/>
          <a:srcRect l="0" r="0" t="-14689" b="-14689"/>
          <a:stretch/>
        </p:blipFill>
        <p:spPr>
          <a:xfrm>
            <a:off x="700430" y="514807"/>
            <a:ext cx="161849" cy="209398"/>
          </a:xfrm>
          <a:prstGeom prst="rect">
            <a:avLst/>
          </a:prstGeom>
        </p:spPr>
      </p:pic>
      <p:sp>
        <p:nvSpPr>
          <p:cNvPr id="15" name="Text 12"/>
          <p:cNvSpPr txBox="1"/>
          <p:nvPr/>
        </p:nvSpPr>
        <p:spPr>
          <a:xfrm>
            <a:off x="1143000" y="47183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16" name="Shape 13"/>
          <p:cNvSpPr/>
          <p:nvPr/>
        </p:nvSpPr>
        <p:spPr>
          <a:xfrm>
            <a:off x="9222638" y="424282"/>
            <a:ext cx="2400300" cy="390449"/>
          </a:xfrm>
          <a:prstGeom prst="roundRect">
            <a:avLst>
              <a:gd name="adj" fmla="val 234192"/>
            </a:avLst>
          </a:prstGeom>
          <a:solidFill>
            <a:srgbClr val="EEF2FF"/>
          </a:solidFill>
          <a:ln w="12700">
            <a:solidFill>
              <a:srgbClr val="E0E7FF"/>
            </a:solidFill>
            <a:prstDash val="solid"/>
          </a:ln>
        </p:spPr>
      </p:sp>
      <p:pic>
        <p:nvPicPr>
          <p:cNvPr id="17" name="Image 1" descr="preencoded.png">    </p:cNvPr>
          <p:cNvPicPr>
            <a:picLocks noChangeAspect="1"/>
          </p:cNvPicPr>
          <p:nvPr/>
        </p:nvPicPr>
        <p:blipFill>
          <a:blip r:embed="rId2"/>
          <a:srcRect l="0" r="0" t="-13478" b="-13478"/>
          <a:stretch/>
        </p:blipFill>
        <p:spPr>
          <a:xfrm>
            <a:off x="9422892" y="552298"/>
            <a:ext cx="105156" cy="133502"/>
          </a:xfrm>
          <a:prstGeom prst="rect">
            <a:avLst/>
          </a:prstGeom>
        </p:spPr>
      </p:pic>
      <p:sp>
        <p:nvSpPr>
          <p:cNvPr id="18" name="Text 14"/>
          <p:cNvSpPr txBox="1"/>
          <p:nvPr/>
        </p:nvSpPr>
        <p:spPr>
          <a:xfrm>
            <a:off x="9622231" y="424282"/>
            <a:ext cx="1800454" cy="391363"/>
          </a:xfrm>
          <a:prstGeom prst="rect">
            <a:avLst/>
          </a:prstGeom>
          <a:noFill/>
          <a:ln/>
        </p:spPr>
        <p:txBody>
          <a:bodyPr wrap="square" lIns="0" tIns="0" rIns="0" bIns="0" rtlCol="0" anchor="ctr"/>
          <a:lstStyle/>
          <a:p>
            <a:pPr algn="l" indent="0" marL="0">
              <a:buNone/>
            </a:pPr>
            <a:r>
              <a:rPr lang="en-US" sz="1100" b="1" dirty="0">
                <a:solidFill>
                  <a:srgbClr val="6366F1"/>
                </a:solidFill>
                <a:latin typeface="Inter" pitchFamily="34" charset="0"/>
                <a:ea typeface="Inter" pitchFamily="34" charset="-122"/>
                <a:cs typeface="Inter" pitchFamily="34" charset="-120"/>
              </a:rPr>
              <a:t>Local-First = Privacy-First</a:t>
            </a:r>
            <a:endParaRPr lang="en-US" sz="1100" dirty="0"/>
          </a:p>
        </p:txBody>
      </p:sp>
      <p:sp>
        <p:nvSpPr>
          <p:cNvPr id="19" name="Text 15"/>
          <p:cNvSpPr txBox="1"/>
          <p:nvPr/>
        </p:nvSpPr>
        <p:spPr>
          <a:xfrm>
            <a:off x="571500" y="1543507"/>
            <a:ext cx="11049610" cy="400507"/>
          </a:xfrm>
          <a:prstGeom prst="rect">
            <a:avLst/>
          </a:prstGeom>
          <a:noFill/>
          <a:ln/>
        </p:spPr>
        <p:txBody>
          <a:bodyPr wrap="square" lIns="0" tIns="0" rIns="0" bIns="0" rtlCol="0" anchor="ctr"/>
          <a:lstStyle/>
          <a:p>
            <a:pPr algn="l" indent="0" marL="0">
              <a:buNone/>
            </a:pPr>
            <a:r>
              <a:rPr lang="en-US" sz="3100" b="1" spc="-75" kern="0" dirty="0">
                <a:solidFill>
                  <a:srgbClr val="1E293B"/>
                </a:solidFill>
                <a:latin typeface="Inter" pitchFamily="34" charset="0"/>
                <a:ea typeface="Inter" pitchFamily="34" charset="-122"/>
                <a:cs typeface="Inter" pitchFamily="34" charset="-120"/>
              </a:rPr>
              <a:t>Bedrock Reliability: </a:t>
            </a:r>
            <a:pPr algn="l" indent="0" marL="0">
              <a:buNone/>
            </a:pPr>
            <a:r>
              <a:rPr lang="en-US" sz="3100" b="1" spc="-75" kern="0" dirty="0">
                <a:solidFill>
                  <a:srgbClr val="6366F1"/>
                </a:solidFill>
                <a:latin typeface="Inter" pitchFamily="34" charset="0"/>
                <a:ea typeface="Inter" pitchFamily="34" charset="-122"/>
                <a:cs typeface="Inter" pitchFamily="34" charset="-120"/>
              </a:rPr>
              <a:t>Isolated Environments</a:t>
            </a:r>
            <a:endParaRPr lang="en-US" sz="3100" dirty="0"/>
          </a:p>
        </p:txBody>
      </p:sp>
      <p:sp>
        <p:nvSpPr>
          <p:cNvPr id="20" name="Text 16"/>
          <p:cNvSpPr txBox="1"/>
          <p:nvPr/>
        </p:nvSpPr>
        <p:spPr>
          <a:xfrm>
            <a:off x="571500" y="2038198"/>
            <a:ext cx="8306410" cy="257861"/>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Best practices and engineering checklists for stable, reproducible local GenAI deployments.</a:t>
            </a:r>
            <a:endParaRPr lang="en-US" sz="1300" dirty="0"/>
          </a:p>
        </p:txBody>
      </p:sp>
      <p:sp>
        <p:nvSpPr>
          <p:cNvPr id="21" name="Shape 17"/>
          <p:cNvSpPr/>
          <p:nvPr/>
        </p:nvSpPr>
        <p:spPr>
          <a:xfrm>
            <a:off x="571500" y="1143000"/>
            <a:ext cx="1990649" cy="286207"/>
          </a:xfrm>
          <a:prstGeom prst="roundRect">
            <a:avLst>
              <a:gd name="adj" fmla="val 170394"/>
            </a:avLst>
          </a:prstGeom>
          <a:solidFill>
            <a:srgbClr val="EEF2FF"/>
          </a:solidFill>
          <a:ln w="12700">
            <a:solidFill>
              <a:srgbClr val="E0E7FF"/>
            </a:solidFill>
            <a:prstDash val="solid"/>
          </a:ln>
        </p:spPr>
      </p:sp>
      <p:sp>
        <p:nvSpPr>
          <p:cNvPr id="22" name="Text 18"/>
          <p:cNvSpPr txBox="1"/>
          <p:nvPr/>
        </p:nvSpPr>
        <p:spPr>
          <a:xfrm>
            <a:off x="571500" y="1143000"/>
            <a:ext cx="1991563"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4F46E5"/>
                </a:solidFill>
                <a:latin typeface="Inter" pitchFamily="34" charset="0"/>
                <a:ea typeface="Inter" pitchFamily="34" charset="-122"/>
                <a:cs typeface="Inter" pitchFamily="34" charset="-120"/>
              </a:rPr>
              <a:t>Engineering Principles</a:t>
            </a:r>
            <a:endParaRPr lang="en-US" sz="900" dirty="0"/>
          </a:p>
        </p:txBody>
      </p:sp>
      <p:sp>
        <p:nvSpPr>
          <p:cNvPr id="23" name="Shape 19"/>
          <p:cNvSpPr/>
          <p:nvPr/>
        </p:nvSpPr>
        <p:spPr>
          <a:xfrm>
            <a:off x="800100" y="2800807"/>
            <a:ext cx="457200" cy="457200"/>
          </a:xfrm>
          <a:prstGeom prst="roundRect">
            <a:avLst>
              <a:gd name="adj" fmla="val 83333"/>
            </a:avLst>
          </a:prstGeom>
          <a:solidFill>
            <a:srgbClr val="EEF2FF"/>
          </a:solidFill>
          <a:ln w="12700">
            <a:solidFill>
              <a:srgbClr val="FFFFFF">
                <a:alpha val="0"/>
              </a:srgbClr>
            </a:solidFill>
            <a:prstDash val="solid"/>
          </a:ln>
        </p:spPr>
      </p:sp>
      <p:pic>
        <p:nvPicPr>
          <p:cNvPr id="24" name="Image 2" descr="preencoded.png">    </p:cNvPr>
          <p:cNvPicPr>
            <a:picLocks noChangeAspect="1"/>
          </p:cNvPicPr>
          <p:nvPr/>
        </p:nvPicPr>
        <p:blipFill>
          <a:blip r:embed="rId3"/>
          <a:srcRect l="0" r="0" t="-4491" b="-4491"/>
          <a:stretch/>
        </p:blipFill>
        <p:spPr>
          <a:xfrm>
            <a:off x="952805" y="2933395"/>
            <a:ext cx="152705" cy="190195"/>
          </a:xfrm>
          <a:prstGeom prst="rect">
            <a:avLst/>
          </a:prstGeom>
        </p:spPr>
      </p:pic>
      <p:sp>
        <p:nvSpPr>
          <p:cNvPr id="25" name="Text 20"/>
          <p:cNvSpPr txBox="1"/>
          <p:nvPr/>
        </p:nvSpPr>
        <p:spPr>
          <a:xfrm>
            <a:off x="1447495" y="2800807"/>
            <a:ext cx="4191610" cy="228600"/>
          </a:xfrm>
          <a:prstGeom prst="rect">
            <a:avLst/>
          </a:prstGeom>
          <a:noFill/>
          <a:ln/>
        </p:spPr>
        <p:txBody>
          <a:bodyPr wrap="square" lIns="0" tIns="0" rIns="0" bIns="0" rtlCol="0" anchor="ctr"/>
          <a:lstStyle/>
          <a:p>
            <a:pPr algn="l" indent="0" marL="0">
              <a:buNone/>
            </a:pPr>
            <a:r>
              <a:rPr lang="en-US" sz="1500" b="1" dirty="0">
                <a:solidFill>
                  <a:srgbClr val="1E293B"/>
                </a:solidFill>
                <a:latin typeface="Inter" pitchFamily="34" charset="0"/>
                <a:ea typeface="Inter" pitchFamily="34" charset="-122"/>
                <a:cs typeface="Inter" pitchFamily="34" charset="-120"/>
              </a:rPr>
              <a:t>Create Virtual Environments</a:t>
            </a:r>
            <a:endParaRPr lang="en-US" sz="1500" dirty="0"/>
          </a:p>
        </p:txBody>
      </p:sp>
      <p:sp>
        <p:nvSpPr>
          <p:cNvPr id="26" name="Text 21"/>
          <p:cNvSpPr txBox="1"/>
          <p:nvPr/>
        </p:nvSpPr>
        <p:spPr>
          <a:xfrm>
            <a:off x="1447495" y="3105302"/>
            <a:ext cx="4191610" cy="600761"/>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Never install AI frameworks into the global Python environment. Always instantiate a dedicated virtual environment (e.g., </a:t>
            </a:r>
            <a:pPr algn="l" indent="0" marL="0">
              <a:buNone/>
            </a:pPr>
            <a:r>
              <a:rPr lang="en-US" sz="900" dirty="0">
                <a:solidFill>
                  <a:srgbClr val="475569"/>
                </a:solidFill>
                <a:latin typeface="Courier New" pitchFamily="34" charset="0"/>
                <a:ea typeface="Courier New" pitchFamily="34" charset="-122"/>
                <a:cs typeface="Courier New" pitchFamily="34" charset="-120"/>
              </a:rPr>
              <a:t>.venv</a:t>
            </a:r>
            <a:pPr algn="l" indent="0" marL="0">
              <a:buNone/>
            </a:pPr>
            <a:r>
              <a:rPr lang="en-US" sz="1000" dirty="0">
                <a:solidFill>
                  <a:srgbClr val="475569"/>
                </a:solidFill>
                <a:latin typeface="Inter" pitchFamily="34" charset="0"/>
                <a:ea typeface="Inter" pitchFamily="34" charset="-122"/>
                <a:cs typeface="Inter" pitchFamily="34" charset="-120"/>
              </a:rPr>
              <a:t>) to prevent dependency conflicts between projects.</a:t>
            </a:r>
            <a:endParaRPr lang="en-US" sz="1000" dirty="0"/>
          </a:p>
        </p:txBody>
      </p:sp>
      <p:sp>
        <p:nvSpPr>
          <p:cNvPr id="27" name="Shape 22"/>
          <p:cNvSpPr/>
          <p:nvPr/>
        </p:nvSpPr>
        <p:spPr>
          <a:xfrm>
            <a:off x="6515100" y="2800807"/>
            <a:ext cx="457200" cy="457200"/>
          </a:xfrm>
          <a:prstGeom prst="roundRect">
            <a:avLst>
              <a:gd name="adj" fmla="val 83333"/>
            </a:avLst>
          </a:prstGeom>
          <a:solidFill>
            <a:srgbClr val="ECFDF5"/>
          </a:solidFill>
          <a:ln w="12700">
            <a:solidFill>
              <a:srgbClr val="FFFFFF">
                <a:alpha val="0"/>
              </a:srgbClr>
            </a:solidFill>
            <a:prstDash val="solid"/>
          </a:ln>
        </p:spPr>
      </p:sp>
      <p:pic>
        <p:nvPicPr>
          <p:cNvPr id="28" name="Image 3" descr="preencoded.png">    </p:cNvPr>
          <p:cNvPicPr>
            <a:picLocks noChangeAspect="1"/>
          </p:cNvPicPr>
          <p:nvPr/>
        </p:nvPicPr>
        <p:blipFill>
          <a:blip r:embed="rId4"/>
          <a:srcRect l="-3526" r="-3526" t="0" b="0"/>
          <a:stretch/>
        </p:blipFill>
        <p:spPr>
          <a:xfrm>
            <a:off x="6667805" y="2933395"/>
            <a:ext cx="152705" cy="190195"/>
          </a:xfrm>
          <a:prstGeom prst="rect">
            <a:avLst/>
          </a:prstGeom>
        </p:spPr>
      </p:pic>
      <p:sp>
        <p:nvSpPr>
          <p:cNvPr id="29" name="Text 23"/>
          <p:cNvSpPr txBox="1"/>
          <p:nvPr/>
        </p:nvSpPr>
        <p:spPr>
          <a:xfrm>
            <a:off x="7162495" y="2800807"/>
            <a:ext cx="4191610" cy="228600"/>
          </a:xfrm>
          <a:prstGeom prst="rect">
            <a:avLst/>
          </a:prstGeom>
          <a:noFill/>
          <a:ln/>
        </p:spPr>
        <p:txBody>
          <a:bodyPr wrap="square" lIns="0" tIns="0" rIns="0" bIns="0" rtlCol="0" anchor="ctr"/>
          <a:lstStyle/>
          <a:p>
            <a:pPr algn="l" indent="0" marL="0">
              <a:buNone/>
            </a:pPr>
            <a:r>
              <a:rPr lang="en-US" sz="1500" b="1" dirty="0">
                <a:solidFill>
                  <a:srgbClr val="1E293B"/>
                </a:solidFill>
                <a:latin typeface="Inter" pitchFamily="34" charset="0"/>
                <a:ea typeface="Inter" pitchFamily="34" charset="-122"/>
                <a:cs typeface="Inter" pitchFamily="34" charset="-120"/>
              </a:rPr>
              <a:t>Pin All Dependencies</a:t>
            </a:r>
            <a:endParaRPr lang="en-US" sz="1500" dirty="0"/>
          </a:p>
        </p:txBody>
      </p:sp>
      <p:sp>
        <p:nvSpPr>
          <p:cNvPr id="30" name="Text 24"/>
          <p:cNvSpPr txBox="1"/>
          <p:nvPr/>
        </p:nvSpPr>
        <p:spPr>
          <a:xfrm>
            <a:off x="7162495" y="3105302"/>
            <a:ext cx="4191610" cy="600761"/>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Use a strict </a:t>
            </a:r>
            <a:pPr algn="l" indent="0" marL="0">
              <a:buNone/>
            </a:pPr>
            <a:r>
              <a:rPr lang="en-US" sz="900" dirty="0">
                <a:solidFill>
                  <a:srgbClr val="475569"/>
                </a:solidFill>
                <a:latin typeface="Courier New" pitchFamily="34" charset="0"/>
                <a:ea typeface="Courier New" pitchFamily="34" charset="-122"/>
                <a:cs typeface="Courier New" pitchFamily="34" charset="-120"/>
              </a:rPr>
              <a:t>requirements.txt</a:t>
            </a:r>
            <a:pPr algn="l" indent="0" marL="0">
              <a:buNone/>
            </a:pPr>
            <a:r>
              <a:rPr lang="en-US" sz="1000" dirty="0">
                <a:solidFill>
                  <a:srgbClr val="475569"/>
                </a:solidFill>
                <a:latin typeface="Inter" pitchFamily="34" charset="0"/>
                <a:ea typeface="Inter" pitchFamily="34" charset="-122"/>
                <a:cs typeface="Inter" pitchFamily="34" charset="-120"/>
              </a:rPr>
              <a:t> to lock specific package versions. Unpinned dependencies in fast-moving libraries like LangChain will inevitably cause sudden pipeline breakages.</a:t>
            </a:r>
            <a:endParaRPr lang="en-US" sz="1000" dirty="0"/>
          </a:p>
        </p:txBody>
      </p:sp>
      <p:sp>
        <p:nvSpPr>
          <p:cNvPr id="31" name="Shape 25"/>
          <p:cNvSpPr/>
          <p:nvPr/>
        </p:nvSpPr>
        <p:spPr>
          <a:xfrm>
            <a:off x="800100" y="4705502"/>
            <a:ext cx="457200" cy="457200"/>
          </a:xfrm>
          <a:prstGeom prst="roundRect">
            <a:avLst>
              <a:gd name="adj" fmla="val 83333"/>
            </a:avLst>
          </a:prstGeom>
          <a:solidFill>
            <a:srgbClr val="FEFCE8"/>
          </a:solidFill>
          <a:ln w="12700">
            <a:solidFill>
              <a:srgbClr val="FFFFFF">
                <a:alpha val="0"/>
              </a:srgbClr>
            </a:solidFill>
            <a:prstDash val="solid"/>
          </a:ln>
        </p:spPr>
      </p:sp>
      <p:pic>
        <p:nvPicPr>
          <p:cNvPr id="32" name="Image 4" descr="preencoded.png">    </p:cNvPr>
          <p:cNvPicPr>
            <a:picLocks noChangeAspect="1"/>
          </p:cNvPicPr>
          <p:nvPr/>
        </p:nvPicPr>
        <p:blipFill>
          <a:blip r:embed="rId5"/>
          <a:srcRect l="0" r="0" t="-20060" b="-20060"/>
          <a:stretch/>
        </p:blipFill>
        <p:spPr>
          <a:xfrm>
            <a:off x="952805" y="4839005"/>
            <a:ext cx="152705" cy="190195"/>
          </a:xfrm>
          <a:prstGeom prst="rect">
            <a:avLst/>
          </a:prstGeom>
        </p:spPr>
      </p:pic>
      <p:sp>
        <p:nvSpPr>
          <p:cNvPr id="33" name="Text 26"/>
          <p:cNvSpPr txBox="1"/>
          <p:nvPr/>
        </p:nvSpPr>
        <p:spPr>
          <a:xfrm>
            <a:off x="1447495" y="4705502"/>
            <a:ext cx="4191610" cy="228600"/>
          </a:xfrm>
          <a:prstGeom prst="rect">
            <a:avLst/>
          </a:prstGeom>
          <a:noFill/>
          <a:ln/>
        </p:spPr>
        <p:txBody>
          <a:bodyPr wrap="square" lIns="0" tIns="0" rIns="0" bIns="0" rtlCol="0" anchor="ctr"/>
          <a:lstStyle/>
          <a:p>
            <a:pPr algn="l" indent="0" marL="0">
              <a:buNone/>
            </a:pPr>
            <a:r>
              <a:rPr lang="en-US" sz="1500" b="1" dirty="0">
                <a:solidFill>
                  <a:srgbClr val="1E293B"/>
                </a:solidFill>
                <a:latin typeface="Inter" pitchFamily="34" charset="0"/>
                <a:ea typeface="Inter" pitchFamily="34" charset="-122"/>
                <a:cs typeface="Inter" pitchFamily="34" charset="-120"/>
              </a:rPr>
              <a:t>Separate System Concerns</a:t>
            </a:r>
            <a:endParaRPr lang="en-US" sz="1500" dirty="0"/>
          </a:p>
        </p:txBody>
      </p:sp>
      <p:sp>
        <p:nvSpPr>
          <p:cNvPr id="34" name="Text 27"/>
          <p:cNvSpPr txBox="1"/>
          <p:nvPr/>
        </p:nvSpPr>
        <p:spPr>
          <a:xfrm>
            <a:off x="1447495" y="5009998"/>
            <a:ext cx="4191610" cy="600761"/>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Decouple orchestration and model runtime logic from the UI presentation layer. Keeping domains bounded makes testing easier and prevents UI updates from breaking agent behavior.</a:t>
            </a:r>
            <a:endParaRPr lang="en-US" sz="1000" dirty="0"/>
          </a:p>
        </p:txBody>
      </p:sp>
      <p:sp>
        <p:nvSpPr>
          <p:cNvPr id="35" name="Shape 28"/>
          <p:cNvSpPr/>
          <p:nvPr/>
        </p:nvSpPr>
        <p:spPr>
          <a:xfrm>
            <a:off x="6515100" y="4705502"/>
            <a:ext cx="457200" cy="457200"/>
          </a:xfrm>
          <a:prstGeom prst="roundRect">
            <a:avLst>
              <a:gd name="adj" fmla="val 83333"/>
            </a:avLst>
          </a:prstGeom>
          <a:solidFill>
            <a:srgbClr val="FDF2F8"/>
          </a:solidFill>
          <a:ln w="12700">
            <a:solidFill>
              <a:srgbClr val="FFFFFF">
                <a:alpha val="0"/>
              </a:srgbClr>
            </a:solidFill>
            <a:prstDash val="solid"/>
          </a:ln>
        </p:spPr>
      </p:sp>
      <p:pic>
        <p:nvPicPr>
          <p:cNvPr id="36" name="Image 5" descr="preencoded.png">    </p:cNvPr>
          <p:cNvPicPr>
            <a:picLocks noChangeAspect="1"/>
          </p:cNvPicPr>
          <p:nvPr/>
        </p:nvPicPr>
        <p:blipFill>
          <a:blip r:embed="rId6"/>
          <a:srcRect l="0" r="0" t="-12275" b="-12275"/>
          <a:stretch/>
        </p:blipFill>
        <p:spPr>
          <a:xfrm>
            <a:off x="6667805" y="4839005"/>
            <a:ext cx="152705" cy="190195"/>
          </a:xfrm>
          <a:prstGeom prst="rect">
            <a:avLst/>
          </a:prstGeom>
        </p:spPr>
      </p:pic>
      <p:sp>
        <p:nvSpPr>
          <p:cNvPr id="37" name="Text 29"/>
          <p:cNvSpPr txBox="1"/>
          <p:nvPr/>
        </p:nvSpPr>
        <p:spPr>
          <a:xfrm>
            <a:off x="7162495" y="4705502"/>
            <a:ext cx="4191610" cy="228600"/>
          </a:xfrm>
          <a:prstGeom prst="rect">
            <a:avLst/>
          </a:prstGeom>
          <a:noFill/>
          <a:ln/>
        </p:spPr>
        <p:txBody>
          <a:bodyPr wrap="square" lIns="0" tIns="0" rIns="0" bIns="0" rtlCol="0" anchor="ctr"/>
          <a:lstStyle/>
          <a:p>
            <a:pPr algn="l" indent="0" marL="0">
              <a:buNone/>
            </a:pPr>
            <a:r>
              <a:rPr lang="en-US" sz="1500" b="1" dirty="0">
                <a:solidFill>
                  <a:srgbClr val="1E293B"/>
                </a:solidFill>
                <a:latin typeface="Inter" pitchFamily="34" charset="0"/>
                <a:ea typeface="Inter" pitchFamily="34" charset="-122"/>
                <a:cs typeface="Inter" pitchFamily="34" charset="-120"/>
              </a:rPr>
              <a:t>Keep Launcher Minimal</a:t>
            </a:r>
            <a:endParaRPr lang="en-US" sz="1500" dirty="0"/>
          </a:p>
        </p:txBody>
      </p:sp>
      <p:sp>
        <p:nvSpPr>
          <p:cNvPr id="38" name="Text 30"/>
          <p:cNvSpPr txBox="1"/>
          <p:nvPr/>
        </p:nvSpPr>
        <p:spPr>
          <a:xfrm>
            <a:off x="7162495" y="5009998"/>
            <a:ext cx="4191610" cy="600761"/>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The entry point script (</a:t>
            </a:r>
            <a:pPr algn="l" indent="0" marL="0">
              <a:buNone/>
            </a:pPr>
            <a:r>
              <a:rPr lang="en-US" sz="900" dirty="0">
                <a:solidFill>
                  <a:srgbClr val="475569"/>
                </a:solidFill>
                <a:latin typeface="Courier New" pitchFamily="34" charset="0"/>
                <a:ea typeface="Courier New" pitchFamily="34" charset="-122"/>
                <a:cs typeface="Courier New" pitchFamily="34" charset="-120"/>
              </a:rPr>
              <a:t>run_all.py</a:t>
            </a:r>
            <a:pPr algn="l" indent="0" marL="0">
              <a:buNone/>
            </a:pPr>
            <a:r>
              <a:rPr lang="en-US" sz="1000" dirty="0">
                <a:solidFill>
                  <a:srgbClr val="475569"/>
                </a:solidFill>
                <a:latin typeface="Inter" pitchFamily="34" charset="0"/>
                <a:ea typeface="Inter" pitchFamily="34" charset="-122"/>
                <a:cs typeface="Inter" pitchFamily="34" charset="-120"/>
              </a:rPr>
              <a:t>) should only handle preflight checks and bootstrap commands. Push all complex logic and state management into modular, isolated files.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5" name="Shape 3"/>
          <p:cNvSpPr/>
          <p:nvPr/>
        </p:nvSpPr>
        <p:spPr>
          <a:xfrm>
            <a:off x="571500" y="2762402"/>
            <a:ext cx="5352898" cy="2523744"/>
          </a:xfrm>
          <a:prstGeom prst="roundRect">
            <a:avLst>
              <a:gd name="adj" fmla="val 3281"/>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6" name="Shape 4"/>
          <p:cNvSpPr/>
          <p:nvPr/>
        </p:nvSpPr>
        <p:spPr>
          <a:xfrm>
            <a:off x="571500" y="2762402"/>
            <a:ext cx="5352898" cy="38405"/>
          </a:xfrm>
          <a:prstGeom prst="roundRect">
            <a:avLst>
              <a:gd name="adj" fmla="val 215632"/>
            </a:avLst>
          </a:prstGeom>
          <a:solidFill>
            <a:srgbClr val="3B82F6"/>
          </a:solidFill>
          <a:ln w="12700">
            <a:solidFill>
              <a:srgbClr val="3B82F6">
                <a:alpha val="0"/>
              </a:srgbClr>
            </a:solidFill>
            <a:prstDash val="solid"/>
          </a:ln>
        </p:spPr>
      </p:sp>
      <p:sp>
        <p:nvSpPr>
          <p:cNvPr id="7" name="Shape 5"/>
          <p:cNvSpPr/>
          <p:nvPr/>
        </p:nvSpPr>
        <p:spPr>
          <a:xfrm>
            <a:off x="6286500" y="2762402"/>
            <a:ext cx="5352898" cy="2523744"/>
          </a:xfrm>
          <a:prstGeom prst="roundRect">
            <a:avLst>
              <a:gd name="adj" fmla="val 3281"/>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8" name="Shape 6"/>
          <p:cNvSpPr/>
          <p:nvPr/>
        </p:nvSpPr>
        <p:spPr>
          <a:xfrm>
            <a:off x="6286500" y="2762402"/>
            <a:ext cx="5352898" cy="38405"/>
          </a:xfrm>
          <a:prstGeom prst="roundRect">
            <a:avLst>
              <a:gd name="adj" fmla="val 215632"/>
            </a:avLst>
          </a:prstGeom>
          <a:solidFill>
            <a:srgbClr val="8B5CF6"/>
          </a:solidFill>
          <a:ln w="12700">
            <a:solidFill>
              <a:srgbClr val="8B5CF6">
                <a:alpha val="0"/>
              </a:srgbClr>
            </a:solidFill>
            <a:prstDash val="solid"/>
          </a:ln>
        </p:spPr>
      </p:sp>
      <p:sp>
        <p:nvSpPr>
          <p:cNvPr id="9" name="Shape 7"/>
          <p:cNvSpPr/>
          <p:nvPr/>
        </p:nvSpPr>
        <p:spPr>
          <a:xfrm>
            <a:off x="571500" y="5715000"/>
            <a:ext cx="11067898" cy="780898"/>
          </a:xfrm>
          <a:prstGeom prst="roundRect">
            <a:avLst>
              <a:gd name="adj" fmla="val 34272"/>
            </a:avLst>
          </a:prstGeom>
          <a:solidFill>
            <a:srgbClr val="6366F1">
              <a:alpha val="4000"/>
            </a:srgbClr>
          </a:solidFill>
          <a:ln w="12700">
            <a:solidFill>
              <a:srgbClr val="6366F1">
                <a:alpha val="15000"/>
              </a:srgbClr>
            </a:solidFill>
            <a:prstDash val="solid"/>
          </a:ln>
        </p:spPr>
      </p:sp>
      <p:sp>
        <p:nvSpPr>
          <p:cNvPr id="10" name="Shape 8"/>
          <p:cNvSpPr/>
          <p:nvPr/>
        </p:nvSpPr>
        <p:spPr>
          <a:xfrm>
            <a:off x="571500" y="409651"/>
            <a:ext cx="418795" cy="418795"/>
          </a:xfrm>
          <a:prstGeom prst="roundRect">
            <a:avLst>
              <a:gd name="adj" fmla="val 119095"/>
            </a:avLst>
          </a:prstGeom>
          <a:solidFill>
            <a:srgbClr val="6366F1"/>
          </a:solidFill>
          <a:ln w="12700">
            <a:solidFill>
              <a:srgbClr val="FFFFFF">
                <a:alpha val="0"/>
              </a:srgbClr>
            </a:solidFill>
            <a:prstDash val="solid"/>
          </a:ln>
        </p:spPr>
      </p:sp>
      <p:pic>
        <p:nvPicPr>
          <p:cNvPr id="11" name="Image 0" descr="preencoded.png">    </p:cNvPr>
          <p:cNvPicPr>
            <a:picLocks noChangeAspect="1"/>
          </p:cNvPicPr>
          <p:nvPr/>
        </p:nvPicPr>
        <p:blipFill>
          <a:blip r:embed="rId1"/>
          <a:srcRect l="0" r="0" t="-14689" b="-14689"/>
          <a:stretch/>
        </p:blipFill>
        <p:spPr>
          <a:xfrm>
            <a:off x="700430" y="514807"/>
            <a:ext cx="161849" cy="209398"/>
          </a:xfrm>
          <a:prstGeom prst="rect">
            <a:avLst/>
          </a:prstGeom>
        </p:spPr>
      </p:pic>
      <p:sp>
        <p:nvSpPr>
          <p:cNvPr id="12" name="Text 9"/>
          <p:cNvSpPr txBox="1"/>
          <p:nvPr/>
        </p:nvSpPr>
        <p:spPr>
          <a:xfrm>
            <a:off x="1143000" y="47183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13" name="Shape 10"/>
          <p:cNvSpPr/>
          <p:nvPr/>
        </p:nvSpPr>
        <p:spPr>
          <a:xfrm>
            <a:off x="9243670" y="424282"/>
            <a:ext cx="2381098" cy="390449"/>
          </a:xfrm>
          <a:prstGeom prst="roundRect">
            <a:avLst>
              <a:gd name="adj" fmla="val 234192"/>
            </a:avLst>
          </a:prstGeom>
          <a:solidFill>
            <a:srgbClr val="6366F1">
              <a:alpha val="8000"/>
            </a:srgbClr>
          </a:solidFill>
          <a:ln w="12700">
            <a:solidFill>
              <a:srgbClr val="6366F1">
                <a:alpha val="15000"/>
              </a:srgbClr>
            </a:solidFill>
            <a:prstDash val="solid"/>
          </a:ln>
        </p:spPr>
      </p:sp>
      <p:pic>
        <p:nvPicPr>
          <p:cNvPr id="14" name="Image 1" descr="preencoded.png">    </p:cNvPr>
          <p:cNvPicPr>
            <a:picLocks noChangeAspect="1"/>
          </p:cNvPicPr>
          <p:nvPr/>
        </p:nvPicPr>
        <p:blipFill>
          <a:blip r:embed="rId2"/>
          <a:srcRect l="0" r="0" t="-13478" b="-13478"/>
          <a:stretch/>
        </p:blipFill>
        <p:spPr>
          <a:xfrm>
            <a:off x="9443923" y="552298"/>
            <a:ext cx="105156" cy="133502"/>
          </a:xfrm>
          <a:prstGeom prst="rect">
            <a:avLst/>
          </a:prstGeom>
        </p:spPr>
      </p:pic>
      <p:sp>
        <p:nvSpPr>
          <p:cNvPr id="15" name="Text 11"/>
          <p:cNvSpPr txBox="1"/>
          <p:nvPr/>
        </p:nvSpPr>
        <p:spPr>
          <a:xfrm>
            <a:off x="9644177" y="424282"/>
            <a:ext cx="1781251" cy="391363"/>
          </a:xfrm>
          <a:prstGeom prst="rect">
            <a:avLst/>
          </a:prstGeom>
          <a:noFill/>
          <a:ln/>
        </p:spPr>
        <p:txBody>
          <a:bodyPr wrap="square" lIns="0" tIns="0" rIns="0" bIns="0" rtlCol="0" anchor="ctr"/>
          <a:lstStyle/>
          <a:p>
            <a:pPr algn="l" indent="0" marL="0">
              <a:buNone/>
            </a:pPr>
            <a:r>
              <a:rPr lang="en-US" sz="1100" dirty="0">
                <a:solidFill>
                  <a:srgbClr val="6366F1"/>
                </a:solidFill>
                <a:latin typeface="Inter" pitchFamily="34" charset="0"/>
                <a:ea typeface="Inter" pitchFamily="34" charset="-122"/>
                <a:cs typeface="Inter" pitchFamily="34" charset="-120"/>
              </a:rPr>
              <a:t>Local-First = Privacy-First</a:t>
            </a:r>
            <a:endParaRPr lang="en-US" sz="1100" dirty="0"/>
          </a:p>
        </p:txBody>
      </p:sp>
      <p:sp>
        <p:nvSpPr>
          <p:cNvPr id="16" name="Text 12"/>
          <p:cNvSpPr txBox="1"/>
          <p:nvPr/>
        </p:nvSpPr>
        <p:spPr>
          <a:xfrm>
            <a:off x="571500" y="1543507"/>
            <a:ext cx="11049610" cy="400507"/>
          </a:xfrm>
          <a:prstGeom prst="rect">
            <a:avLst/>
          </a:prstGeom>
          <a:noFill/>
          <a:ln/>
        </p:spPr>
        <p:txBody>
          <a:bodyPr wrap="square" lIns="0" tIns="0" rIns="0" bIns="0" rtlCol="0" anchor="ctr"/>
          <a:lstStyle/>
          <a:p>
            <a:pPr algn="l" indent="0" marL="0">
              <a:buNone/>
            </a:pPr>
            <a:r>
              <a:rPr lang="en-US" sz="3100" b="1" spc="-75" kern="0" dirty="0">
                <a:solidFill>
                  <a:srgbClr val="1E293B"/>
                </a:solidFill>
                <a:latin typeface="Inter" pitchFamily="34" charset="0"/>
                <a:ea typeface="Inter" pitchFamily="34" charset="-122"/>
                <a:cs typeface="Inter" pitchFamily="34" charset="-120"/>
              </a:rPr>
              <a:t>Compute Engine: </a:t>
            </a:r>
            <a:pPr algn="l" indent="0" marL="0">
              <a:buNone/>
            </a:pPr>
            <a:r>
              <a:rPr lang="en-US" sz="3100" b="1" spc="-75" kern="0" dirty="0">
                <a:solidFill>
                  <a:srgbClr val="6366F1"/>
                </a:solidFill>
                <a:latin typeface="Inter" pitchFamily="34" charset="0"/>
                <a:ea typeface="Inter" pitchFamily="34" charset="-122"/>
                <a:cs typeface="Inter" pitchFamily="34" charset="-120"/>
              </a:rPr>
              <a:t>Llama 3.2</a:t>
            </a:r>
            <a:endParaRPr lang="en-US" sz="3100" dirty="0"/>
          </a:p>
        </p:txBody>
      </p:sp>
      <p:sp>
        <p:nvSpPr>
          <p:cNvPr id="17" name="Text 13"/>
          <p:cNvSpPr txBox="1"/>
          <p:nvPr/>
        </p:nvSpPr>
        <p:spPr>
          <a:xfrm>
            <a:off x="571500" y="2038198"/>
            <a:ext cx="8306410" cy="257861"/>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Served locally via Ollama. Select the appropriate model size for your task complexity.</a:t>
            </a:r>
            <a:endParaRPr lang="en-US" sz="1300" dirty="0"/>
          </a:p>
        </p:txBody>
      </p:sp>
      <p:sp>
        <p:nvSpPr>
          <p:cNvPr id="18" name="Shape 14"/>
          <p:cNvSpPr/>
          <p:nvPr/>
        </p:nvSpPr>
        <p:spPr>
          <a:xfrm>
            <a:off x="571500" y="1143000"/>
            <a:ext cx="1752905" cy="286207"/>
          </a:xfrm>
          <a:prstGeom prst="roundRect">
            <a:avLst>
              <a:gd name="adj" fmla="val 170394"/>
            </a:avLst>
          </a:prstGeom>
          <a:solidFill>
            <a:srgbClr val="6366F1">
              <a:alpha val="8000"/>
            </a:srgbClr>
          </a:solidFill>
          <a:ln w="12700">
            <a:solidFill>
              <a:srgbClr val="6366F1">
                <a:alpha val="20000"/>
              </a:srgbClr>
            </a:solidFill>
            <a:prstDash val="solid"/>
          </a:ln>
        </p:spPr>
      </p:sp>
      <p:sp>
        <p:nvSpPr>
          <p:cNvPr id="19" name="Text 15"/>
          <p:cNvSpPr txBox="1"/>
          <p:nvPr/>
        </p:nvSpPr>
        <p:spPr>
          <a:xfrm>
            <a:off x="571500" y="1143000"/>
            <a:ext cx="1752905"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6366F1"/>
                </a:solidFill>
                <a:latin typeface="Inter" pitchFamily="34" charset="0"/>
                <a:ea typeface="Inter" pitchFamily="34" charset="-122"/>
                <a:cs typeface="Inter" pitchFamily="34" charset="-120"/>
              </a:rPr>
              <a:t>Foundation Models</a:t>
            </a:r>
            <a:endParaRPr lang="en-US" sz="900" dirty="0"/>
          </a:p>
        </p:txBody>
      </p:sp>
      <p:sp>
        <p:nvSpPr>
          <p:cNvPr id="20" name="Shape 16"/>
          <p:cNvSpPr/>
          <p:nvPr/>
        </p:nvSpPr>
        <p:spPr>
          <a:xfrm>
            <a:off x="857707" y="3047695"/>
            <a:ext cx="457200" cy="457200"/>
          </a:xfrm>
          <a:prstGeom prst="roundRect">
            <a:avLst>
              <a:gd name="adj" fmla="val 83333"/>
            </a:avLst>
          </a:prstGeom>
          <a:solidFill>
            <a:srgbClr val="3B82F6">
              <a:alpha val="10000"/>
            </a:srgbClr>
          </a:solidFill>
          <a:ln w="12700">
            <a:solidFill>
              <a:srgbClr val="FFFFFF">
                <a:alpha val="0"/>
              </a:srgbClr>
            </a:solidFill>
            <a:prstDash val="solid"/>
          </a:ln>
        </p:spPr>
      </p:sp>
      <p:pic>
        <p:nvPicPr>
          <p:cNvPr id="21" name="Image 2" descr="preencoded.png">    </p:cNvPr>
          <p:cNvPicPr>
            <a:picLocks noChangeAspect="1"/>
          </p:cNvPicPr>
          <p:nvPr/>
        </p:nvPicPr>
        <p:blipFill>
          <a:blip r:embed="rId3"/>
          <a:srcRect l="0" r="0" t="-30861" b="-30861"/>
          <a:stretch/>
        </p:blipFill>
        <p:spPr>
          <a:xfrm>
            <a:off x="1004926" y="3172054"/>
            <a:ext cx="161849" cy="209398"/>
          </a:xfrm>
          <a:prstGeom prst="rect">
            <a:avLst/>
          </a:prstGeom>
        </p:spPr>
      </p:pic>
      <p:sp>
        <p:nvSpPr>
          <p:cNvPr id="22" name="Text 17"/>
          <p:cNvSpPr txBox="1"/>
          <p:nvPr/>
        </p:nvSpPr>
        <p:spPr>
          <a:xfrm>
            <a:off x="1466698" y="3047695"/>
            <a:ext cx="1858975" cy="277063"/>
          </a:xfrm>
          <a:prstGeom prst="rect">
            <a:avLst/>
          </a:prstGeom>
          <a:noFill/>
          <a:ln/>
        </p:spPr>
        <p:txBody>
          <a:bodyPr wrap="square" lIns="0" tIns="0" rIns="0" bIns="0" rtlCol="0" anchor="ctr"/>
          <a:lstStyle/>
          <a:p>
            <a:pPr algn="l" indent="0" marL="0">
              <a:buNone/>
            </a:pPr>
            <a:r>
              <a:rPr lang="en-US" sz="1800" b="1" dirty="0">
                <a:solidFill>
                  <a:srgbClr val="1E293B"/>
                </a:solidFill>
                <a:latin typeface="Inter" pitchFamily="34" charset="0"/>
                <a:ea typeface="Inter" pitchFamily="34" charset="-122"/>
                <a:cs typeface="Inter" pitchFamily="34" charset="-120"/>
              </a:rPr>
              <a:t>Llama 3.2 (1B)</a:t>
            </a:r>
            <a:endParaRPr lang="en-US" sz="1800" dirty="0"/>
          </a:p>
        </p:txBody>
      </p:sp>
      <p:sp>
        <p:nvSpPr>
          <p:cNvPr id="23" name="Shape 18"/>
          <p:cNvSpPr/>
          <p:nvPr/>
        </p:nvSpPr>
        <p:spPr>
          <a:xfrm>
            <a:off x="4851806" y="3066898"/>
            <a:ext cx="714146" cy="237744"/>
          </a:xfrm>
          <a:prstGeom prst="roundRect">
            <a:avLst>
              <a:gd name="adj" fmla="val 184615"/>
            </a:avLst>
          </a:prstGeom>
          <a:solidFill>
            <a:srgbClr val="F1F5F9"/>
          </a:solidFill>
          <a:ln w="12700">
            <a:solidFill>
              <a:srgbClr val="FFFFFF">
                <a:alpha val="0"/>
              </a:srgbClr>
            </a:solidFill>
            <a:prstDash val="solid"/>
          </a:ln>
        </p:spPr>
      </p:sp>
      <p:sp>
        <p:nvSpPr>
          <p:cNvPr id="24" name="Text 19"/>
          <p:cNvSpPr txBox="1"/>
          <p:nvPr/>
        </p:nvSpPr>
        <p:spPr>
          <a:xfrm>
            <a:off x="4851806" y="3066898"/>
            <a:ext cx="715061"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algn="l" indent="0" marL="0">
              <a:buNone/>
            </a:pPr>
            <a:r>
              <a:rPr lang="en-US" sz="900" b="1" dirty="0">
                <a:solidFill>
                  <a:srgbClr val="475569"/>
                </a:solidFill>
                <a:latin typeface="IBM Plex Mono" pitchFamily="34" charset="0"/>
                <a:ea typeface="IBM Plex Mono" pitchFamily="34" charset="-122"/>
                <a:cs typeface="IBM Plex Mono" pitchFamily="34" charset="-120"/>
              </a:rPr>
              <a:t>~1.3 GB</a:t>
            </a:r>
            <a:endParaRPr lang="en-US" sz="900" dirty="0"/>
          </a:p>
        </p:txBody>
      </p:sp>
      <p:pic>
        <p:nvPicPr>
          <p:cNvPr id="25" name="Image 3" descr="preencoded.png">    </p:cNvPr>
          <p:cNvPicPr>
            <a:picLocks noChangeAspect="1"/>
          </p:cNvPicPr>
          <p:nvPr/>
        </p:nvPicPr>
        <p:blipFill>
          <a:blip r:embed="rId4"/>
          <a:srcRect l="0" r="0" t="-13478" b="-13478"/>
          <a:stretch/>
        </p:blipFill>
        <p:spPr>
          <a:xfrm>
            <a:off x="1466698" y="3552444"/>
            <a:ext cx="105156" cy="133502"/>
          </a:xfrm>
          <a:prstGeom prst="rect">
            <a:avLst/>
          </a:prstGeom>
        </p:spPr>
      </p:pic>
      <p:sp>
        <p:nvSpPr>
          <p:cNvPr id="26" name="Text 20"/>
          <p:cNvSpPr txBox="1"/>
          <p:nvPr/>
        </p:nvSpPr>
        <p:spPr>
          <a:xfrm>
            <a:off x="1666951" y="3514954"/>
            <a:ext cx="3896258" cy="181051"/>
          </a:xfrm>
          <a:prstGeom prst="rect">
            <a:avLst/>
          </a:prstGeom>
          <a:noFill/>
          <a:ln/>
        </p:spPr>
        <p:txBody>
          <a:bodyPr wrap="square" lIns="0" tIns="0" rIns="0" bIns="0" rtlCol="0" anchor="ctr"/>
          <a:lstStyle/>
          <a:p>
            <a:pPr algn="l" indent="0" marL="0">
              <a:buNone/>
            </a:pPr>
            <a:r>
              <a:rPr lang="en-US" sz="1100" b="1" dirty="0">
                <a:solidFill>
                  <a:srgbClr val="334155"/>
                </a:solidFill>
                <a:latin typeface="Inter" pitchFamily="34" charset="0"/>
                <a:ea typeface="Inter" pitchFamily="34" charset="-122"/>
                <a:cs typeface="Inter" pitchFamily="34" charset="-120"/>
              </a:rPr>
              <a:t>Primary Role</a:t>
            </a:r>
            <a:endParaRPr lang="en-US" sz="1100" dirty="0"/>
          </a:p>
        </p:txBody>
      </p:sp>
      <p:sp>
        <p:nvSpPr>
          <p:cNvPr id="27" name="Text 21"/>
          <p:cNvSpPr txBox="1"/>
          <p:nvPr/>
        </p:nvSpPr>
        <p:spPr>
          <a:xfrm>
            <a:off x="1666951" y="3715207"/>
            <a:ext cx="3896258" cy="381305"/>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Edge deployment, rapid prompt routing, and light text classification tasks.</a:t>
            </a:r>
            <a:endParaRPr lang="en-US" sz="1000" dirty="0"/>
          </a:p>
        </p:txBody>
      </p:sp>
      <p:pic>
        <p:nvPicPr>
          <p:cNvPr id="28" name="Image 4" descr="preencoded.png">    </p:cNvPr>
          <p:cNvPicPr>
            <a:picLocks noChangeAspect="1"/>
          </p:cNvPicPr>
          <p:nvPr/>
        </p:nvPicPr>
        <p:blipFill>
          <a:blip r:embed="rId5"/>
          <a:srcRect l="0" r="0" t="-13478" b="-13478"/>
          <a:stretch/>
        </p:blipFill>
        <p:spPr>
          <a:xfrm>
            <a:off x="1466698" y="4278478"/>
            <a:ext cx="105156" cy="133502"/>
          </a:xfrm>
          <a:prstGeom prst="rect">
            <a:avLst/>
          </a:prstGeom>
        </p:spPr>
      </p:pic>
      <p:sp>
        <p:nvSpPr>
          <p:cNvPr id="29" name="Text 22"/>
          <p:cNvSpPr txBox="1"/>
          <p:nvPr/>
        </p:nvSpPr>
        <p:spPr>
          <a:xfrm>
            <a:off x="1666951" y="4240073"/>
            <a:ext cx="3057754" cy="181051"/>
          </a:xfrm>
          <a:prstGeom prst="rect">
            <a:avLst/>
          </a:prstGeom>
          <a:noFill/>
          <a:ln/>
        </p:spPr>
        <p:txBody>
          <a:bodyPr wrap="square" lIns="0" tIns="0" rIns="0" bIns="0" rtlCol="0" anchor="ctr"/>
          <a:lstStyle/>
          <a:p>
            <a:pPr algn="l" indent="0" marL="0">
              <a:buNone/>
            </a:pPr>
            <a:r>
              <a:rPr lang="en-US" sz="1100" b="1" dirty="0">
                <a:solidFill>
                  <a:srgbClr val="334155"/>
                </a:solidFill>
                <a:latin typeface="Inter" pitchFamily="34" charset="0"/>
                <a:ea typeface="Inter" pitchFamily="34" charset="-122"/>
                <a:cs typeface="Inter" pitchFamily="34" charset="-120"/>
              </a:rPr>
              <a:t>Strengths</a:t>
            </a:r>
            <a:endParaRPr lang="en-US" sz="1100" dirty="0"/>
          </a:p>
        </p:txBody>
      </p:sp>
      <p:sp>
        <p:nvSpPr>
          <p:cNvPr id="30" name="Text 23"/>
          <p:cNvSpPr txBox="1"/>
          <p:nvPr/>
        </p:nvSpPr>
        <p:spPr>
          <a:xfrm>
            <a:off x="1666951" y="4440326"/>
            <a:ext cx="3631082" cy="191110"/>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Extremely fast inference, low memory overhead.</a:t>
            </a:r>
            <a:endParaRPr lang="en-US" sz="1000" dirty="0"/>
          </a:p>
        </p:txBody>
      </p:sp>
      <p:sp>
        <p:nvSpPr>
          <p:cNvPr id="31" name="Shape 24"/>
          <p:cNvSpPr/>
          <p:nvPr/>
        </p:nvSpPr>
        <p:spPr>
          <a:xfrm>
            <a:off x="6572707" y="3047695"/>
            <a:ext cx="457200" cy="457200"/>
          </a:xfrm>
          <a:prstGeom prst="roundRect">
            <a:avLst>
              <a:gd name="adj" fmla="val 83333"/>
            </a:avLst>
          </a:prstGeom>
          <a:solidFill>
            <a:srgbClr val="8B5CF6">
              <a:alpha val="10000"/>
            </a:srgbClr>
          </a:solidFill>
          <a:ln w="12700">
            <a:solidFill>
              <a:srgbClr val="FFFFFF">
                <a:alpha val="0"/>
              </a:srgbClr>
            </a:solidFill>
            <a:prstDash val="solid"/>
          </a:ln>
        </p:spPr>
      </p:sp>
      <p:pic>
        <p:nvPicPr>
          <p:cNvPr id="32" name="Image 5" descr="preencoded.png">    </p:cNvPr>
          <p:cNvPicPr>
            <a:picLocks noChangeAspect="1"/>
          </p:cNvPicPr>
          <p:nvPr/>
        </p:nvPicPr>
        <p:blipFill>
          <a:blip r:embed="rId6"/>
          <a:srcRect l="0" r="0" t="-14689" b="-14689"/>
          <a:stretch/>
        </p:blipFill>
        <p:spPr>
          <a:xfrm>
            <a:off x="6719926" y="3172054"/>
            <a:ext cx="161849" cy="209398"/>
          </a:xfrm>
          <a:prstGeom prst="rect">
            <a:avLst/>
          </a:prstGeom>
        </p:spPr>
      </p:pic>
      <p:sp>
        <p:nvSpPr>
          <p:cNvPr id="33" name="Text 25"/>
          <p:cNvSpPr txBox="1"/>
          <p:nvPr/>
        </p:nvSpPr>
        <p:spPr>
          <a:xfrm>
            <a:off x="7181698" y="3047695"/>
            <a:ext cx="1915668" cy="277063"/>
          </a:xfrm>
          <a:prstGeom prst="rect">
            <a:avLst/>
          </a:prstGeom>
          <a:noFill/>
          <a:ln/>
        </p:spPr>
        <p:txBody>
          <a:bodyPr wrap="square" lIns="0" tIns="0" rIns="0" bIns="0" rtlCol="0" anchor="ctr"/>
          <a:lstStyle/>
          <a:p>
            <a:pPr algn="l" indent="0" marL="0">
              <a:buNone/>
            </a:pPr>
            <a:r>
              <a:rPr lang="en-US" sz="1800" b="1" dirty="0">
                <a:solidFill>
                  <a:srgbClr val="1E293B"/>
                </a:solidFill>
                <a:latin typeface="Inter" pitchFamily="34" charset="0"/>
                <a:ea typeface="Inter" pitchFamily="34" charset="-122"/>
                <a:cs typeface="Inter" pitchFamily="34" charset="-120"/>
              </a:rPr>
              <a:t>Llama 3.2 (3B)</a:t>
            </a:r>
            <a:endParaRPr lang="en-US" sz="1800" dirty="0"/>
          </a:p>
        </p:txBody>
      </p:sp>
      <p:sp>
        <p:nvSpPr>
          <p:cNvPr id="34" name="Shape 26"/>
          <p:cNvSpPr/>
          <p:nvPr/>
        </p:nvSpPr>
        <p:spPr>
          <a:xfrm>
            <a:off x="10566806" y="3066898"/>
            <a:ext cx="714146" cy="237744"/>
          </a:xfrm>
          <a:prstGeom prst="roundRect">
            <a:avLst>
              <a:gd name="adj" fmla="val 184615"/>
            </a:avLst>
          </a:prstGeom>
          <a:solidFill>
            <a:srgbClr val="F1F5F9"/>
          </a:solidFill>
          <a:ln w="12700">
            <a:solidFill>
              <a:srgbClr val="FFFFFF">
                <a:alpha val="0"/>
              </a:srgbClr>
            </a:solidFill>
            <a:prstDash val="solid"/>
          </a:ln>
        </p:spPr>
      </p:sp>
      <p:sp>
        <p:nvSpPr>
          <p:cNvPr id="35" name="Text 27"/>
          <p:cNvSpPr txBox="1"/>
          <p:nvPr/>
        </p:nvSpPr>
        <p:spPr>
          <a:xfrm>
            <a:off x="10566806" y="3066898"/>
            <a:ext cx="715061"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algn="l" indent="0" marL="0">
              <a:buNone/>
            </a:pPr>
            <a:r>
              <a:rPr lang="en-US" sz="900" b="1" dirty="0">
                <a:solidFill>
                  <a:srgbClr val="475569"/>
                </a:solidFill>
                <a:latin typeface="IBM Plex Mono" pitchFamily="34" charset="0"/>
                <a:ea typeface="IBM Plex Mono" pitchFamily="34" charset="-122"/>
                <a:cs typeface="IBM Plex Mono" pitchFamily="34" charset="-120"/>
              </a:rPr>
              <a:t>~2.0 GB</a:t>
            </a:r>
            <a:endParaRPr lang="en-US" sz="900" dirty="0"/>
          </a:p>
        </p:txBody>
      </p:sp>
      <p:pic>
        <p:nvPicPr>
          <p:cNvPr id="36" name="Image 6" descr="preencoded.png">    </p:cNvPr>
          <p:cNvPicPr>
            <a:picLocks noChangeAspect="1"/>
          </p:cNvPicPr>
          <p:nvPr/>
        </p:nvPicPr>
        <p:blipFill>
          <a:blip r:embed="rId7"/>
          <a:srcRect l="0" r="0" t="-13478" b="-13478"/>
          <a:stretch/>
        </p:blipFill>
        <p:spPr>
          <a:xfrm>
            <a:off x="7181698" y="3552444"/>
            <a:ext cx="105156" cy="133502"/>
          </a:xfrm>
          <a:prstGeom prst="rect">
            <a:avLst/>
          </a:prstGeom>
        </p:spPr>
      </p:pic>
      <p:sp>
        <p:nvSpPr>
          <p:cNvPr id="37" name="Text 28"/>
          <p:cNvSpPr txBox="1"/>
          <p:nvPr/>
        </p:nvSpPr>
        <p:spPr>
          <a:xfrm>
            <a:off x="7381951" y="3514954"/>
            <a:ext cx="3896258" cy="181051"/>
          </a:xfrm>
          <a:prstGeom prst="rect">
            <a:avLst/>
          </a:prstGeom>
          <a:noFill/>
          <a:ln/>
        </p:spPr>
        <p:txBody>
          <a:bodyPr wrap="square" lIns="0" tIns="0" rIns="0" bIns="0" rtlCol="0" anchor="ctr"/>
          <a:lstStyle/>
          <a:p>
            <a:pPr algn="l" indent="0" marL="0">
              <a:buNone/>
            </a:pPr>
            <a:r>
              <a:rPr lang="en-US" sz="1100" b="1" dirty="0">
                <a:solidFill>
                  <a:srgbClr val="334155"/>
                </a:solidFill>
                <a:latin typeface="Inter" pitchFamily="34" charset="0"/>
                <a:ea typeface="Inter" pitchFamily="34" charset="-122"/>
                <a:cs typeface="Inter" pitchFamily="34" charset="-120"/>
              </a:rPr>
              <a:t>Primary Role</a:t>
            </a:r>
            <a:endParaRPr lang="en-US" sz="1100" dirty="0"/>
          </a:p>
        </p:txBody>
      </p:sp>
      <p:sp>
        <p:nvSpPr>
          <p:cNvPr id="38" name="Text 29"/>
          <p:cNvSpPr txBox="1"/>
          <p:nvPr/>
        </p:nvSpPr>
        <p:spPr>
          <a:xfrm>
            <a:off x="7381951" y="3715207"/>
            <a:ext cx="3896258" cy="381305"/>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Heavy lifting. Complex reasoning, summarisation, and LangGraph tool use.</a:t>
            </a:r>
            <a:endParaRPr lang="en-US" sz="1000" dirty="0"/>
          </a:p>
        </p:txBody>
      </p:sp>
      <p:pic>
        <p:nvPicPr>
          <p:cNvPr id="39" name="Image 7" descr="preencoded.png">    </p:cNvPr>
          <p:cNvPicPr>
            <a:picLocks noChangeAspect="1"/>
          </p:cNvPicPr>
          <p:nvPr/>
        </p:nvPicPr>
        <p:blipFill>
          <a:blip r:embed="rId8"/>
          <a:srcRect l="0" r="0" t="-13478" b="-13478"/>
          <a:stretch/>
        </p:blipFill>
        <p:spPr>
          <a:xfrm>
            <a:off x="7181698" y="4278478"/>
            <a:ext cx="105156" cy="133502"/>
          </a:xfrm>
          <a:prstGeom prst="rect">
            <a:avLst/>
          </a:prstGeom>
        </p:spPr>
      </p:pic>
      <p:sp>
        <p:nvSpPr>
          <p:cNvPr id="40" name="Text 30"/>
          <p:cNvSpPr txBox="1"/>
          <p:nvPr/>
        </p:nvSpPr>
        <p:spPr>
          <a:xfrm>
            <a:off x="7381951" y="4240073"/>
            <a:ext cx="2820010" cy="181051"/>
          </a:xfrm>
          <a:prstGeom prst="rect">
            <a:avLst/>
          </a:prstGeom>
          <a:noFill/>
          <a:ln/>
        </p:spPr>
        <p:txBody>
          <a:bodyPr wrap="square" lIns="0" tIns="0" rIns="0" bIns="0" rtlCol="0" anchor="ctr"/>
          <a:lstStyle/>
          <a:p>
            <a:pPr algn="l" indent="0" marL="0">
              <a:buNone/>
            </a:pPr>
            <a:r>
              <a:rPr lang="en-US" sz="1100" b="1" dirty="0">
                <a:solidFill>
                  <a:srgbClr val="334155"/>
                </a:solidFill>
                <a:latin typeface="Inter" pitchFamily="34" charset="0"/>
                <a:ea typeface="Inter" pitchFamily="34" charset="-122"/>
                <a:cs typeface="Inter" pitchFamily="34" charset="-120"/>
              </a:rPr>
              <a:t>Strengths</a:t>
            </a:r>
            <a:endParaRPr lang="en-US" sz="1100" dirty="0"/>
          </a:p>
        </p:txBody>
      </p:sp>
      <p:sp>
        <p:nvSpPr>
          <p:cNvPr id="41" name="Text 31"/>
          <p:cNvSpPr txBox="1"/>
          <p:nvPr/>
        </p:nvSpPr>
        <p:spPr>
          <a:xfrm>
            <a:off x="7381951" y="4440326"/>
            <a:ext cx="3355848" cy="191110"/>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High instruction following capability for RAG.</a:t>
            </a:r>
            <a:endParaRPr lang="en-US" sz="1000" dirty="0"/>
          </a:p>
        </p:txBody>
      </p:sp>
      <p:sp>
        <p:nvSpPr>
          <p:cNvPr id="42" name="Shape 32"/>
          <p:cNvSpPr/>
          <p:nvPr/>
        </p:nvSpPr>
        <p:spPr>
          <a:xfrm>
            <a:off x="1324966" y="5924398"/>
            <a:ext cx="342900" cy="342900"/>
          </a:xfrm>
          <a:prstGeom prst="roundRect">
            <a:avLst>
              <a:gd name="adj" fmla="val 118519"/>
            </a:avLst>
          </a:prstGeom>
          <a:solidFill>
            <a:srgbClr val="FFFFFF"/>
          </a:solidFill>
          <a:ln w="12700">
            <a:solidFill>
              <a:srgbClr val="FFFFFF">
                <a:alpha val="0"/>
              </a:srgbClr>
            </a:solidFill>
            <a:prstDash val="solid"/>
          </a:ln>
        </p:spPr>
      </p:sp>
      <p:pic>
        <p:nvPicPr>
          <p:cNvPr id="43" name="Image 8" descr="preencoded.png">    </p:cNvPr>
          <p:cNvPicPr>
            <a:picLocks noChangeAspect="1"/>
          </p:cNvPicPr>
          <p:nvPr/>
        </p:nvPicPr>
        <p:blipFill>
          <a:blip r:embed="rId9"/>
          <a:srcRect l="0" r="0" t="-16800" b="-16800"/>
          <a:stretch/>
        </p:blipFill>
        <p:spPr>
          <a:xfrm>
            <a:off x="1439266" y="6019495"/>
            <a:ext cx="114300" cy="152705"/>
          </a:xfrm>
          <a:prstGeom prst="rect">
            <a:avLst/>
          </a:prstGeom>
        </p:spPr>
      </p:pic>
      <p:sp>
        <p:nvSpPr>
          <p:cNvPr id="44" name="Text 33"/>
          <p:cNvSpPr txBox="1"/>
          <p:nvPr/>
        </p:nvSpPr>
        <p:spPr>
          <a:xfrm>
            <a:off x="1782166" y="5928970"/>
            <a:ext cx="1114654" cy="143561"/>
          </a:xfrm>
          <a:prstGeom prst="rect">
            <a:avLst/>
          </a:prstGeom>
          <a:noFill/>
          <a:ln/>
        </p:spPr>
        <p:txBody>
          <a:bodyPr wrap="square" lIns="0" tIns="0" rIns="0" bIns="0" rtlCol="0" anchor="ctr"/>
          <a:lstStyle/>
          <a:p>
            <a:pPr algn="l" indent="0" marL="0">
              <a:buNone/>
            </a:pPr>
            <a:r>
              <a:rPr lang="en-US" sz="900" b="1" dirty="0">
                <a:solidFill>
                  <a:srgbClr val="64748B"/>
                </a:solidFill>
                <a:latin typeface="Inter" pitchFamily="34" charset="0"/>
                <a:ea typeface="Inter" pitchFamily="34" charset="-122"/>
                <a:cs typeface="Inter" pitchFamily="34" charset="-120"/>
              </a:rPr>
              <a:t>Context Window</a:t>
            </a:r>
            <a:endParaRPr lang="en-US" sz="900" dirty="0"/>
          </a:p>
        </p:txBody>
      </p:sp>
      <p:sp>
        <p:nvSpPr>
          <p:cNvPr id="45" name="Text 34"/>
          <p:cNvSpPr txBox="1"/>
          <p:nvPr/>
        </p:nvSpPr>
        <p:spPr>
          <a:xfrm>
            <a:off x="1782166" y="6072530"/>
            <a:ext cx="1114654"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128K Tokens</a:t>
            </a:r>
            <a:endParaRPr lang="en-US" sz="1200" dirty="0"/>
          </a:p>
        </p:txBody>
      </p:sp>
      <p:pic>
        <p:nvPicPr>
          <p:cNvPr id="46" name="Image 9" descr="preencoded.png">    </p:cNvPr>
          <p:cNvPicPr>
            <a:picLocks noChangeAspect="1"/>
          </p:cNvPicPr>
          <p:nvPr/>
        </p:nvPicPr>
        <p:blipFill>
          <a:blip r:embed="rId10"/>
          <a:srcRect l="0" r="0" t="-2127" b="-2127"/>
          <a:stretch/>
        </p:blipFill>
        <p:spPr>
          <a:xfrm>
            <a:off x="4014216" y="5905195"/>
            <a:ext cx="9144" cy="381305"/>
          </a:xfrm>
          <a:prstGeom prst="rect">
            <a:avLst/>
          </a:prstGeom>
        </p:spPr>
      </p:pic>
      <p:sp>
        <p:nvSpPr>
          <p:cNvPr id="47" name="Shape 35"/>
          <p:cNvSpPr/>
          <p:nvPr/>
        </p:nvSpPr>
        <p:spPr>
          <a:xfrm>
            <a:off x="5149901" y="5924398"/>
            <a:ext cx="342900" cy="342900"/>
          </a:xfrm>
          <a:prstGeom prst="roundRect">
            <a:avLst>
              <a:gd name="adj" fmla="val 118519"/>
            </a:avLst>
          </a:prstGeom>
          <a:solidFill>
            <a:srgbClr val="FFFFFF"/>
          </a:solidFill>
          <a:ln w="12700">
            <a:solidFill>
              <a:srgbClr val="FFFFFF">
                <a:alpha val="0"/>
              </a:srgbClr>
            </a:solidFill>
            <a:prstDash val="solid"/>
          </a:ln>
        </p:spPr>
      </p:sp>
      <p:pic>
        <p:nvPicPr>
          <p:cNvPr id="48" name="Image 10" descr="preencoded.png">    </p:cNvPr>
          <p:cNvPicPr>
            <a:picLocks noChangeAspect="1"/>
          </p:cNvPicPr>
          <p:nvPr/>
        </p:nvPicPr>
        <p:blipFill>
          <a:blip r:embed="rId11"/>
          <a:srcRect l="0" r="0" t="-16800" b="-16800"/>
          <a:stretch/>
        </p:blipFill>
        <p:spPr>
          <a:xfrm>
            <a:off x="5264201" y="6019495"/>
            <a:ext cx="114300" cy="152705"/>
          </a:xfrm>
          <a:prstGeom prst="rect">
            <a:avLst/>
          </a:prstGeom>
        </p:spPr>
      </p:pic>
      <p:sp>
        <p:nvSpPr>
          <p:cNvPr id="49" name="Text 36"/>
          <p:cNvSpPr txBox="1"/>
          <p:nvPr/>
        </p:nvSpPr>
        <p:spPr>
          <a:xfrm>
            <a:off x="5607101" y="5928970"/>
            <a:ext cx="1172261" cy="143561"/>
          </a:xfrm>
          <a:prstGeom prst="rect">
            <a:avLst/>
          </a:prstGeom>
          <a:noFill/>
          <a:ln/>
        </p:spPr>
        <p:txBody>
          <a:bodyPr wrap="square" lIns="0" tIns="0" rIns="0" bIns="0" rtlCol="0" anchor="ctr"/>
          <a:lstStyle/>
          <a:p>
            <a:pPr algn="l" indent="0" marL="0">
              <a:buNone/>
            </a:pPr>
            <a:r>
              <a:rPr lang="en-US" sz="900" b="1" dirty="0">
                <a:solidFill>
                  <a:srgbClr val="64748B"/>
                </a:solidFill>
                <a:latin typeface="Inter" pitchFamily="34" charset="0"/>
                <a:ea typeface="Inter" pitchFamily="34" charset="-122"/>
                <a:cs typeface="Inter" pitchFamily="34" charset="-120"/>
              </a:rPr>
              <a:t>Local Engine</a:t>
            </a:r>
            <a:endParaRPr lang="en-US" sz="900" dirty="0"/>
          </a:p>
        </p:txBody>
      </p:sp>
      <p:sp>
        <p:nvSpPr>
          <p:cNvPr id="50" name="Text 37"/>
          <p:cNvSpPr txBox="1"/>
          <p:nvPr/>
        </p:nvSpPr>
        <p:spPr>
          <a:xfrm>
            <a:off x="5607101" y="6072530"/>
            <a:ext cx="1275588"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Ollama Daemon</a:t>
            </a:r>
            <a:endParaRPr lang="en-US" sz="1200" dirty="0"/>
          </a:p>
        </p:txBody>
      </p:sp>
      <p:pic>
        <p:nvPicPr>
          <p:cNvPr id="51" name="Image 11" descr="preencoded.png">    </p:cNvPr>
          <p:cNvPicPr>
            <a:picLocks noChangeAspect="1"/>
          </p:cNvPicPr>
          <p:nvPr/>
        </p:nvPicPr>
        <p:blipFill>
          <a:blip r:embed="rId12"/>
          <a:srcRect l="0" r="0" t="-2127" b="-2127"/>
          <a:stretch/>
        </p:blipFill>
        <p:spPr>
          <a:xfrm>
            <a:off x="7902245" y="5905195"/>
            <a:ext cx="9144" cy="381305"/>
          </a:xfrm>
          <a:prstGeom prst="rect">
            <a:avLst/>
          </a:prstGeom>
        </p:spPr>
      </p:pic>
      <p:sp>
        <p:nvSpPr>
          <p:cNvPr id="52" name="Shape 38"/>
          <p:cNvSpPr/>
          <p:nvPr/>
        </p:nvSpPr>
        <p:spPr>
          <a:xfrm>
            <a:off x="9037930" y="5924398"/>
            <a:ext cx="342900" cy="342900"/>
          </a:xfrm>
          <a:prstGeom prst="roundRect">
            <a:avLst>
              <a:gd name="adj" fmla="val 118519"/>
            </a:avLst>
          </a:prstGeom>
          <a:solidFill>
            <a:srgbClr val="FFFFFF"/>
          </a:solidFill>
          <a:ln w="12700">
            <a:solidFill>
              <a:srgbClr val="FFFFFF">
                <a:alpha val="0"/>
              </a:srgbClr>
            </a:solidFill>
            <a:prstDash val="solid"/>
          </a:ln>
        </p:spPr>
      </p:sp>
      <p:pic>
        <p:nvPicPr>
          <p:cNvPr id="53" name="Image 12" descr="preencoded.png">    </p:cNvPr>
          <p:cNvPicPr>
            <a:picLocks noChangeAspect="1"/>
          </p:cNvPicPr>
          <p:nvPr/>
        </p:nvPicPr>
        <p:blipFill>
          <a:blip r:embed="rId13"/>
          <a:srcRect l="0" r="0" t="-33500" b="-33500"/>
          <a:stretch/>
        </p:blipFill>
        <p:spPr>
          <a:xfrm>
            <a:off x="9152230" y="6019495"/>
            <a:ext cx="114300" cy="152705"/>
          </a:xfrm>
          <a:prstGeom prst="rect">
            <a:avLst/>
          </a:prstGeom>
        </p:spPr>
      </p:pic>
      <p:sp>
        <p:nvSpPr>
          <p:cNvPr id="54" name="Text 39"/>
          <p:cNvSpPr txBox="1"/>
          <p:nvPr/>
        </p:nvSpPr>
        <p:spPr>
          <a:xfrm>
            <a:off x="9495130" y="5928970"/>
            <a:ext cx="1381658" cy="143561"/>
          </a:xfrm>
          <a:prstGeom prst="rect">
            <a:avLst/>
          </a:prstGeom>
          <a:noFill/>
          <a:ln/>
        </p:spPr>
        <p:txBody>
          <a:bodyPr wrap="square" lIns="0" tIns="0" rIns="0" bIns="0" rtlCol="0" anchor="ctr"/>
          <a:lstStyle/>
          <a:p>
            <a:pPr algn="l" indent="0" marL="0">
              <a:buNone/>
            </a:pPr>
            <a:r>
              <a:rPr lang="en-US" sz="900" b="1" dirty="0">
                <a:solidFill>
                  <a:srgbClr val="64748B"/>
                </a:solidFill>
                <a:latin typeface="Inter" pitchFamily="34" charset="0"/>
                <a:ea typeface="Inter" pitchFamily="34" charset="-122"/>
                <a:cs typeface="Inter" pitchFamily="34" charset="-120"/>
              </a:rPr>
              <a:t>Local Port</a:t>
            </a:r>
            <a:endParaRPr lang="en-US" sz="900" dirty="0"/>
          </a:p>
        </p:txBody>
      </p:sp>
      <p:sp>
        <p:nvSpPr>
          <p:cNvPr id="55" name="Text 40"/>
          <p:cNvSpPr txBox="1"/>
          <p:nvPr/>
        </p:nvSpPr>
        <p:spPr>
          <a:xfrm>
            <a:off x="9495130" y="6072530"/>
            <a:ext cx="1381658"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BM Plex Mono" pitchFamily="34" charset="0"/>
                <a:ea typeface="IBM Plex Mono" pitchFamily="34" charset="-122"/>
                <a:cs typeface="IBM Plex Mono" pitchFamily="34" charset="-120"/>
              </a:rPr>
              <a:t>localhost:11434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5" name="Shape 3"/>
          <p:cNvSpPr/>
          <p:nvPr/>
        </p:nvSpPr>
        <p:spPr>
          <a:xfrm>
            <a:off x="571500" y="2572207"/>
            <a:ext cx="5352898" cy="3952951"/>
          </a:xfrm>
          <a:prstGeom prst="roundRect">
            <a:avLst>
              <a:gd name="adj" fmla="val 1338"/>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6" name="Shape 4"/>
          <p:cNvSpPr/>
          <p:nvPr/>
        </p:nvSpPr>
        <p:spPr>
          <a:xfrm>
            <a:off x="571500" y="2572207"/>
            <a:ext cx="5352898" cy="38405"/>
          </a:xfrm>
          <a:prstGeom prst="roundRect">
            <a:avLst>
              <a:gd name="adj" fmla="val 137693"/>
            </a:avLst>
          </a:prstGeom>
          <a:solidFill>
            <a:srgbClr val="6366F1"/>
          </a:solidFill>
          <a:ln w="12700">
            <a:solidFill>
              <a:srgbClr val="6366F1">
                <a:alpha val="0"/>
              </a:srgbClr>
            </a:solidFill>
            <a:prstDash val="solid"/>
          </a:ln>
        </p:spPr>
      </p:sp>
      <p:sp>
        <p:nvSpPr>
          <p:cNvPr id="7" name="Shape 5"/>
          <p:cNvSpPr/>
          <p:nvPr/>
        </p:nvSpPr>
        <p:spPr>
          <a:xfrm>
            <a:off x="6286500" y="2572207"/>
            <a:ext cx="5352898" cy="3952951"/>
          </a:xfrm>
          <a:prstGeom prst="roundRect">
            <a:avLst>
              <a:gd name="adj" fmla="val 1338"/>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8" name="Shape 6"/>
          <p:cNvSpPr/>
          <p:nvPr/>
        </p:nvSpPr>
        <p:spPr>
          <a:xfrm>
            <a:off x="6286500" y="2572207"/>
            <a:ext cx="5352898" cy="38405"/>
          </a:xfrm>
          <a:prstGeom prst="roundRect">
            <a:avLst>
              <a:gd name="adj" fmla="val 137693"/>
            </a:avLst>
          </a:prstGeom>
          <a:solidFill>
            <a:srgbClr val="3B82F6"/>
          </a:solidFill>
          <a:ln w="12700">
            <a:solidFill>
              <a:srgbClr val="3B82F6">
                <a:alpha val="0"/>
              </a:srgbClr>
            </a:solidFill>
            <a:prstDash val="solid"/>
          </a:ln>
        </p:spPr>
      </p:sp>
      <p:sp>
        <p:nvSpPr>
          <p:cNvPr id="9" name="Shape 7"/>
          <p:cNvSpPr/>
          <p:nvPr/>
        </p:nvSpPr>
        <p:spPr>
          <a:xfrm>
            <a:off x="857707" y="3810305"/>
            <a:ext cx="3810305" cy="228600"/>
          </a:xfrm>
          <a:prstGeom prst="roundRect">
            <a:avLst>
              <a:gd name="adj" fmla="val 400000"/>
            </a:avLst>
          </a:prstGeom>
          <a:solidFill>
            <a:srgbClr val="6366F1">
              <a:alpha val="10000"/>
            </a:srgbClr>
          </a:solidFill>
          <a:ln w="12700">
            <a:solidFill>
              <a:srgbClr val="FFFFFF">
                <a:alpha val="0"/>
              </a:srgbClr>
            </a:solidFill>
            <a:prstDash val="solid"/>
          </a:ln>
        </p:spPr>
      </p:sp>
      <p:sp>
        <p:nvSpPr>
          <p:cNvPr id="10" name="Shape 8"/>
          <p:cNvSpPr/>
          <p:nvPr/>
        </p:nvSpPr>
        <p:spPr>
          <a:xfrm>
            <a:off x="857707" y="4476902"/>
            <a:ext cx="3810305" cy="228600"/>
          </a:xfrm>
          <a:prstGeom prst="roundRect">
            <a:avLst>
              <a:gd name="adj" fmla="val 400000"/>
            </a:avLst>
          </a:prstGeom>
          <a:solidFill>
            <a:srgbClr val="10B981">
              <a:alpha val="10000"/>
            </a:srgbClr>
          </a:solidFill>
          <a:ln w="12700">
            <a:solidFill>
              <a:srgbClr val="FFFFFF">
                <a:alpha val="0"/>
              </a:srgbClr>
            </a:solidFill>
            <a:prstDash val="solid"/>
          </a:ln>
        </p:spPr>
      </p:sp>
      <p:sp>
        <p:nvSpPr>
          <p:cNvPr id="11" name="Shape 9"/>
          <p:cNvSpPr/>
          <p:nvPr/>
        </p:nvSpPr>
        <p:spPr>
          <a:xfrm>
            <a:off x="857707" y="3810305"/>
            <a:ext cx="3238805" cy="228600"/>
          </a:xfrm>
          <a:prstGeom prst="roundRect">
            <a:avLst>
              <a:gd name="adj" fmla="val 400000"/>
            </a:avLst>
          </a:prstGeom>
          <a:solidFill>
            <a:srgbClr val="6366F1"/>
          </a:solidFill>
          <a:ln w="12700">
            <a:solidFill>
              <a:srgbClr val="FFFFFF">
                <a:alpha val="0"/>
              </a:srgbClr>
            </a:solidFill>
            <a:prstDash val="solid"/>
          </a:ln>
        </p:spPr>
      </p:sp>
      <p:sp>
        <p:nvSpPr>
          <p:cNvPr id="12" name="Shape 10"/>
          <p:cNvSpPr/>
          <p:nvPr/>
        </p:nvSpPr>
        <p:spPr>
          <a:xfrm>
            <a:off x="857707" y="4476902"/>
            <a:ext cx="3619195" cy="228600"/>
          </a:xfrm>
          <a:prstGeom prst="roundRect">
            <a:avLst>
              <a:gd name="adj" fmla="val 400000"/>
            </a:avLst>
          </a:prstGeom>
          <a:solidFill>
            <a:srgbClr val="10B981"/>
          </a:solidFill>
          <a:ln w="12700">
            <a:solidFill>
              <a:srgbClr val="FFFFFF">
                <a:alpha val="0"/>
              </a:srgbClr>
            </a:solidFill>
            <a:prstDash val="solid"/>
          </a:ln>
        </p:spPr>
      </p:sp>
      <p:sp>
        <p:nvSpPr>
          <p:cNvPr id="13" name="Shape 11"/>
          <p:cNvSpPr/>
          <p:nvPr/>
        </p:nvSpPr>
        <p:spPr>
          <a:xfrm>
            <a:off x="571500" y="409651"/>
            <a:ext cx="418795" cy="418795"/>
          </a:xfrm>
          <a:prstGeom prst="roundRect">
            <a:avLst>
              <a:gd name="adj" fmla="val 119095"/>
            </a:avLst>
          </a:prstGeom>
          <a:solidFill>
            <a:srgbClr val="6366F1"/>
          </a:solidFill>
          <a:ln w="12700">
            <a:solidFill>
              <a:srgbClr val="FFFFFF">
                <a:alpha val="0"/>
              </a:srgbClr>
            </a:solidFill>
            <a:prstDash val="solid"/>
          </a:ln>
        </p:spPr>
      </p:sp>
      <p:pic>
        <p:nvPicPr>
          <p:cNvPr id="14" name="Image 0" descr="preencoded.png">    </p:cNvPr>
          <p:cNvPicPr>
            <a:picLocks noChangeAspect="1"/>
          </p:cNvPicPr>
          <p:nvPr/>
        </p:nvPicPr>
        <p:blipFill>
          <a:blip r:embed="rId1"/>
          <a:srcRect l="0" r="0" t="-22775" b="-22775"/>
          <a:stretch/>
        </p:blipFill>
        <p:spPr>
          <a:xfrm>
            <a:off x="700430" y="514807"/>
            <a:ext cx="161849" cy="209398"/>
          </a:xfrm>
          <a:prstGeom prst="rect">
            <a:avLst/>
          </a:prstGeom>
        </p:spPr>
      </p:pic>
      <p:sp>
        <p:nvSpPr>
          <p:cNvPr id="15" name="Text 12"/>
          <p:cNvSpPr txBox="1"/>
          <p:nvPr/>
        </p:nvSpPr>
        <p:spPr>
          <a:xfrm>
            <a:off x="1143000" y="47183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16" name="Shape 13"/>
          <p:cNvSpPr/>
          <p:nvPr/>
        </p:nvSpPr>
        <p:spPr>
          <a:xfrm>
            <a:off x="9243670" y="424282"/>
            <a:ext cx="2381098" cy="390449"/>
          </a:xfrm>
          <a:prstGeom prst="roundRect">
            <a:avLst>
              <a:gd name="adj" fmla="val 234192"/>
            </a:avLst>
          </a:prstGeom>
          <a:solidFill>
            <a:srgbClr val="6366F1">
              <a:alpha val="8000"/>
            </a:srgbClr>
          </a:solidFill>
          <a:ln w="12700">
            <a:solidFill>
              <a:srgbClr val="6366F1">
                <a:alpha val="15000"/>
              </a:srgbClr>
            </a:solidFill>
            <a:prstDash val="solid"/>
          </a:ln>
        </p:spPr>
      </p:sp>
      <p:pic>
        <p:nvPicPr>
          <p:cNvPr id="17" name="Image 1" descr="preencoded.png">    </p:cNvPr>
          <p:cNvPicPr>
            <a:picLocks noChangeAspect="1"/>
          </p:cNvPicPr>
          <p:nvPr/>
        </p:nvPicPr>
        <p:blipFill>
          <a:blip r:embed="rId2"/>
          <a:srcRect l="0" r="0" t="-13478" b="-13478"/>
          <a:stretch/>
        </p:blipFill>
        <p:spPr>
          <a:xfrm>
            <a:off x="9443923" y="552298"/>
            <a:ext cx="105156" cy="133502"/>
          </a:xfrm>
          <a:prstGeom prst="rect">
            <a:avLst/>
          </a:prstGeom>
        </p:spPr>
      </p:pic>
      <p:sp>
        <p:nvSpPr>
          <p:cNvPr id="18" name="Text 14"/>
          <p:cNvSpPr txBox="1"/>
          <p:nvPr/>
        </p:nvSpPr>
        <p:spPr>
          <a:xfrm>
            <a:off x="9644177" y="424282"/>
            <a:ext cx="1781251" cy="391363"/>
          </a:xfrm>
          <a:prstGeom prst="rect">
            <a:avLst/>
          </a:prstGeom>
          <a:noFill/>
          <a:ln/>
        </p:spPr>
        <p:txBody>
          <a:bodyPr wrap="square" lIns="0" tIns="0" rIns="0" bIns="0" rtlCol="0" anchor="ctr"/>
          <a:lstStyle/>
          <a:p>
            <a:pPr algn="l" indent="0" marL="0">
              <a:buNone/>
            </a:pPr>
            <a:r>
              <a:rPr lang="en-US" sz="1100" dirty="0">
                <a:solidFill>
                  <a:srgbClr val="6366F1"/>
                </a:solidFill>
                <a:latin typeface="Inter" pitchFamily="34" charset="0"/>
                <a:ea typeface="Inter" pitchFamily="34" charset="-122"/>
                <a:cs typeface="Inter" pitchFamily="34" charset="-120"/>
              </a:rPr>
              <a:t>Local-First = Privacy-First</a:t>
            </a:r>
            <a:endParaRPr lang="en-US" sz="1100" dirty="0"/>
          </a:p>
        </p:txBody>
      </p:sp>
      <p:sp>
        <p:nvSpPr>
          <p:cNvPr id="19" name="Text 15"/>
          <p:cNvSpPr txBox="1"/>
          <p:nvPr/>
        </p:nvSpPr>
        <p:spPr>
          <a:xfrm>
            <a:off x="571500" y="1543507"/>
            <a:ext cx="11049610" cy="400507"/>
          </a:xfrm>
          <a:prstGeom prst="rect">
            <a:avLst/>
          </a:prstGeom>
          <a:noFill/>
          <a:ln/>
        </p:spPr>
        <p:txBody>
          <a:bodyPr wrap="square" lIns="0" tIns="0" rIns="0" bIns="0" rtlCol="0" anchor="ctr"/>
          <a:lstStyle/>
          <a:p>
            <a:pPr algn="l" indent="0" marL="0">
              <a:buNone/>
            </a:pPr>
            <a:r>
              <a:rPr lang="en-US" sz="3100" b="1" spc="-75" kern="0" dirty="0">
                <a:solidFill>
                  <a:srgbClr val="1E293B"/>
                </a:solidFill>
                <a:latin typeface="Inter" pitchFamily="34" charset="0"/>
                <a:ea typeface="Inter" pitchFamily="34" charset="-122"/>
                <a:cs typeface="Inter" pitchFamily="34" charset="-120"/>
              </a:rPr>
              <a:t>Semantic Power: </a:t>
            </a:r>
            <a:pPr algn="l" indent="0" marL="0">
              <a:buNone/>
            </a:pPr>
            <a:r>
              <a:rPr lang="en-US" sz="3100" b="1" spc="-75" kern="0" dirty="0">
                <a:solidFill>
                  <a:srgbClr val="6366F1"/>
                </a:solidFill>
                <a:latin typeface="Inter" pitchFamily="34" charset="0"/>
                <a:ea typeface="Inter" pitchFamily="34" charset="-122"/>
                <a:cs typeface="Inter" pitchFamily="34" charset="-120"/>
              </a:rPr>
              <a:t>Nomic Embed</a:t>
            </a:r>
            <a:endParaRPr lang="en-US" sz="3100" dirty="0"/>
          </a:p>
        </p:txBody>
      </p:sp>
      <p:sp>
        <p:nvSpPr>
          <p:cNvPr id="20" name="Text 16"/>
          <p:cNvSpPr txBox="1"/>
          <p:nvPr/>
        </p:nvSpPr>
        <p:spPr>
          <a:xfrm>
            <a:off x="571500" y="2038198"/>
            <a:ext cx="8306410" cy="257861"/>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High-performance, open-weights embedding model for semantic search and retrieval.</a:t>
            </a:r>
            <a:endParaRPr lang="en-US" sz="1300" dirty="0"/>
          </a:p>
        </p:txBody>
      </p:sp>
      <p:sp>
        <p:nvSpPr>
          <p:cNvPr id="21" name="Shape 17"/>
          <p:cNvSpPr/>
          <p:nvPr/>
        </p:nvSpPr>
        <p:spPr>
          <a:xfrm>
            <a:off x="571500" y="1143000"/>
            <a:ext cx="1524305" cy="286207"/>
          </a:xfrm>
          <a:prstGeom prst="roundRect">
            <a:avLst>
              <a:gd name="adj" fmla="val 170394"/>
            </a:avLst>
          </a:prstGeom>
          <a:solidFill>
            <a:srgbClr val="6366F1">
              <a:alpha val="8000"/>
            </a:srgbClr>
          </a:solidFill>
          <a:ln w="12700">
            <a:solidFill>
              <a:srgbClr val="6366F1">
                <a:alpha val="20000"/>
              </a:srgbClr>
            </a:solidFill>
            <a:prstDash val="solid"/>
          </a:ln>
        </p:spPr>
      </p:sp>
      <p:sp>
        <p:nvSpPr>
          <p:cNvPr id="22" name="Text 18"/>
          <p:cNvSpPr txBox="1"/>
          <p:nvPr/>
        </p:nvSpPr>
        <p:spPr>
          <a:xfrm>
            <a:off x="571500" y="1143000"/>
            <a:ext cx="1524305"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6366F1"/>
                </a:solidFill>
                <a:latin typeface="Inter" pitchFamily="34" charset="0"/>
                <a:ea typeface="Inter" pitchFamily="34" charset="-122"/>
                <a:cs typeface="Inter" pitchFamily="34" charset="-120"/>
              </a:rPr>
              <a:t>Semantic Engine</a:t>
            </a:r>
            <a:endParaRPr lang="en-US" sz="900" dirty="0"/>
          </a:p>
        </p:txBody>
      </p:sp>
      <p:sp>
        <p:nvSpPr>
          <p:cNvPr id="23" name="Shape 19"/>
          <p:cNvSpPr/>
          <p:nvPr/>
        </p:nvSpPr>
        <p:spPr>
          <a:xfrm>
            <a:off x="857707" y="2857500"/>
            <a:ext cx="457200" cy="457200"/>
          </a:xfrm>
          <a:prstGeom prst="roundRect">
            <a:avLst>
              <a:gd name="adj" fmla="val 83333"/>
            </a:avLst>
          </a:prstGeom>
          <a:solidFill>
            <a:srgbClr val="6366F1">
              <a:alpha val="10000"/>
            </a:srgbClr>
          </a:solidFill>
          <a:ln w="12700">
            <a:solidFill>
              <a:srgbClr val="FFFFFF">
                <a:alpha val="0"/>
              </a:srgbClr>
            </a:solidFill>
            <a:prstDash val="solid"/>
          </a:ln>
        </p:spPr>
      </p:sp>
      <p:pic>
        <p:nvPicPr>
          <p:cNvPr id="24" name="Image 2" descr="preencoded.png">    </p:cNvPr>
          <p:cNvPicPr>
            <a:picLocks noChangeAspect="1"/>
          </p:cNvPicPr>
          <p:nvPr/>
        </p:nvPicPr>
        <p:blipFill>
          <a:blip r:embed="rId3"/>
          <a:srcRect l="0" r="0" t="-14689" b="-14689"/>
          <a:stretch/>
        </p:blipFill>
        <p:spPr>
          <a:xfrm>
            <a:off x="1004926" y="2980944"/>
            <a:ext cx="161849" cy="209398"/>
          </a:xfrm>
          <a:prstGeom prst="rect">
            <a:avLst/>
          </a:prstGeom>
        </p:spPr>
      </p:pic>
      <p:sp>
        <p:nvSpPr>
          <p:cNvPr id="25" name="Text 20"/>
          <p:cNvSpPr txBox="1"/>
          <p:nvPr/>
        </p:nvSpPr>
        <p:spPr>
          <a:xfrm>
            <a:off x="1466698" y="2876702"/>
            <a:ext cx="4096512" cy="277063"/>
          </a:xfrm>
          <a:prstGeom prst="rect">
            <a:avLst/>
          </a:prstGeom>
          <a:noFill/>
          <a:ln/>
        </p:spPr>
        <p:txBody>
          <a:bodyPr wrap="square" lIns="0" tIns="0" rIns="0" bIns="0" rtlCol="0" anchor="ctr"/>
          <a:lstStyle/>
          <a:p>
            <a:pPr algn="l" indent="0" marL="0">
              <a:buNone/>
            </a:pPr>
            <a:r>
              <a:rPr lang="en-US" sz="1800" b="1" dirty="0">
                <a:solidFill>
                  <a:srgbClr val="1E293B"/>
                </a:solidFill>
                <a:latin typeface="Inter" pitchFamily="34" charset="0"/>
                <a:ea typeface="Inter" pitchFamily="34" charset="-122"/>
                <a:cs typeface="Inter" pitchFamily="34" charset="-120"/>
              </a:rPr>
              <a:t>Performance</a:t>
            </a:r>
            <a:endParaRPr lang="en-US" sz="1800" dirty="0"/>
          </a:p>
        </p:txBody>
      </p:sp>
      <p:sp>
        <p:nvSpPr>
          <p:cNvPr id="26" name="Text 21"/>
          <p:cNvSpPr txBox="1"/>
          <p:nvPr/>
        </p:nvSpPr>
        <p:spPr>
          <a:xfrm>
            <a:off x="1466698" y="3191256"/>
            <a:ext cx="4096512" cy="162763"/>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Strong MTEB and LoCo Benchmarks</a:t>
            </a:r>
            <a:endParaRPr lang="en-US" sz="1000" dirty="0"/>
          </a:p>
        </p:txBody>
      </p:sp>
      <p:sp>
        <p:nvSpPr>
          <p:cNvPr id="27" name="Text 22"/>
          <p:cNvSpPr txBox="1"/>
          <p:nvPr/>
        </p:nvSpPr>
        <p:spPr>
          <a:xfrm>
            <a:off x="857707" y="3576218"/>
            <a:ext cx="1592885" cy="162763"/>
          </a:xfrm>
          <a:prstGeom prst="rect">
            <a:avLst/>
          </a:prstGeom>
          <a:noFill/>
          <a:ln/>
        </p:spPr>
        <p:txBody>
          <a:bodyPr wrap="square" lIns="0" tIns="0" rIns="0" bIns="0" rtlCol="0" anchor="ctr"/>
          <a:lstStyle/>
          <a:p>
            <a:pPr algn="l" indent="0" marL="0">
              <a:buNone/>
            </a:pPr>
            <a:r>
              <a:rPr lang="en-US" sz="1000" b="1" dirty="0">
                <a:solidFill>
                  <a:srgbClr val="1E293B"/>
                </a:solidFill>
                <a:latin typeface="Inter" pitchFamily="34" charset="0"/>
                <a:ea typeface="Inter" pitchFamily="34" charset="-122"/>
                <a:cs typeface="Inter" pitchFamily="34" charset="-120"/>
              </a:rPr>
              <a:t>MTEB Average (en)</a:t>
            </a:r>
            <a:endParaRPr lang="en-US" sz="1000" dirty="0"/>
          </a:p>
        </p:txBody>
      </p:sp>
      <p:sp>
        <p:nvSpPr>
          <p:cNvPr id="28" name="Text 23"/>
          <p:cNvSpPr txBox="1"/>
          <p:nvPr/>
        </p:nvSpPr>
        <p:spPr>
          <a:xfrm>
            <a:off x="4267505" y="3571646"/>
            <a:ext cx="400507" cy="171907"/>
          </a:xfrm>
          <a:prstGeom prst="rect">
            <a:avLst/>
          </a:prstGeom>
          <a:noFill/>
          <a:ln/>
        </p:spPr>
        <p:txBody>
          <a:bodyPr wrap="square" lIns="0" tIns="0" rIns="0" bIns="0" rtlCol="0" anchor="ctr"/>
          <a:lstStyle/>
          <a:p>
            <a:pPr algn="l" indent="0" marL="0">
              <a:buNone/>
            </a:pPr>
            <a:r>
              <a:rPr lang="en-US" sz="1000" b="1" dirty="0">
                <a:solidFill>
                  <a:srgbClr val="6366F1"/>
                </a:solidFill>
                <a:latin typeface="IBM Plex Mono" pitchFamily="34" charset="0"/>
                <a:ea typeface="IBM Plex Mono" pitchFamily="34" charset="-122"/>
                <a:cs typeface="IBM Plex Mono" pitchFamily="34" charset="-120"/>
              </a:rPr>
              <a:t>62.39</a:t>
            </a:r>
            <a:endParaRPr lang="en-US" sz="1000" dirty="0"/>
          </a:p>
        </p:txBody>
      </p:sp>
      <p:sp>
        <p:nvSpPr>
          <p:cNvPr id="29" name="Text 24"/>
          <p:cNvSpPr txBox="1"/>
          <p:nvPr/>
        </p:nvSpPr>
        <p:spPr>
          <a:xfrm>
            <a:off x="857707" y="4243730"/>
            <a:ext cx="1128370" cy="162763"/>
          </a:xfrm>
          <a:prstGeom prst="rect">
            <a:avLst/>
          </a:prstGeom>
          <a:noFill/>
          <a:ln/>
        </p:spPr>
        <p:txBody>
          <a:bodyPr wrap="square" lIns="0" tIns="0" rIns="0" bIns="0" rtlCol="0" anchor="ctr"/>
          <a:lstStyle/>
          <a:p>
            <a:pPr algn="l" indent="0" marL="0">
              <a:buNone/>
            </a:pPr>
            <a:r>
              <a:rPr lang="en-US" sz="1000" b="1" dirty="0">
                <a:solidFill>
                  <a:srgbClr val="1E293B"/>
                </a:solidFill>
                <a:latin typeface="Inter" pitchFamily="34" charset="0"/>
                <a:ea typeface="Inter" pitchFamily="34" charset="-122"/>
                <a:cs typeface="Inter" pitchFamily="34" charset="-120"/>
              </a:rPr>
              <a:t>LoCo Average</a:t>
            </a:r>
            <a:endParaRPr lang="en-US" sz="1000" dirty="0"/>
          </a:p>
        </p:txBody>
      </p:sp>
      <p:sp>
        <p:nvSpPr>
          <p:cNvPr id="30" name="Text 25"/>
          <p:cNvSpPr txBox="1"/>
          <p:nvPr/>
        </p:nvSpPr>
        <p:spPr>
          <a:xfrm>
            <a:off x="4267505" y="4238244"/>
            <a:ext cx="400507" cy="171907"/>
          </a:xfrm>
          <a:prstGeom prst="rect">
            <a:avLst/>
          </a:prstGeom>
          <a:noFill/>
          <a:ln/>
        </p:spPr>
        <p:txBody>
          <a:bodyPr wrap="square" lIns="0" tIns="0" rIns="0" bIns="0" rtlCol="0" anchor="ctr"/>
          <a:lstStyle/>
          <a:p>
            <a:pPr algn="l" indent="0" marL="0">
              <a:buNone/>
            </a:pPr>
            <a:r>
              <a:rPr lang="en-US" sz="1000" b="1" dirty="0">
                <a:solidFill>
                  <a:srgbClr val="10B981"/>
                </a:solidFill>
                <a:latin typeface="IBM Plex Mono" pitchFamily="34" charset="0"/>
                <a:ea typeface="IBM Plex Mono" pitchFamily="34" charset="-122"/>
                <a:cs typeface="IBM Plex Mono" pitchFamily="34" charset="-120"/>
              </a:rPr>
              <a:t>85.53</a:t>
            </a:r>
            <a:endParaRPr lang="en-US" sz="1000" dirty="0"/>
          </a:p>
        </p:txBody>
      </p:sp>
      <p:sp>
        <p:nvSpPr>
          <p:cNvPr id="31" name="Shape 26"/>
          <p:cNvSpPr/>
          <p:nvPr/>
        </p:nvSpPr>
        <p:spPr>
          <a:xfrm>
            <a:off x="857707" y="5048402"/>
            <a:ext cx="4762195" cy="961949"/>
          </a:xfrm>
          <a:prstGeom prst="roundRect">
            <a:avLst>
              <a:gd name="adj" fmla="val 22588"/>
            </a:avLst>
          </a:prstGeom>
          <a:solidFill>
            <a:srgbClr val="F1F5F9">
              <a:alpha val="80000"/>
            </a:srgbClr>
          </a:solidFill>
          <a:ln w="12700">
            <a:solidFill>
              <a:srgbClr val="E2E8F0"/>
            </a:solidFill>
            <a:prstDash val="solid"/>
          </a:ln>
        </p:spPr>
      </p:sp>
      <p:sp>
        <p:nvSpPr>
          <p:cNvPr id="32" name="Text 27"/>
          <p:cNvSpPr txBox="1"/>
          <p:nvPr/>
        </p:nvSpPr>
        <p:spPr>
          <a:xfrm>
            <a:off x="1215238" y="5210251"/>
            <a:ext cx="4243730" cy="162763"/>
          </a:xfrm>
          <a:prstGeom prst="rect">
            <a:avLst/>
          </a:prstGeom>
          <a:noFill/>
          <a:ln/>
        </p:spPr>
        <p:txBody>
          <a:bodyPr wrap="square" lIns="0" tIns="0" rIns="0" bIns="0" rtlCol="0" anchor="ctr"/>
          <a:lstStyle/>
          <a:p>
            <a:pPr algn="l" indent="0" marL="0">
              <a:buNone/>
            </a:pPr>
            <a:r>
              <a:rPr lang="en-US" sz="1000" b="1" dirty="0">
                <a:solidFill>
                  <a:srgbClr val="334155"/>
                </a:solidFill>
                <a:latin typeface="Inter" pitchFamily="34" charset="0"/>
                <a:ea typeface="Inter" pitchFamily="34" charset="-122"/>
                <a:cs typeface="Inter" pitchFamily="34" charset="-120"/>
              </a:rPr>
              <a:t> Competitive Edge</a:t>
            </a:r>
            <a:endParaRPr lang="en-US" sz="1000" dirty="0"/>
          </a:p>
        </p:txBody>
      </p:sp>
      <p:sp>
        <p:nvSpPr>
          <p:cNvPr id="33" name="Text 28"/>
          <p:cNvSpPr txBox="1"/>
          <p:nvPr/>
        </p:nvSpPr>
        <p:spPr>
          <a:xfrm>
            <a:off x="1019556" y="5447995"/>
            <a:ext cx="4439412"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Outperforms </a:t>
            </a:r>
            <a:pPr algn="l" indent="0" marL="0">
              <a:buNone/>
            </a:pPr>
            <a:r>
              <a:rPr lang="en-US" sz="1000" b="1" dirty="0">
                <a:solidFill>
                  <a:srgbClr val="1E293B"/>
                </a:solidFill>
                <a:latin typeface="Inter" pitchFamily="34" charset="0"/>
                <a:ea typeface="Inter" pitchFamily="34" charset="-122"/>
                <a:cs typeface="Inter" pitchFamily="34" charset="-120"/>
              </a:rPr>
              <a:t>text-embedding-3-small</a:t>
            </a:r>
            <a:pPr algn="l" indent="0" marL="0">
              <a:buNone/>
            </a:pPr>
            <a:r>
              <a:rPr lang="en-US" sz="1000" dirty="0">
                <a:solidFill>
                  <a:srgbClr val="64748B"/>
                </a:solidFill>
                <a:latin typeface="Inter" pitchFamily="34" charset="0"/>
                <a:ea typeface="Inter" pitchFamily="34" charset="-122"/>
                <a:cs typeface="Inter" pitchFamily="34" charset="-120"/>
              </a:rPr>
              <a:t> and </a:t>
            </a:r>
            <a:pPr algn="l" indent="0" marL="0">
              <a:buNone/>
            </a:pPr>
            <a:r>
              <a:rPr lang="en-US" sz="1000" b="1" dirty="0">
                <a:solidFill>
                  <a:srgbClr val="1E293B"/>
                </a:solidFill>
                <a:latin typeface="Inter" pitchFamily="34" charset="0"/>
                <a:ea typeface="Inter" pitchFamily="34" charset="-122"/>
                <a:cs typeface="Inter" pitchFamily="34" charset="-120"/>
              </a:rPr>
              <a:t>Jina Base V2</a:t>
            </a:r>
            <a:pPr algn="l" indent="0" marL="0">
              <a:buNone/>
            </a:pPr>
            <a:r>
              <a:rPr lang="en-US" sz="1000" dirty="0">
                <a:solidFill>
                  <a:srgbClr val="64748B"/>
                </a:solidFill>
                <a:latin typeface="Inter" pitchFamily="34" charset="0"/>
                <a:ea typeface="Inter" pitchFamily="34" charset="-122"/>
                <a:cs typeface="Inter" pitchFamily="34" charset="-120"/>
              </a:rPr>
              <a:t> while maintaining a fully open, local-first footprint.</a:t>
            </a:r>
            <a:endParaRPr lang="en-US" sz="1000" dirty="0"/>
          </a:p>
        </p:txBody>
      </p:sp>
      <p:pic>
        <p:nvPicPr>
          <p:cNvPr id="34" name="Image 3" descr="preencoded.png">    </p:cNvPr>
          <p:cNvPicPr>
            <a:picLocks noChangeAspect="1"/>
          </p:cNvPicPr>
          <p:nvPr/>
        </p:nvPicPr>
        <p:blipFill>
          <a:blip r:embed="rId4"/>
          <a:srcRect l="0" r="0" t="-13478" b="-13478"/>
          <a:stretch/>
        </p:blipFill>
        <p:spPr>
          <a:xfrm>
            <a:off x="1019556" y="5226710"/>
            <a:ext cx="105156" cy="133502"/>
          </a:xfrm>
          <a:prstGeom prst="rect">
            <a:avLst/>
          </a:prstGeom>
        </p:spPr>
      </p:pic>
      <p:sp>
        <p:nvSpPr>
          <p:cNvPr id="35" name="Shape 29"/>
          <p:cNvSpPr/>
          <p:nvPr/>
        </p:nvSpPr>
        <p:spPr>
          <a:xfrm>
            <a:off x="6572707" y="2857500"/>
            <a:ext cx="457200" cy="457200"/>
          </a:xfrm>
          <a:prstGeom prst="roundRect">
            <a:avLst>
              <a:gd name="adj" fmla="val 83333"/>
            </a:avLst>
          </a:prstGeom>
          <a:solidFill>
            <a:srgbClr val="3B82F6">
              <a:alpha val="10000"/>
            </a:srgbClr>
          </a:solidFill>
          <a:ln w="12700">
            <a:solidFill>
              <a:srgbClr val="FFFFFF">
                <a:alpha val="0"/>
              </a:srgbClr>
            </a:solidFill>
            <a:prstDash val="solid"/>
          </a:ln>
        </p:spPr>
      </p:sp>
      <p:pic>
        <p:nvPicPr>
          <p:cNvPr id="36" name="Image 4" descr="preencoded.png">    </p:cNvPr>
          <p:cNvPicPr>
            <a:picLocks noChangeAspect="1"/>
          </p:cNvPicPr>
          <p:nvPr/>
        </p:nvPicPr>
        <p:blipFill>
          <a:blip r:embed="rId5"/>
          <a:srcRect l="0" r="0" t="-30861" b="-30861"/>
          <a:stretch/>
        </p:blipFill>
        <p:spPr>
          <a:xfrm>
            <a:off x="6719926" y="2980944"/>
            <a:ext cx="161849" cy="209398"/>
          </a:xfrm>
          <a:prstGeom prst="rect">
            <a:avLst/>
          </a:prstGeom>
        </p:spPr>
      </p:pic>
      <p:sp>
        <p:nvSpPr>
          <p:cNvPr id="37" name="Text 30"/>
          <p:cNvSpPr txBox="1"/>
          <p:nvPr/>
        </p:nvSpPr>
        <p:spPr>
          <a:xfrm>
            <a:off x="7181698" y="2876702"/>
            <a:ext cx="4096512" cy="277063"/>
          </a:xfrm>
          <a:prstGeom prst="rect">
            <a:avLst/>
          </a:prstGeom>
          <a:noFill/>
          <a:ln/>
        </p:spPr>
        <p:txBody>
          <a:bodyPr wrap="square" lIns="0" tIns="0" rIns="0" bIns="0" rtlCol="0" anchor="ctr"/>
          <a:lstStyle/>
          <a:p>
            <a:pPr algn="l" indent="0" marL="0">
              <a:buNone/>
            </a:pPr>
            <a:r>
              <a:rPr lang="en-US" sz="1800" b="1" dirty="0">
                <a:solidFill>
                  <a:srgbClr val="1E293B"/>
                </a:solidFill>
                <a:latin typeface="Inter" pitchFamily="34" charset="0"/>
                <a:ea typeface="Inter" pitchFamily="34" charset="-122"/>
                <a:cs typeface="Inter" pitchFamily="34" charset="-120"/>
              </a:rPr>
              <a:t>Technical Capabilities</a:t>
            </a:r>
            <a:endParaRPr lang="en-US" sz="1800" dirty="0"/>
          </a:p>
        </p:txBody>
      </p:sp>
      <p:sp>
        <p:nvSpPr>
          <p:cNvPr id="38" name="Text 31"/>
          <p:cNvSpPr txBox="1"/>
          <p:nvPr/>
        </p:nvSpPr>
        <p:spPr>
          <a:xfrm>
            <a:off x="7181698" y="3191256"/>
            <a:ext cx="4096512" cy="162763"/>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Architectural innovations and outputs</a:t>
            </a:r>
            <a:endParaRPr lang="en-US" sz="1000" dirty="0"/>
          </a:p>
        </p:txBody>
      </p:sp>
      <p:sp>
        <p:nvSpPr>
          <p:cNvPr id="39" name="Shape 32"/>
          <p:cNvSpPr/>
          <p:nvPr/>
        </p:nvSpPr>
        <p:spPr>
          <a:xfrm>
            <a:off x="6572707" y="3715207"/>
            <a:ext cx="304495" cy="304495"/>
          </a:xfrm>
          <a:prstGeom prst="roundRect">
            <a:avLst>
              <a:gd name="adj" fmla="val 150150"/>
            </a:avLst>
          </a:prstGeom>
          <a:solidFill>
            <a:srgbClr val="3B82F6">
              <a:alpha val="5000"/>
            </a:srgbClr>
          </a:solidFill>
          <a:ln w="12700">
            <a:solidFill>
              <a:srgbClr val="FFFFFF">
                <a:alpha val="0"/>
              </a:srgbClr>
            </a:solidFill>
            <a:prstDash val="solid"/>
          </a:ln>
        </p:spPr>
      </p:sp>
      <p:pic>
        <p:nvPicPr>
          <p:cNvPr id="40" name="Image 5" descr="preencoded.png">    </p:cNvPr>
          <p:cNvPicPr>
            <a:picLocks noChangeAspect="1"/>
          </p:cNvPicPr>
          <p:nvPr/>
        </p:nvPicPr>
        <p:blipFill>
          <a:blip r:embed="rId6"/>
          <a:srcRect l="0" r="0" t="-13478" b="-13478"/>
          <a:stretch/>
        </p:blipFill>
        <p:spPr>
          <a:xfrm>
            <a:off x="6672377" y="3800246"/>
            <a:ext cx="105156" cy="133502"/>
          </a:xfrm>
          <a:prstGeom prst="rect">
            <a:avLst/>
          </a:prstGeom>
        </p:spPr>
      </p:pic>
      <p:sp>
        <p:nvSpPr>
          <p:cNvPr id="41" name="Text 33"/>
          <p:cNvSpPr txBox="1"/>
          <p:nvPr/>
        </p:nvSpPr>
        <p:spPr>
          <a:xfrm>
            <a:off x="7029907" y="3666744"/>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Techniques</a:t>
            </a:r>
            <a:endParaRPr lang="en-US" sz="1200" dirty="0"/>
          </a:p>
        </p:txBody>
      </p:sp>
      <p:sp>
        <p:nvSpPr>
          <p:cNvPr id="42" name="Text 34"/>
          <p:cNvSpPr txBox="1"/>
          <p:nvPr/>
        </p:nvSpPr>
        <p:spPr>
          <a:xfrm>
            <a:off x="7029907" y="3895344"/>
            <a:ext cx="4286707" cy="400507"/>
          </a:xfrm>
          <a:prstGeom prst="rect">
            <a:avLst/>
          </a:prstGeom>
          <a:noFill/>
          <a:ln/>
        </p:spPr>
        <p:txBody>
          <a:bodyPr wrap="square" lIns="0" tIns="0" rIns="0" bIns="0" rtlCol="0" anchor="ctr"/>
          <a:lstStyle/>
          <a:p>
            <a:pPr algn="l" indent="0" marL="0">
              <a:buNone/>
            </a:pPr>
            <a:r>
              <a:rPr lang="en-US" sz="1000" dirty="0">
                <a:solidFill>
                  <a:srgbClr val="3B82F6"/>
                </a:solidFill>
                <a:latin typeface="Inter" pitchFamily="34" charset="0"/>
                <a:ea typeface="Inter" pitchFamily="34" charset="-122"/>
                <a:cs typeface="Inter" pitchFamily="34" charset="-120"/>
              </a:rPr>
              <a:t>RoPE</a:t>
            </a:r>
            <a:pPr algn="l" indent="0" marL="0">
              <a:buNone/>
            </a:pPr>
            <a:r>
              <a:rPr lang="en-US" sz="1000" dirty="0">
                <a:solidFill>
                  <a:srgbClr val="64748B"/>
                </a:solidFill>
                <a:latin typeface="Inter" pitchFamily="34" charset="0"/>
                <a:ea typeface="Inter" pitchFamily="34" charset="-122"/>
                <a:cs typeface="Inter" pitchFamily="34" charset="-120"/>
              </a:rPr>
              <a:t> (Rotary Positional Embeddings) + </a:t>
            </a:r>
            <a:pPr algn="l" indent="0" marL="0">
              <a:buNone/>
            </a:pPr>
            <a:r>
              <a:rPr lang="en-US" sz="1000" dirty="0">
                <a:solidFill>
                  <a:srgbClr val="3B82F6"/>
                </a:solidFill>
                <a:latin typeface="Inter" pitchFamily="34" charset="0"/>
                <a:ea typeface="Inter" pitchFamily="34" charset="-122"/>
                <a:cs typeface="Inter" pitchFamily="34" charset="-120"/>
              </a:rPr>
              <a:t>Dynamic NTK Scaling</a:t>
            </a:r>
            <a:pPr algn="l" indent="0" marL="0">
              <a:buNone/>
            </a:pPr>
            <a:r>
              <a:rPr lang="en-US" sz="1000" dirty="0">
                <a:solidFill>
                  <a:srgbClr val="64748B"/>
                </a:solidFill>
                <a:latin typeface="Inter" pitchFamily="34" charset="0"/>
                <a:ea typeface="Inter" pitchFamily="34" charset="-122"/>
                <a:cs typeface="Inter" pitchFamily="34" charset="-120"/>
              </a:rPr>
              <a:t> allows extrapolation to massive context lengths.</a:t>
            </a:r>
            <a:endParaRPr lang="en-US" sz="1000" dirty="0"/>
          </a:p>
        </p:txBody>
      </p:sp>
      <p:sp>
        <p:nvSpPr>
          <p:cNvPr id="43" name="Shape 35"/>
          <p:cNvSpPr/>
          <p:nvPr/>
        </p:nvSpPr>
        <p:spPr>
          <a:xfrm>
            <a:off x="6572707" y="4572000"/>
            <a:ext cx="304495" cy="304495"/>
          </a:xfrm>
          <a:prstGeom prst="roundRect">
            <a:avLst>
              <a:gd name="adj" fmla="val 150150"/>
            </a:avLst>
          </a:prstGeom>
          <a:solidFill>
            <a:srgbClr val="3B82F6">
              <a:alpha val="5000"/>
            </a:srgbClr>
          </a:solidFill>
          <a:ln w="12700">
            <a:solidFill>
              <a:srgbClr val="FFFFFF">
                <a:alpha val="0"/>
              </a:srgbClr>
            </a:solidFill>
            <a:prstDash val="solid"/>
          </a:ln>
        </p:spPr>
      </p:sp>
      <p:pic>
        <p:nvPicPr>
          <p:cNvPr id="44" name="Image 6" descr="preencoded.png">    </p:cNvPr>
          <p:cNvPicPr>
            <a:picLocks noChangeAspect="1"/>
          </p:cNvPicPr>
          <p:nvPr/>
        </p:nvPicPr>
        <p:blipFill>
          <a:blip r:embed="rId7"/>
          <a:srcRect l="0" r="0" t="-5544" b="-5544"/>
          <a:stretch/>
        </p:blipFill>
        <p:spPr>
          <a:xfrm>
            <a:off x="6672377" y="4657954"/>
            <a:ext cx="105156" cy="133502"/>
          </a:xfrm>
          <a:prstGeom prst="rect">
            <a:avLst/>
          </a:prstGeom>
        </p:spPr>
      </p:pic>
      <p:sp>
        <p:nvSpPr>
          <p:cNvPr id="45" name="Text 36"/>
          <p:cNvSpPr txBox="1"/>
          <p:nvPr/>
        </p:nvSpPr>
        <p:spPr>
          <a:xfrm>
            <a:off x="7029907" y="4524451"/>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Output</a:t>
            </a:r>
            <a:endParaRPr lang="en-US" sz="1200" dirty="0"/>
          </a:p>
        </p:txBody>
      </p:sp>
      <p:sp>
        <p:nvSpPr>
          <p:cNvPr id="46" name="Text 37"/>
          <p:cNvSpPr txBox="1"/>
          <p:nvPr/>
        </p:nvSpPr>
        <p:spPr>
          <a:xfrm>
            <a:off x="7029907" y="4753051"/>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Converts document chunks into </a:t>
            </a:r>
            <a:pPr algn="l" indent="0" marL="0">
              <a:buNone/>
            </a:pPr>
            <a:r>
              <a:rPr lang="en-US" sz="1000" b="1" dirty="0">
                <a:solidFill>
                  <a:srgbClr val="1E293B"/>
                </a:solidFill>
                <a:latin typeface="Inter" pitchFamily="34" charset="0"/>
                <a:ea typeface="Inter" pitchFamily="34" charset="-122"/>
                <a:cs typeface="Inter" pitchFamily="34" charset="-120"/>
              </a:rPr>
              <a:t>dense mathematical vectors</a:t>
            </a:r>
            <a:pPr algn="l" indent="0" marL="0">
              <a:buNone/>
            </a:pPr>
            <a:r>
              <a:rPr lang="en-US" sz="1000" dirty="0">
                <a:solidFill>
                  <a:srgbClr val="64748B"/>
                </a:solidFill>
                <a:latin typeface="Inter" pitchFamily="34" charset="0"/>
                <a:ea typeface="Inter" pitchFamily="34" charset="-122"/>
                <a:cs typeface="Inter" pitchFamily="34" charset="-120"/>
              </a:rPr>
              <a:t> optimized for fast, accurate ChromaDB indexing.</a:t>
            </a:r>
            <a:endParaRPr lang="en-US" sz="1000" dirty="0"/>
          </a:p>
        </p:txBody>
      </p:sp>
      <p:sp>
        <p:nvSpPr>
          <p:cNvPr id="47" name="Shape 38"/>
          <p:cNvSpPr/>
          <p:nvPr/>
        </p:nvSpPr>
        <p:spPr>
          <a:xfrm>
            <a:off x="6572707" y="5429707"/>
            <a:ext cx="304495" cy="304495"/>
          </a:xfrm>
          <a:prstGeom prst="roundRect">
            <a:avLst>
              <a:gd name="adj" fmla="val 150150"/>
            </a:avLst>
          </a:prstGeom>
          <a:solidFill>
            <a:srgbClr val="3B82F6">
              <a:alpha val="5000"/>
            </a:srgbClr>
          </a:solidFill>
          <a:ln w="12700">
            <a:solidFill>
              <a:srgbClr val="FFFFFF">
                <a:alpha val="0"/>
              </a:srgbClr>
            </a:solidFill>
            <a:prstDash val="solid"/>
          </a:ln>
        </p:spPr>
      </p:sp>
      <p:pic>
        <p:nvPicPr>
          <p:cNvPr id="48" name="Image 7" descr="preencoded.png">    </p:cNvPr>
          <p:cNvPicPr>
            <a:picLocks noChangeAspect="1"/>
          </p:cNvPicPr>
          <p:nvPr/>
        </p:nvPicPr>
        <p:blipFill>
          <a:blip r:embed="rId8"/>
          <a:srcRect l="0" r="0" t="-13478" b="-13478"/>
          <a:stretch/>
        </p:blipFill>
        <p:spPr>
          <a:xfrm>
            <a:off x="6672377" y="5514746"/>
            <a:ext cx="105156" cy="133502"/>
          </a:xfrm>
          <a:prstGeom prst="rect">
            <a:avLst/>
          </a:prstGeom>
        </p:spPr>
      </p:pic>
      <p:sp>
        <p:nvSpPr>
          <p:cNvPr id="49" name="Text 39"/>
          <p:cNvSpPr txBox="1"/>
          <p:nvPr/>
        </p:nvSpPr>
        <p:spPr>
          <a:xfrm>
            <a:off x="7029907" y="5381244"/>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Result</a:t>
            </a:r>
            <a:endParaRPr lang="en-US" sz="1200" dirty="0"/>
          </a:p>
        </p:txBody>
      </p:sp>
      <p:sp>
        <p:nvSpPr>
          <p:cNvPr id="50" name="Text 40"/>
          <p:cNvSpPr txBox="1"/>
          <p:nvPr/>
        </p:nvSpPr>
        <p:spPr>
          <a:xfrm>
            <a:off x="7029907" y="5609844"/>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Higher retrieval recall yields </a:t>
            </a:r>
            <a:pPr algn="l" indent="0" marL="0">
              <a:buNone/>
            </a:pPr>
            <a:r>
              <a:rPr lang="en-US" sz="1000" b="1" dirty="0">
                <a:solidFill>
                  <a:srgbClr val="10B981"/>
                </a:solidFill>
                <a:latin typeface="Inter" pitchFamily="34" charset="0"/>
                <a:ea typeface="Inter" pitchFamily="34" charset="-122"/>
                <a:cs typeface="Inter" pitchFamily="34" charset="-120"/>
              </a:rPr>
              <a:t>highly grounded answers</a:t>
            </a:r>
            <a:pPr algn="l" indent="0" marL="0">
              <a:buNone/>
            </a:pPr>
            <a:r>
              <a:rPr lang="en-US" sz="1000" dirty="0">
                <a:solidFill>
                  <a:srgbClr val="64748B"/>
                </a:solidFill>
                <a:latin typeface="Inter" pitchFamily="34" charset="0"/>
                <a:ea typeface="Inter" pitchFamily="34" charset="-122"/>
                <a:cs typeface="Inter" pitchFamily="34" charset="-120"/>
              </a:rPr>
              <a:t>, significantly reducing LLM hallucination rates in RAG pipelines.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5" name="Shape 3"/>
          <p:cNvSpPr/>
          <p:nvPr/>
        </p:nvSpPr>
        <p:spPr>
          <a:xfrm>
            <a:off x="571500" y="2572207"/>
            <a:ext cx="5352898" cy="4048049"/>
          </a:xfrm>
          <a:prstGeom prst="roundRect">
            <a:avLst>
              <a:gd name="adj" fmla="val 1276"/>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6" name="Shape 4"/>
          <p:cNvSpPr/>
          <p:nvPr/>
        </p:nvSpPr>
        <p:spPr>
          <a:xfrm>
            <a:off x="571500" y="2572207"/>
            <a:ext cx="5352898" cy="38405"/>
          </a:xfrm>
          <a:prstGeom prst="roundRect">
            <a:avLst>
              <a:gd name="adj" fmla="val 134453"/>
            </a:avLst>
          </a:prstGeom>
          <a:solidFill>
            <a:srgbClr val="3B82F6"/>
          </a:solidFill>
          <a:ln w="12700">
            <a:solidFill>
              <a:srgbClr val="3B82F6">
                <a:alpha val="0"/>
              </a:srgbClr>
            </a:solidFill>
            <a:prstDash val="solid"/>
          </a:ln>
        </p:spPr>
      </p:sp>
      <p:sp>
        <p:nvSpPr>
          <p:cNvPr id="7" name="Shape 5"/>
          <p:cNvSpPr/>
          <p:nvPr/>
        </p:nvSpPr>
        <p:spPr>
          <a:xfrm>
            <a:off x="6286500" y="2572207"/>
            <a:ext cx="5352898" cy="4048049"/>
          </a:xfrm>
          <a:prstGeom prst="roundRect">
            <a:avLst>
              <a:gd name="adj" fmla="val 1276"/>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8" name="Shape 6"/>
          <p:cNvSpPr/>
          <p:nvPr/>
        </p:nvSpPr>
        <p:spPr>
          <a:xfrm>
            <a:off x="6286500" y="2572207"/>
            <a:ext cx="5352898" cy="38405"/>
          </a:xfrm>
          <a:prstGeom prst="roundRect">
            <a:avLst>
              <a:gd name="adj" fmla="val 134453"/>
            </a:avLst>
          </a:prstGeom>
          <a:solidFill>
            <a:srgbClr val="8B5CF6"/>
          </a:solidFill>
          <a:ln w="12700">
            <a:solidFill>
              <a:srgbClr val="8B5CF6">
                <a:alpha val="0"/>
              </a:srgbClr>
            </a:solidFill>
            <a:prstDash val="solid"/>
          </a:ln>
        </p:spPr>
      </p:sp>
      <p:sp>
        <p:nvSpPr>
          <p:cNvPr id="9" name="Shape 7"/>
          <p:cNvSpPr/>
          <p:nvPr/>
        </p:nvSpPr>
        <p:spPr>
          <a:xfrm>
            <a:off x="571500" y="409651"/>
            <a:ext cx="418795" cy="418795"/>
          </a:xfrm>
          <a:prstGeom prst="roundRect">
            <a:avLst>
              <a:gd name="adj" fmla="val 119095"/>
            </a:avLst>
          </a:prstGeom>
          <a:solidFill>
            <a:srgbClr val="6366F1"/>
          </a:solidFill>
          <a:ln w="12700">
            <a:solidFill>
              <a:srgbClr val="FFFFFF">
                <a:alpha val="0"/>
              </a:srgbClr>
            </a:solidFill>
            <a:prstDash val="solid"/>
          </a:ln>
        </p:spPr>
      </p:sp>
      <p:pic>
        <p:nvPicPr>
          <p:cNvPr id="10" name="Image 0" descr="preencoded.png">    </p:cNvPr>
          <p:cNvPicPr>
            <a:picLocks noChangeAspect="1"/>
          </p:cNvPicPr>
          <p:nvPr/>
        </p:nvPicPr>
        <p:blipFill>
          <a:blip r:embed="rId1"/>
          <a:srcRect l="0" r="0" t="-30861" b="-30861"/>
          <a:stretch/>
        </p:blipFill>
        <p:spPr>
          <a:xfrm>
            <a:off x="700430" y="514807"/>
            <a:ext cx="161849" cy="209398"/>
          </a:xfrm>
          <a:prstGeom prst="rect">
            <a:avLst/>
          </a:prstGeom>
        </p:spPr>
      </p:pic>
      <p:sp>
        <p:nvSpPr>
          <p:cNvPr id="11" name="Text 8"/>
          <p:cNvSpPr txBox="1"/>
          <p:nvPr/>
        </p:nvSpPr>
        <p:spPr>
          <a:xfrm>
            <a:off x="1143000" y="47183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12" name="Shape 9"/>
          <p:cNvSpPr/>
          <p:nvPr/>
        </p:nvSpPr>
        <p:spPr>
          <a:xfrm>
            <a:off x="9243670" y="424282"/>
            <a:ext cx="2381098" cy="390449"/>
          </a:xfrm>
          <a:prstGeom prst="roundRect">
            <a:avLst>
              <a:gd name="adj" fmla="val 234192"/>
            </a:avLst>
          </a:prstGeom>
          <a:solidFill>
            <a:srgbClr val="6366F1">
              <a:alpha val="8000"/>
            </a:srgbClr>
          </a:solidFill>
          <a:ln w="12700">
            <a:solidFill>
              <a:srgbClr val="6366F1">
                <a:alpha val="15000"/>
              </a:srgbClr>
            </a:solidFill>
            <a:prstDash val="solid"/>
          </a:ln>
        </p:spPr>
      </p:sp>
      <p:pic>
        <p:nvPicPr>
          <p:cNvPr id="13" name="Image 1" descr="preencoded.png">    </p:cNvPr>
          <p:cNvPicPr>
            <a:picLocks noChangeAspect="1"/>
          </p:cNvPicPr>
          <p:nvPr/>
        </p:nvPicPr>
        <p:blipFill>
          <a:blip r:embed="rId2"/>
          <a:srcRect l="0" r="0" t="-13478" b="-13478"/>
          <a:stretch/>
        </p:blipFill>
        <p:spPr>
          <a:xfrm>
            <a:off x="9443923" y="552298"/>
            <a:ext cx="105156" cy="133502"/>
          </a:xfrm>
          <a:prstGeom prst="rect">
            <a:avLst/>
          </a:prstGeom>
        </p:spPr>
      </p:pic>
      <p:sp>
        <p:nvSpPr>
          <p:cNvPr id="14" name="Text 10"/>
          <p:cNvSpPr txBox="1"/>
          <p:nvPr/>
        </p:nvSpPr>
        <p:spPr>
          <a:xfrm>
            <a:off x="9644177" y="424282"/>
            <a:ext cx="1781251" cy="391363"/>
          </a:xfrm>
          <a:prstGeom prst="rect">
            <a:avLst/>
          </a:prstGeom>
          <a:noFill/>
          <a:ln/>
        </p:spPr>
        <p:txBody>
          <a:bodyPr wrap="square" lIns="0" tIns="0" rIns="0" bIns="0" rtlCol="0" anchor="ctr"/>
          <a:lstStyle/>
          <a:p>
            <a:pPr algn="l" indent="0" marL="0">
              <a:buNone/>
            </a:pPr>
            <a:r>
              <a:rPr lang="en-US" sz="1100" dirty="0">
                <a:solidFill>
                  <a:srgbClr val="6366F1"/>
                </a:solidFill>
                <a:latin typeface="Inter" pitchFamily="34" charset="0"/>
                <a:ea typeface="Inter" pitchFamily="34" charset="-122"/>
                <a:cs typeface="Inter" pitchFamily="34" charset="-120"/>
              </a:rPr>
              <a:t>Local-First = Privacy-First</a:t>
            </a:r>
            <a:endParaRPr lang="en-US" sz="1100" dirty="0"/>
          </a:p>
        </p:txBody>
      </p:sp>
      <p:sp>
        <p:nvSpPr>
          <p:cNvPr id="15" name="Text 11"/>
          <p:cNvSpPr txBox="1"/>
          <p:nvPr/>
        </p:nvSpPr>
        <p:spPr>
          <a:xfrm>
            <a:off x="571500" y="1543507"/>
            <a:ext cx="11049610" cy="400507"/>
          </a:xfrm>
          <a:prstGeom prst="rect">
            <a:avLst/>
          </a:prstGeom>
          <a:noFill/>
          <a:ln/>
        </p:spPr>
        <p:txBody>
          <a:bodyPr wrap="square" lIns="0" tIns="0" rIns="0" bIns="0" rtlCol="0" anchor="ctr"/>
          <a:lstStyle/>
          <a:p>
            <a:pPr algn="l" indent="0" marL="0">
              <a:buNone/>
            </a:pPr>
            <a:r>
              <a:rPr lang="en-US" sz="3100" b="1" spc="-75" kern="0" dirty="0">
                <a:solidFill>
                  <a:srgbClr val="1E293B"/>
                </a:solidFill>
                <a:latin typeface="Inter" pitchFamily="34" charset="0"/>
                <a:ea typeface="Inter" pitchFamily="34" charset="-122"/>
                <a:cs typeface="Inter" pitchFamily="34" charset="-120"/>
              </a:rPr>
              <a:t>Architectural Paradigms: </a:t>
            </a:r>
            <a:pPr algn="l" indent="0" marL="0">
              <a:buNone/>
            </a:pPr>
            <a:r>
              <a:rPr lang="en-US" sz="3100" b="1" spc="-75" kern="0" dirty="0">
                <a:solidFill>
                  <a:srgbClr val="6366F1"/>
                </a:solidFill>
                <a:latin typeface="Inter" pitchFamily="34" charset="0"/>
                <a:ea typeface="Inter" pitchFamily="34" charset="-122"/>
                <a:cs typeface="Inter" pitchFamily="34" charset="-120"/>
              </a:rPr>
              <a:t>RAG vs Agents</a:t>
            </a:r>
            <a:endParaRPr lang="en-US" sz="3100" dirty="0"/>
          </a:p>
        </p:txBody>
      </p:sp>
      <p:sp>
        <p:nvSpPr>
          <p:cNvPr id="16" name="Text 12"/>
          <p:cNvSpPr txBox="1"/>
          <p:nvPr/>
        </p:nvSpPr>
        <p:spPr>
          <a:xfrm>
            <a:off x="571500" y="2038198"/>
            <a:ext cx="7620610" cy="257861"/>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Comparing linear retrieval flows with cyclic autonomous execution.</a:t>
            </a:r>
            <a:endParaRPr lang="en-US" sz="1300" dirty="0"/>
          </a:p>
        </p:txBody>
      </p:sp>
      <p:sp>
        <p:nvSpPr>
          <p:cNvPr id="17" name="Shape 13"/>
          <p:cNvSpPr/>
          <p:nvPr/>
        </p:nvSpPr>
        <p:spPr>
          <a:xfrm>
            <a:off x="571500" y="1143000"/>
            <a:ext cx="1762049" cy="286207"/>
          </a:xfrm>
          <a:prstGeom prst="roundRect">
            <a:avLst>
              <a:gd name="adj" fmla="val 170394"/>
            </a:avLst>
          </a:prstGeom>
          <a:solidFill>
            <a:srgbClr val="6366F1">
              <a:alpha val="8000"/>
            </a:srgbClr>
          </a:solidFill>
          <a:ln w="12700">
            <a:solidFill>
              <a:srgbClr val="6366F1">
                <a:alpha val="20000"/>
              </a:srgbClr>
            </a:solidFill>
            <a:prstDash val="solid"/>
          </a:ln>
        </p:spPr>
      </p:sp>
      <p:sp>
        <p:nvSpPr>
          <p:cNvPr id="18" name="Text 14"/>
          <p:cNvSpPr txBox="1"/>
          <p:nvPr/>
        </p:nvSpPr>
        <p:spPr>
          <a:xfrm>
            <a:off x="571500" y="1143000"/>
            <a:ext cx="1762963"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6366F1"/>
                </a:solidFill>
                <a:latin typeface="Inter" pitchFamily="34" charset="0"/>
                <a:ea typeface="Inter" pitchFamily="34" charset="-122"/>
                <a:cs typeface="Inter" pitchFamily="34" charset="-120"/>
              </a:rPr>
              <a:t>System Capabilities</a:t>
            </a:r>
            <a:endParaRPr lang="en-US" sz="900" dirty="0"/>
          </a:p>
        </p:txBody>
      </p:sp>
      <p:sp>
        <p:nvSpPr>
          <p:cNvPr id="19" name="Shape 15"/>
          <p:cNvSpPr/>
          <p:nvPr/>
        </p:nvSpPr>
        <p:spPr>
          <a:xfrm>
            <a:off x="857707" y="2857500"/>
            <a:ext cx="457200" cy="457200"/>
          </a:xfrm>
          <a:prstGeom prst="roundRect">
            <a:avLst>
              <a:gd name="adj" fmla="val 83333"/>
            </a:avLst>
          </a:prstGeom>
          <a:solidFill>
            <a:srgbClr val="3B82F6">
              <a:alpha val="10000"/>
            </a:srgbClr>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0" r="0" t="-14689" b="-14689"/>
          <a:stretch/>
        </p:blipFill>
        <p:spPr>
          <a:xfrm>
            <a:off x="1004926" y="2980944"/>
            <a:ext cx="161849" cy="209398"/>
          </a:xfrm>
          <a:prstGeom prst="rect">
            <a:avLst/>
          </a:prstGeom>
        </p:spPr>
      </p:pic>
      <p:sp>
        <p:nvSpPr>
          <p:cNvPr id="21" name="Text 16"/>
          <p:cNvSpPr txBox="1"/>
          <p:nvPr/>
        </p:nvSpPr>
        <p:spPr>
          <a:xfrm>
            <a:off x="1466698" y="2876702"/>
            <a:ext cx="4096512" cy="553212"/>
          </a:xfrm>
          <a:prstGeom prst="rect">
            <a:avLst/>
          </a:prstGeom>
          <a:noFill/>
          <a:ln/>
        </p:spPr>
        <p:txBody>
          <a:bodyPr wrap="square" lIns="0" tIns="0" rIns="0" bIns="0" rtlCol="0" anchor="ctr"/>
          <a:lstStyle/>
          <a:p>
            <a:pPr algn="l" indent="0" marL="0">
              <a:buNone/>
            </a:pPr>
            <a:r>
              <a:rPr lang="en-US" sz="1800" b="1" dirty="0">
                <a:solidFill>
                  <a:srgbClr val="1E293B"/>
                </a:solidFill>
                <a:latin typeface="Inter" pitchFamily="34" charset="0"/>
                <a:ea typeface="Inter" pitchFamily="34" charset="-122"/>
                <a:cs typeface="Inter" pitchFamily="34" charset="-120"/>
              </a:rPr>
              <a:t>RAG (Retrieval-Augmented Generation)</a:t>
            </a:r>
            <a:endParaRPr lang="en-US" sz="1800" dirty="0"/>
          </a:p>
        </p:txBody>
      </p:sp>
      <p:sp>
        <p:nvSpPr>
          <p:cNvPr id="22" name="Text 17"/>
          <p:cNvSpPr txBox="1"/>
          <p:nvPr/>
        </p:nvSpPr>
        <p:spPr>
          <a:xfrm>
            <a:off x="1466698" y="3467405"/>
            <a:ext cx="4096512" cy="162763"/>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Linear, knowledge-focused flow</a:t>
            </a:r>
            <a:endParaRPr lang="en-US" sz="1000" dirty="0"/>
          </a:p>
        </p:txBody>
      </p:sp>
      <p:sp>
        <p:nvSpPr>
          <p:cNvPr id="23" name="Shape 18"/>
          <p:cNvSpPr/>
          <p:nvPr/>
        </p:nvSpPr>
        <p:spPr>
          <a:xfrm>
            <a:off x="857707" y="3857854"/>
            <a:ext cx="304495" cy="304495"/>
          </a:xfrm>
          <a:prstGeom prst="roundRect">
            <a:avLst>
              <a:gd name="adj" fmla="val 150150"/>
            </a:avLst>
          </a:prstGeom>
          <a:solidFill>
            <a:srgbClr val="3B82F6">
              <a:alpha val="5000"/>
            </a:srgbClr>
          </a:solidFill>
          <a:ln w="12700">
            <a:solidFill>
              <a:srgbClr val="FFFFFF">
                <a:alpha val="0"/>
              </a:srgbClr>
            </a:solidFill>
            <a:prstDash val="solid"/>
          </a:ln>
        </p:spPr>
      </p:sp>
      <p:pic>
        <p:nvPicPr>
          <p:cNvPr id="24" name="Image 3" descr="preencoded.png">    </p:cNvPr>
          <p:cNvPicPr>
            <a:picLocks noChangeAspect="1"/>
          </p:cNvPicPr>
          <p:nvPr/>
        </p:nvPicPr>
        <p:blipFill>
          <a:blip r:embed="rId4"/>
          <a:srcRect l="0" r="0" t="-13478" b="-13478"/>
          <a:stretch/>
        </p:blipFill>
        <p:spPr>
          <a:xfrm>
            <a:off x="957377" y="3943807"/>
            <a:ext cx="105156" cy="133502"/>
          </a:xfrm>
          <a:prstGeom prst="rect">
            <a:avLst/>
          </a:prstGeom>
        </p:spPr>
      </p:pic>
      <p:sp>
        <p:nvSpPr>
          <p:cNvPr id="25" name="Text 19"/>
          <p:cNvSpPr txBox="1"/>
          <p:nvPr/>
        </p:nvSpPr>
        <p:spPr>
          <a:xfrm>
            <a:off x="1314907" y="3810305"/>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Purpose</a:t>
            </a:r>
            <a:endParaRPr lang="en-US" sz="1200" dirty="0"/>
          </a:p>
        </p:txBody>
      </p:sp>
      <p:sp>
        <p:nvSpPr>
          <p:cNvPr id="26" name="Text 20"/>
          <p:cNvSpPr txBox="1"/>
          <p:nvPr/>
        </p:nvSpPr>
        <p:spPr>
          <a:xfrm>
            <a:off x="1314907" y="4038905"/>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Augment the foundation model's knowledge by retrieving relevant external data before generating an answer.</a:t>
            </a:r>
            <a:endParaRPr lang="en-US" sz="1000" dirty="0"/>
          </a:p>
        </p:txBody>
      </p:sp>
      <p:sp>
        <p:nvSpPr>
          <p:cNvPr id="27" name="Shape 21"/>
          <p:cNvSpPr/>
          <p:nvPr/>
        </p:nvSpPr>
        <p:spPr>
          <a:xfrm>
            <a:off x="857707" y="4714646"/>
            <a:ext cx="304495" cy="304495"/>
          </a:xfrm>
          <a:prstGeom prst="roundRect">
            <a:avLst>
              <a:gd name="adj" fmla="val 150150"/>
            </a:avLst>
          </a:prstGeom>
          <a:solidFill>
            <a:srgbClr val="3B82F6">
              <a:alpha val="5000"/>
            </a:srgbClr>
          </a:solidFill>
          <a:ln w="12700">
            <a:solidFill>
              <a:srgbClr val="FFFFFF">
                <a:alpha val="0"/>
              </a:srgbClr>
            </a:solidFill>
            <a:prstDash val="solid"/>
          </a:ln>
        </p:spPr>
      </p:sp>
      <p:pic>
        <p:nvPicPr>
          <p:cNvPr id="28" name="Image 4" descr="preencoded.png">    </p:cNvPr>
          <p:cNvPicPr>
            <a:picLocks noChangeAspect="1"/>
          </p:cNvPicPr>
          <p:nvPr/>
        </p:nvPicPr>
        <p:blipFill>
          <a:blip r:embed="rId5"/>
          <a:srcRect l="0" r="0" t="-29348" b="-29348"/>
          <a:stretch/>
        </p:blipFill>
        <p:spPr>
          <a:xfrm>
            <a:off x="957377" y="4800600"/>
            <a:ext cx="105156" cy="133502"/>
          </a:xfrm>
          <a:prstGeom prst="rect">
            <a:avLst/>
          </a:prstGeom>
        </p:spPr>
      </p:pic>
      <p:sp>
        <p:nvSpPr>
          <p:cNvPr id="29" name="Text 22"/>
          <p:cNvSpPr txBox="1"/>
          <p:nvPr/>
        </p:nvSpPr>
        <p:spPr>
          <a:xfrm>
            <a:off x="1314907" y="4667098"/>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Strengths</a:t>
            </a:r>
            <a:endParaRPr lang="en-US" sz="1200" dirty="0"/>
          </a:p>
        </p:txBody>
      </p:sp>
      <p:sp>
        <p:nvSpPr>
          <p:cNvPr id="30" name="Text 23"/>
          <p:cNvSpPr txBox="1"/>
          <p:nvPr/>
        </p:nvSpPr>
        <p:spPr>
          <a:xfrm>
            <a:off x="1314907" y="4895698"/>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Produces highly grounded answers, reduces hallucination, and features a simple, predictable control flow.</a:t>
            </a:r>
            <a:endParaRPr lang="en-US" sz="1000" dirty="0"/>
          </a:p>
        </p:txBody>
      </p:sp>
      <p:sp>
        <p:nvSpPr>
          <p:cNvPr id="31" name="Shape 24"/>
          <p:cNvSpPr/>
          <p:nvPr/>
        </p:nvSpPr>
        <p:spPr>
          <a:xfrm>
            <a:off x="857707" y="5572354"/>
            <a:ext cx="304495" cy="304495"/>
          </a:xfrm>
          <a:prstGeom prst="roundRect">
            <a:avLst>
              <a:gd name="adj" fmla="val 150150"/>
            </a:avLst>
          </a:prstGeom>
          <a:solidFill>
            <a:srgbClr val="3B82F6">
              <a:alpha val="5000"/>
            </a:srgbClr>
          </a:solidFill>
          <a:ln w="12700">
            <a:solidFill>
              <a:srgbClr val="FFFFFF">
                <a:alpha val="0"/>
              </a:srgbClr>
            </a:solidFill>
            <a:prstDash val="solid"/>
          </a:ln>
        </p:spPr>
      </p:sp>
      <p:pic>
        <p:nvPicPr>
          <p:cNvPr id="32" name="Image 5" descr="preencoded.png">    </p:cNvPr>
          <p:cNvPicPr>
            <a:picLocks noChangeAspect="1"/>
          </p:cNvPicPr>
          <p:nvPr/>
        </p:nvPicPr>
        <p:blipFill>
          <a:blip r:embed="rId6"/>
          <a:srcRect l="0" r="0" t="-13478" b="-13478"/>
          <a:stretch/>
        </p:blipFill>
        <p:spPr>
          <a:xfrm>
            <a:off x="957377" y="5658307"/>
            <a:ext cx="105156" cy="133502"/>
          </a:xfrm>
          <a:prstGeom prst="rect">
            <a:avLst/>
          </a:prstGeom>
        </p:spPr>
      </p:pic>
      <p:sp>
        <p:nvSpPr>
          <p:cNvPr id="33" name="Text 25"/>
          <p:cNvSpPr txBox="1"/>
          <p:nvPr/>
        </p:nvSpPr>
        <p:spPr>
          <a:xfrm>
            <a:off x="1314907" y="5524805"/>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Use Cases</a:t>
            </a:r>
            <a:endParaRPr lang="en-US" sz="1200" dirty="0"/>
          </a:p>
        </p:txBody>
      </p:sp>
      <p:sp>
        <p:nvSpPr>
          <p:cNvPr id="34" name="Text 26"/>
          <p:cNvSpPr txBox="1"/>
          <p:nvPr/>
        </p:nvSpPr>
        <p:spPr>
          <a:xfrm>
            <a:off x="1314907" y="5753405"/>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Q&amp;A bots, knowledge base search, semantic document querying, and static factual retrieval.</a:t>
            </a:r>
            <a:endParaRPr lang="en-US" sz="1000" dirty="0"/>
          </a:p>
        </p:txBody>
      </p:sp>
      <p:sp>
        <p:nvSpPr>
          <p:cNvPr id="35" name="Shape 27"/>
          <p:cNvSpPr/>
          <p:nvPr/>
        </p:nvSpPr>
        <p:spPr>
          <a:xfrm>
            <a:off x="6572707" y="2857500"/>
            <a:ext cx="457200" cy="457200"/>
          </a:xfrm>
          <a:prstGeom prst="roundRect">
            <a:avLst>
              <a:gd name="adj" fmla="val 83333"/>
            </a:avLst>
          </a:prstGeom>
          <a:solidFill>
            <a:srgbClr val="8B5CF6">
              <a:alpha val="10000"/>
            </a:srgbClr>
          </a:solidFill>
          <a:ln w="12700">
            <a:solidFill>
              <a:srgbClr val="FFFFFF">
                <a:alpha val="0"/>
              </a:srgbClr>
            </a:solidFill>
            <a:prstDash val="solid"/>
          </a:ln>
        </p:spPr>
      </p:sp>
      <p:pic>
        <p:nvPicPr>
          <p:cNvPr id="36" name="Image 6" descr="preencoded.png">    </p:cNvPr>
          <p:cNvPicPr>
            <a:picLocks noChangeAspect="1"/>
          </p:cNvPicPr>
          <p:nvPr/>
        </p:nvPicPr>
        <p:blipFill>
          <a:blip r:embed="rId7"/>
          <a:srcRect l="0" r="0" t="-30861" b="-30861"/>
          <a:stretch/>
        </p:blipFill>
        <p:spPr>
          <a:xfrm>
            <a:off x="6719926" y="2980944"/>
            <a:ext cx="161849" cy="209398"/>
          </a:xfrm>
          <a:prstGeom prst="rect">
            <a:avLst/>
          </a:prstGeom>
        </p:spPr>
      </p:pic>
      <p:sp>
        <p:nvSpPr>
          <p:cNvPr id="37" name="Text 28"/>
          <p:cNvSpPr txBox="1"/>
          <p:nvPr/>
        </p:nvSpPr>
        <p:spPr>
          <a:xfrm>
            <a:off x="7181698" y="2876702"/>
            <a:ext cx="4096512" cy="277063"/>
          </a:xfrm>
          <a:prstGeom prst="rect">
            <a:avLst/>
          </a:prstGeom>
          <a:noFill/>
          <a:ln/>
        </p:spPr>
        <p:txBody>
          <a:bodyPr wrap="square" lIns="0" tIns="0" rIns="0" bIns="0" rtlCol="0" anchor="ctr"/>
          <a:lstStyle/>
          <a:p>
            <a:pPr algn="l" indent="0" marL="0">
              <a:buNone/>
            </a:pPr>
            <a:r>
              <a:rPr lang="en-US" sz="1800" b="1" dirty="0">
                <a:solidFill>
                  <a:srgbClr val="1E293B"/>
                </a:solidFill>
                <a:latin typeface="Inter" pitchFamily="34" charset="0"/>
                <a:ea typeface="Inter" pitchFamily="34" charset="-122"/>
                <a:cs typeface="Inter" pitchFamily="34" charset="-120"/>
              </a:rPr>
              <a:t>Agents</a:t>
            </a:r>
            <a:endParaRPr lang="en-US" sz="1800" dirty="0"/>
          </a:p>
        </p:txBody>
      </p:sp>
      <p:sp>
        <p:nvSpPr>
          <p:cNvPr id="38" name="Text 29"/>
          <p:cNvSpPr txBox="1"/>
          <p:nvPr/>
        </p:nvSpPr>
        <p:spPr>
          <a:xfrm>
            <a:off x="7181698" y="3191256"/>
            <a:ext cx="4096512" cy="162763"/>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Cyclic, stateful autonomous execution</a:t>
            </a:r>
            <a:endParaRPr lang="en-US" sz="1000" dirty="0"/>
          </a:p>
        </p:txBody>
      </p:sp>
      <p:sp>
        <p:nvSpPr>
          <p:cNvPr id="39" name="Shape 30"/>
          <p:cNvSpPr/>
          <p:nvPr/>
        </p:nvSpPr>
        <p:spPr>
          <a:xfrm>
            <a:off x="6572707" y="3857854"/>
            <a:ext cx="304495" cy="304495"/>
          </a:xfrm>
          <a:prstGeom prst="roundRect">
            <a:avLst>
              <a:gd name="adj" fmla="val 150150"/>
            </a:avLst>
          </a:prstGeom>
          <a:solidFill>
            <a:srgbClr val="8B5CF6">
              <a:alpha val="5000"/>
            </a:srgbClr>
          </a:solidFill>
          <a:ln w="12700">
            <a:solidFill>
              <a:srgbClr val="FFFFFF">
                <a:alpha val="0"/>
              </a:srgbClr>
            </a:solidFill>
            <a:prstDash val="solid"/>
          </a:ln>
        </p:spPr>
      </p:sp>
      <p:pic>
        <p:nvPicPr>
          <p:cNvPr id="40" name="Image 7" descr="preencoded.png">    </p:cNvPr>
          <p:cNvPicPr>
            <a:picLocks noChangeAspect="1"/>
          </p:cNvPicPr>
          <p:nvPr/>
        </p:nvPicPr>
        <p:blipFill>
          <a:blip r:embed="rId8"/>
          <a:srcRect l="0" r="0" t="-13478" b="-13478"/>
          <a:stretch/>
        </p:blipFill>
        <p:spPr>
          <a:xfrm>
            <a:off x="6672377" y="3943807"/>
            <a:ext cx="105156" cy="133502"/>
          </a:xfrm>
          <a:prstGeom prst="rect">
            <a:avLst/>
          </a:prstGeom>
        </p:spPr>
      </p:pic>
      <p:sp>
        <p:nvSpPr>
          <p:cNvPr id="41" name="Text 31"/>
          <p:cNvSpPr txBox="1"/>
          <p:nvPr/>
        </p:nvSpPr>
        <p:spPr>
          <a:xfrm>
            <a:off x="7029907" y="3810305"/>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Purpose</a:t>
            </a:r>
            <a:endParaRPr lang="en-US" sz="1200" dirty="0"/>
          </a:p>
        </p:txBody>
      </p:sp>
      <p:sp>
        <p:nvSpPr>
          <p:cNvPr id="42" name="Text 32"/>
          <p:cNvSpPr txBox="1"/>
          <p:nvPr/>
        </p:nvSpPr>
        <p:spPr>
          <a:xfrm>
            <a:off x="7029907" y="4038905"/>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Enable the LLM to use tools, correct errors, and dynamically interact with environments through cyclic reasoning loops.</a:t>
            </a:r>
            <a:endParaRPr lang="en-US" sz="1000" dirty="0"/>
          </a:p>
        </p:txBody>
      </p:sp>
      <p:sp>
        <p:nvSpPr>
          <p:cNvPr id="43" name="Shape 33"/>
          <p:cNvSpPr/>
          <p:nvPr/>
        </p:nvSpPr>
        <p:spPr>
          <a:xfrm>
            <a:off x="6572707" y="4714646"/>
            <a:ext cx="304495" cy="304495"/>
          </a:xfrm>
          <a:prstGeom prst="roundRect">
            <a:avLst>
              <a:gd name="adj" fmla="val 150150"/>
            </a:avLst>
          </a:prstGeom>
          <a:solidFill>
            <a:srgbClr val="8B5CF6">
              <a:alpha val="5000"/>
            </a:srgbClr>
          </a:solidFill>
          <a:ln w="12700">
            <a:solidFill>
              <a:srgbClr val="FFFFFF">
                <a:alpha val="0"/>
              </a:srgbClr>
            </a:solidFill>
            <a:prstDash val="solid"/>
          </a:ln>
        </p:spPr>
      </p:sp>
      <p:pic>
        <p:nvPicPr>
          <p:cNvPr id="44" name="Image 8" descr="preencoded.png">    </p:cNvPr>
          <p:cNvPicPr>
            <a:picLocks noChangeAspect="1"/>
          </p:cNvPicPr>
          <p:nvPr/>
        </p:nvPicPr>
        <p:blipFill>
          <a:blip r:embed="rId9"/>
          <a:srcRect l="0" r="0" t="-29348" b="-29348"/>
          <a:stretch/>
        </p:blipFill>
        <p:spPr>
          <a:xfrm>
            <a:off x="6672377" y="4800600"/>
            <a:ext cx="105156" cy="133502"/>
          </a:xfrm>
          <a:prstGeom prst="rect">
            <a:avLst/>
          </a:prstGeom>
        </p:spPr>
      </p:pic>
      <p:sp>
        <p:nvSpPr>
          <p:cNvPr id="45" name="Text 34"/>
          <p:cNvSpPr txBox="1"/>
          <p:nvPr/>
        </p:nvSpPr>
        <p:spPr>
          <a:xfrm>
            <a:off x="7029907" y="4667098"/>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Strengths</a:t>
            </a:r>
            <a:endParaRPr lang="en-US" sz="1200" dirty="0"/>
          </a:p>
        </p:txBody>
      </p:sp>
      <p:sp>
        <p:nvSpPr>
          <p:cNvPr id="46" name="Text 35"/>
          <p:cNvSpPr txBox="1"/>
          <p:nvPr/>
        </p:nvSpPr>
        <p:spPr>
          <a:xfrm>
            <a:off x="7029907" y="4895698"/>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Autonomy via LangGraph, multi-step planning, iterative self-correction, and API integration.</a:t>
            </a:r>
            <a:endParaRPr lang="en-US" sz="1000" dirty="0"/>
          </a:p>
        </p:txBody>
      </p:sp>
      <p:sp>
        <p:nvSpPr>
          <p:cNvPr id="47" name="Shape 36"/>
          <p:cNvSpPr/>
          <p:nvPr/>
        </p:nvSpPr>
        <p:spPr>
          <a:xfrm>
            <a:off x="6572707" y="5572354"/>
            <a:ext cx="304495" cy="304495"/>
          </a:xfrm>
          <a:prstGeom prst="roundRect">
            <a:avLst>
              <a:gd name="adj" fmla="val 150150"/>
            </a:avLst>
          </a:prstGeom>
          <a:solidFill>
            <a:srgbClr val="8B5CF6">
              <a:alpha val="5000"/>
            </a:srgbClr>
          </a:solidFill>
          <a:ln w="12700">
            <a:solidFill>
              <a:srgbClr val="FFFFFF">
                <a:alpha val="0"/>
              </a:srgbClr>
            </a:solidFill>
            <a:prstDash val="solid"/>
          </a:ln>
        </p:spPr>
      </p:sp>
      <p:pic>
        <p:nvPicPr>
          <p:cNvPr id="48" name="Image 9" descr="preencoded.png">    </p:cNvPr>
          <p:cNvPicPr>
            <a:picLocks noChangeAspect="1"/>
          </p:cNvPicPr>
          <p:nvPr/>
        </p:nvPicPr>
        <p:blipFill>
          <a:blip r:embed="rId10"/>
          <a:srcRect l="0" r="0" t="-13478" b="-13478"/>
          <a:stretch/>
        </p:blipFill>
        <p:spPr>
          <a:xfrm>
            <a:off x="6672377" y="5658307"/>
            <a:ext cx="105156" cy="133502"/>
          </a:xfrm>
          <a:prstGeom prst="rect">
            <a:avLst/>
          </a:prstGeom>
        </p:spPr>
      </p:pic>
      <p:sp>
        <p:nvSpPr>
          <p:cNvPr id="49" name="Text 37"/>
          <p:cNvSpPr txBox="1"/>
          <p:nvPr/>
        </p:nvSpPr>
        <p:spPr>
          <a:xfrm>
            <a:off x="7029907" y="5524805"/>
            <a:ext cx="4286707" cy="191110"/>
          </a:xfrm>
          <a:prstGeom prst="rect">
            <a:avLst/>
          </a:prstGeom>
          <a:noFill/>
          <a:ln/>
        </p:spPr>
        <p:txBody>
          <a:bodyPr wrap="square" lIns="0" tIns="0" rIns="0" bIns="0" rtlCol="0" anchor="ctr"/>
          <a:lstStyle/>
          <a:p>
            <a:pPr algn="l" indent="0" marL="0">
              <a:buNone/>
            </a:pPr>
            <a:r>
              <a:rPr lang="en-US" sz="1200" b="1" dirty="0">
                <a:solidFill>
                  <a:srgbClr val="1E293B"/>
                </a:solidFill>
                <a:latin typeface="Inter" pitchFamily="34" charset="0"/>
                <a:ea typeface="Inter" pitchFamily="34" charset="-122"/>
                <a:cs typeface="Inter" pitchFamily="34" charset="-120"/>
              </a:rPr>
              <a:t>Use Cases</a:t>
            </a:r>
            <a:endParaRPr lang="en-US" sz="1200" dirty="0"/>
          </a:p>
        </p:txBody>
      </p:sp>
      <p:sp>
        <p:nvSpPr>
          <p:cNvPr id="50" name="Text 38"/>
          <p:cNvSpPr txBox="1"/>
          <p:nvPr/>
        </p:nvSpPr>
        <p:spPr>
          <a:xfrm>
            <a:off x="7029907" y="5753405"/>
            <a:ext cx="4286707" cy="400507"/>
          </a:xfrm>
          <a:prstGeom prst="rect">
            <a:avLst/>
          </a:prstGeom>
          <a:noFill/>
          <a:ln/>
        </p:spPr>
        <p:txBody>
          <a:bodyPr wrap="square" lIns="0" tIns="0" rIns="0" bIns="0" rtlCol="0" anchor="ctr"/>
          <a:lstStyle/>
          <a:p>
            <a:pPr algn="l" indent="0" marL="0">
              <a:buNone/>
            </a:pPr>
            <a:r>
              <a:rPr lang="en-US" sz="1000" dirty="0">
                <a:solidFill>
                  <a:srgbClr val="64748B"/>
                </a:solidFill>
                <a:latin typeface="Inter" pitchFamily="34" charset="0"/>
                <a:ea typeface="Inter" pitchFamily="34" charset="-122"/>
                <a:cs typeface="Inter" pitchFamily="34" charset="-120"/>
              </a:rPr>
              <a:t>Research assistants, multi-step workflow automation, code generation, and complex data synthesis tasks.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5" name="Image 0" descr="preencoded.png">    </p:cNvPr>
          <p:cNvPicPr>
            <a:picLocks noChangeAspect="1"/>
          </p:cNvPicPr>
          <p:nvPr/>
        </p:nvPicPr>
        <p:blipFill>
          <a:blip r:embed="rId1"/>
          <a:srcRect l="0" r="0" t="-401" b="-401"/>
          <a:stretch/>
        </p:blipFill>
        <p:spPr>
          <a:xfrm>
            <a:off x="857707" y="4000500"/>
            <a:ext cx="10477195" cy="38405"/>
          </a:xfrm>
          <a:prstGeom prst="rect">
            <a:avLst/>
          </a:prstGeom>
        </p:spPr>
      </p:pic>
      <p:pic>
        <p:nvPicPr>
          <p:cNvPr id="6" name="Image 1" descr="preencoded.png">    </p:cNvPr>
          <p:cNvPicPr>
            <a:picLocks noChangeAspect="1"/>
          </p:cNvPicPr>
          <p:nvPr/>
        </p:nvPicPr>
        <p:blipFill>
          <a:blip r:embed="rId2"/>
          <a:srcRect l="-424" r="-424" t="0" b="0"/>
          <a:stretch/>
        </p:blipFill>
        <p:spPr>
          <a:xfrm>
            <a:off x="1324051" y="3619195"/>
            <a:ext cx="19202" cy="323698"/>
          </a:xfrm>
          <a:prstGeom prst="rect">
            <a:avLst/>
          </a:prstGeom>
        </p:spPr>
      </p:pic>
      <p:pic>
        <p:nvPicPr>
          <p:cNvPr id="7" name="Image 2" descr="preencoded.png">    </p:cNvPr>
          <p:cNvPicPr>
            <a:picLocks noChangeAspect="1"/>
          </p:cNvPicPr>
          <p:nvPr/>
        </p:nvPicPr>
        <p:blipFill>
          <a:blip r:embed="rId3"/>
          <a:srcRect l="-411" r="-411" t="0" b="0"/>
          <a:stretch/>
        </p:blipFill>
        <p:spPr>
          <a:xfrm>
            <a:off x="3038551" y="4095598"/>
            <a:ext cx="19202" cy="666598"/>
          </a:xfrm>
          <a:prstGeom prst="rect">
            <a:avLst/>
          </a:prstGeom>
        </p:spPr>
      </p:pic>
      <p:pic>
        <p:nvPicPr>
          <p:cNvPr id="8" name="Image 3" descr="preencoded.png">    </p:cNvPr>
          <p:cNvPicPr>
            <a:picLocks noChangeAspect="1"/>
          </p:cNvPicPr>
          <p:nvPr/>
        </p:nvPicPr>
        <p:blipFill>
          <a:blip r:embed="rId4"/>
          <a:srcRect l="-424" r="-424" t="0" b="0"/>
          <a:stretch/>
        </p:blipFill>
        <p:spPr>
          <a:xfrm>
            <a:off x="4753051" y="3619195"/>
            <a:ext cx="19202" cy="323698"/>
          </a:xfrm>
          <a:prstGeom prst="rect">
            <a:avLst/>
          </a:prstGeom>
        </p:spPr>
      </p:pic>
      <p:pic>
        <p:nvPicPr>
          <p:cNvPr id="9" name="Image 4" descr="preencoded.png">    </p:cNvPr>
          <p:cNvPicPr>
            <a:picLocks noChangeAspect="1"/>
          </p:cNvPicPr>
          <p:nvPr/>
        </p:nvPicPr>
        <p:blipFill>
          <a:blip r:embed="rId5"/>
          <a:srcRect l="-411" r="-411" t="0" b="0"/>
          <a:stretch/>
        </p:blipFill>
        <p:spPr>
          <a:xfrm>
            <a:off x="6467551" y="4095598"/>
            <a:ext cx="19202" cy="666598"/>
          </a:xfrm>
          <a:prstGeom prst="rect">
            <a:avLst/>
          </a:prstGeom>
        </p:spPr>
      </p:pic>
      <p:pic>
        <p:nvPicPr>
          <p:cNvPr id="10" name="Image 5" descr="preencoded.png">    </p:cNvPr>
          <p:cNvPicPr>
            <a:picLocks noChangeAspect="1"/>
          </p:cNvPicPr>
          <p:nvPr/>
        </p:nvPicPr>
        <p:blipFill>
          <a:blip r:embed="rId6"/>
          <a:srcRect l="-424" r="-424" t="0" b="0"/>
          <a:stretch/>
        </p:blipFill>
        <p:spPr>
          <a:xfrm>
            <a:off x="8182051" y="3619195"/>
            <a:ext cx="19202" cy="323698"/>
          </a:xfrm>
          <a:prstGeom prst="rect">
            <a:avLst/>
          </a:prstGeom>
        </p:spPr>
      </p:pic>
      <p:pic>
        <p:nvPicPr>
          <p:cNvPr id="11" name="Image 6" descr="preencoded.png">    </p:cNvPr>
          <p:cNvPicPr>
            <a:picLocks noChangeAspect="1"/>
          </p:cNvPicPr>
          <p:nvPr/>
        </p:nvPicPr>
        <p:blipFill>
          <a:blip r:embed="rId7"/>
          <a:srcRect l="-411" r="-411" t="0" b="0"/>
          <a:stretch/>
        </p:blipFill>
        <p:spPr>
          <a:xfrm>
            <a:off x="9896551" y="4095598"/>
            <a:ext cx="19202" cy="666598"/>
          </a:xfrm>
          <a:prstGeom prst="rect">
            <a:avLst/>
          </a:prstGeom>
        </p:spPr>
      </p:pic>
      <p:sp>
        <p:nvSpPr>
          <p:cNvPr id="12" name="Shape 3"/>
          <p:cNvSpPr/>
          <p:nvPr/>
        </p:nvSpPr>
        <p:spPr>
          <a:xfrm>
            <a:off x="571500" y="2095805"/>
            <a:ext cx="1543507" cy="1571854"/>
          </a:xfrm>
          <a:prstGeom prst="roundRect">
            <a:avLst>
              <a:gd name="adj" fmla="val 877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13" name="Shape 4"/>
          <p:cNvSpPr/>
          <p:nvPr/>
        </p:nvSpPr>
        <p:spPr>
          <a:xfrm>
            <a:off x="571500" y="2095805"/>
            <a:ext cx="1543507" cy="38405"/>
          </a:xfrm>
          <a:prstGeom prst="roundRect">
            <a:avLst>
              <a:gd name="adj" fmla="val 352732"/>
            </a:avLst>
          </a:prstGeom>
          <a:solidFill>
            <a:srgbClr val="6366F1"/>
          </a:solidFill>
          <a:ln w="12700">
            <a:solidFill>
              <a:srgbClr val="6366F1">
                <a:alpha val="0"/>
              </a:srgbClr>
            </a:solidFill>
            <a:prstDash val="solid"/>
          </a:ln>
        </p:spPr>
      </p:sp>
      <p:sp>
        <p:nvSpPr>
          <p:cNvPr id="14" name="Shape 5"/>
          <p:cNvSpPr/>
          <p:nvPr/>
        </p:nvSpPr>
        <p:spPr>
          <a:xfrm>
            <a:off x="2286000" y="4762195"/>
            <a:ext cx="1543507" cy="1571854"/>
          </a:xfrm>
          <a:prstGeom prst="roundRect">
            <a:avLst>
              <a:gd name="adj" fmla="val 877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15" name="Shape 6"/>
          <p:cNvSpPr/>
          <p:nvPr/>
        </p:nvSpPr>
        <p:spPr>
          <a:xfrm>
            <a:off x="2286000" y="6295644"/>
            <a:ext cx="1543507" cy="38405"/>
          </a:xfrm>
          <a:prstGeom prst="roundRect">
            <a:avLst>
              <a:gd name="adj" fmla="val 352732"/>
            </a:avLst>
          </a:prstGeom>
          <a:solidFill>
            <a:srgbClr val="3B82F6"/>
          </a:solidFill>
          <a:ln w="12700">
            <a:solidFill>
              <a:srgbClr val="3B82F6">
                <a:alpha val="0"/>
              </a:srgbClr>
            </a:solidFill>
            <a:prstDash val="solid"/>
          </a:ln>
        </p:spPr>
      </p:sp>
      <p:sp>
        <p:nvSpPr>
          <p:cNvPr id="16" name="Shape 7"/>
          <p:cNvSpPr/>
          <p:nvPr/>
        </p:nvSpPr>
        <p:spPr>
          <a:xfrm>
            <a:off x="4000500" y="2095805"/>
            <a:ext cx="1543507" cy="1571854"/>
          </a:xfrm>
          <a:prstGeom prst="roundRect">
            <a:avLst>
              <a:gd name="adj" fmla="val 877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17" name="Shape 8"/>
          <p:cNvSpPr/>
          <p:nvPr/>
        </p:nvSpPr>
        <p:spPr>
          <a:xfrm>
            <a:off x="4000500" y="2095805"/>
            <a:ext cx="1543507" cy="38405"/>
          </a:xfrm>
          <a:prstGeom prst="roundRect">
            <a:avLst>
              <a:gd name="adj" fmla="val 352732"/>
            </a:avLst>
          </a:prstGeom>
          <a:solidFill>
            <a:srgbClr val="10B981"/>
          </a:solidFill>
          <a:ln w="12700">
            <a:solidFill>
              <a:srgbClr val="10B981">
                <a:alpha val="0"/>
              </a:srgbClr>
            </a:solidFill>
            <a:prstDash val="solid"/>
          </a:ln>
        </p:spPr>
      </p:sp>
      <p:sp>
        <p:nvSpPr>
          <p:cNvPr id="18" name="Shape 9"/>
          <p:cNvSpPr/>
          <p:nvPr/>
        </p:nvSpPr>
        <p:spPr>
          <a:xfrm>
            <a:off x="5715000" y="4762195"/>
            <a:ext cx="1543507" cy="1571854"/>
          </a:xfrm>
          <a:prstGeom prst="roundRect">
            <a:avLst>
              <a:gd name="adj" fmla="val 877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19" name="Shape 10"/>
          <p:cNvSpPr/>
          <p:nvPr/>
        </p:nvSpPr>
        <p:spPr>
          <a:xfrm>
            <a:off x="5715000" y="6295644"/>
            <a:ext cx="1543507" cy="38405"/>
          </a:xfrm>
          <a:prstGeom prst="roundRect">
            <a:avLst>
              <a:gd name="adj" fmla="val 352732"/>
            </a:avLst>
          </a:prstGeom>
          <a:solidFill>
            <a:srgbClr val="F59E0B"/>
          </a:solidFill>
          <a:ln w="12700">
            <a:solidFill>
              <a:srgbClr val="F59E0B">
                <a:alpha val="0"/>
              </a:srgbClr>
            </a:solidFill>
            <a:prstDash val="solid"/>
          </a:ln>
        </p:spPr>
      </p:sp>
      <p:sp>
        <p:nvSpPr>
          <p:cNvPr id="20" name="Shape 11"/>
          <p:cNvSpPr/>
          <p:nvPr/>
        </p:nvSpPr>
        <p:spPr>
          <a:xfrm>
            <a:off x="7429500" y="2095805"/>
            <a:ext cx="1543507" cy="1571854"/>
          </a:xfrm>
          <a:prstGeom prst="roundRect">
            <a:avLst>
              <a:gd name="adj" fmla="val 877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21" name="Shape 12"/>
          <p:cNvSpPr/>
          <p:nvPr/>
        </p:nvSpPr>
        <p:spPr>
          <a:xfrm>
            <a:off x="7429500" y="2095805"/>
            <a:ext cx="1543507" cy="38405"/>
          </a:xfrm>
          <a:prstGeom prst="roundRect">
            <a:avLst>
              <a:gd name="adj" fmla="val 352732"/>
            </a:avLst>
          </a:prstGeom>
          <a:solidFill>
            <a:srgbClr val="EF4444"/>
          </a:solidFill>
          <a:ln w="12700">
            <a:solidFill>
              <a:srgbClr val="EF4444">
                <a:alpha val="0"/>
              </a:srgbClr>
            </a:solidFill>
            <a:prstDash val="solid"/>
          </a:ln>
        </p:spPr>
      </p:sp>
      <p:sp>
        <p:nvSpPr>
          <p:cNvPr id="22" name="Shape 13"/>
          <p:cNvSpPr/>
          <p:nvPr/>
        </p:nvSpPr>
        <p:spPr>
          <a:xfrm>
            <a:off x="9144000" y="4762195"/>
            <a:ext cx="1543507" cy="1571854"/>
          </a:xfrm>
          <a:prstGeom prst="roundRect">
            <a:avLst>
              <a:gd name="adj" fmla="val 8777"/>
            </a:avLst>
          </a:prstGeom>
          <a:solidFill>
            <a:srgbClr val="FFFFFF"/>
          </a:solidFill>
          <a:ln w="12700">
            <a:solidFill>
              <a:srgbClr val="E2E8F0"/>
            </a:solidFill>
            <a:prstDash val="solid"/>
          </a:ln>
          <a:effectLst>
            <a:outerShdw sx="100000" sy="100000" kx="0" ky="0" algn="bl" rotWithShape="0" blurRad="63500" dist="38100" dir="16200000">
              <a:srgbClr val="000000">
                <a:alpha val="3000"/>
              </a:srgbClr>
            </a:outerShdw>
          </a:effectLst>
        </p:spPr>
      </p:sp>
      <p:sp>
        <p:nvSpPr>
          <p:cNvPr id="23" name="Shape 14"/>
          <p:cNvSpPr/>
          <p:nvPr/>
        </p:nvSpPr>
        <p:spPr>
          <a:xfrm>
            <a:off x="9144000" y="6295644"/>
            <a:ext cx="1543507" cy="38405"/>
          </a:xfrm>
          <a:prstGeom prst="roundRect">
            <a:avLst>
              <a:gd name="adj" fmla="val 352732"/>
            </a:avLst>
          </a:prstGeom>
          <a:solidFill>
            <a:srgbClr val="8B5CF6"/>
          </a:solidFill>
          <a:ln w="12700">
            <a:solidFill>
              <a:srgbClr val="8B5CF6">
                <a:alpha val="0"/>
              </a:srgbClr>
            </a:solidFill>
            <a:prstDash val="solid"/>
          </a:ln>
        </p:spPr>
      </p:sp>
      <p:sp>
        <p:nvSpPr>
          <p:cNvPr id="24" name="Shape 15"/>
          <p:cNvSpPr/>
          <p:nvPr/>
        </p:nvSpPr>
        <p:spPr>
          <a:xfrm>
            <a:off x="571500" y="409651"/>
            <a:ext cx="418795" cy="418795"/>
          </a:xfrm>
          <a:prstGeom prst="roundRect">
            <a:avLst>
              <a:gd name="adj" fmla="val 119095"/>
            </a:avLst>
          </a:prstGeom>
          <a:solidFill>
            <a:srgbClr val="6366F1"/>
          </a:solidFill>
          <a:ln w="12700">
            <a:solidFill>
              <a:srgbClr val="FFFFFF">
                <a:alpha val="0"/>
              </a:srgbClr>
            </a:solidFill>
            <a:prstDash val="solid"/>
          </a:ln>
        </p:spPr>
      </p:sp>
      <p:pic>
        <p:nvPicPr>
          <p:cNvPr id="25" name="Image 7" descr="preencoded.png">    </p:cNvPr>
          <p:cNvPicPr>
            <a:picLocks noChangeAspect="1"/>
          </p:cNvPicPr>
          <p:nvPr/>
        </p:nvPicPr>
        <p:blipFill>
          <a:blip r:embed="rId8"/>
          <a:srcRect l="0" r="0" t="-14689" b="-14689"/>
          <a:stretch/>
        </p:blipFill>
        <p:spPr>
          <a:xfrm>
            <a:off x="700430" y="514807"/>
            <a:ext cx="161849" cy="209398"/>
          </a:xfrm>
          <a:prstGeom prst="rect">
            <a:avLst/>
          </a:prstGeom>
        </p:spPr>
      </p:pic>
      <p:sp>
        <p:nvSpPr>
          <p:cNvPr id="26" name="Text 16"/>
          <p:cNvSpPr txBox="1"/>
          <p:nvPr/>
        </p:nvSpPr>
        <p:spPr>
          <a:xfrm>
            <a:off x="1143000" y="471830"/>
            <a:ext cx="1548994" cy="295351"/>
          </a:xfrm>
          <a:prstGeom prst="rect">
            <a:avLst/>
          </a:prstGeom>
          <a:noFill/>
          <a:ln/>
        </p:spPr>
        <p:txBody>
          <a:bodyPr wrap="square" lIns="0" tIns="0" rIns="0" bIns="0" rtlCol="0" anchor="ctr"/>
          <a:lstStyle/>
          <a:p>
            <a:pPr algn="l" indent="0" marL="0">
              <a:buNone/>
            </a:pPr>
            <a:r>
              <a:rPr lang="en-US" sz="1900" b="1" spc="-37" kern="0" dirty="0">
                <a:solidFill>
                  <a:srgbClr val="1E293B"/>
                </a:solidFill>
                <a:latin typeface="Inter" pitchFamily="34" charset="0"/>
                <a:ea typeface="Inter" pitchFamily="34" charset="-122"/>
                <a:cs typeface="Inter" pitchFamily="34" charset="-120"/>
              </a:rPr>
              <a:t>News</a:t>
            </a:r>
            <a:pPr algn="l" indent="0" marL="0">
              <a:buNone/>
            </a:pPr>
            <a:r>
              <a:rPr lang="en-US" sz="1900" b="1" spc="-37" kern="0" dirty="0">
                <a:solidFill>
                  <a:srgbClr val="6366F1"/>
                </a:solidFill>
                <a:latin typeface="Inter" pitchFamily="34" charset="0"/>
                <a:ea typeface="Inter" pitchFamily="34" charset="-122"/>
                <a:cs typeface="Inter" pitchFamily="34" charset="-120"/>
              </a:rPr>
              <a:t>Nexus</a:t>
            </a:r>
            <a:endParaRPr lang="en-US" sz="1900" dirty="0"/>
          </a:p>
        </p:txBody>
      </p:sp>
      <p:sp>
        <p:nvSpPr>
          <p:cNvPr id="27" name="Shape 17"/>
          <p:cNvSpPr/>
          <p:nvPr/>
        </p:nvSpPr>
        <p:spPr>
          <a:xfrm>
            <a:off x="9646006" y="424282"/>
            <a:ext cx="1981505" cy="390449"/>
          </a:xfrm>
          <a:prstGeom prst="roundRect">
            <a:avLst>
              <a:gd name="adj" fmla="val 234192"/>
            </a:avLst>
          </a:prstGeom>
          <a:solidFill>
            <a:srgbClr val="6366F1">
              <a:alpha val="8000"/>
            </a:srgbClr>
          </a:solidFill>
          <a:ln w="12700">
            <a:solidFill>
              <a:srgbClr val="6366F1">
                <a:alpha val="15000"/>
              </a:srgbClr>
            </a:solidFill>
            <a:prstDash val="solid"/>
          </a:ln>
        </p:spPr>
      </p:sp>
      <p:pic>
        <p:nvPicPr>
          <p:cNvPr id="28" name="Image 8" descr="preencoded.png">    </p:cNvPr>
          <p:cNvPicPr>
            <a:picLocks noChangeAspect="1"/>
          </p:cNvPicPr>
          <p:nvPr/>
        </p:nvPicPr>
        <p:blipFill>
          <a:blip r:embed="rId9"/>
          <a:srcRect l="0" r="0" t="-5544" b="-5544"/>
          <a:stretch/>
        </p:blipFill>
        <p:spPr>
          <a:xfrm>
            <a:off x="9846259" y="552298"/>
            <a:ext cx="105156" cy="133502"/>
          </a:xfrm>
          <a:prstGeom prst="rect">
            <a:avLst/>
          </a:prstGeom>
        </p:spPr>
      </p:pic>
      <p:sp>
        <p:nvSpPr>
          <p:cNvPr id="29" name="Text 18"/>
          <p:cNvSpPr txBox="1"/>
          <p:nvPr/>
        </p:nvSpPr>
        <p:spPr>
          <a:xfrm>
            <a:off x="10046513" y="424282"/>
            <a:ext cx="1381658" cy="391363"/>
          </a:xfrm>
          <a:prstGeom prst="rect">
            <a:avLst/>
          </a:prstGeom>
          <a:noFill/>
          <a:ln/>
        </p:spPr>
        <p:txBody>
          <a:bodyPr wrap="square" lIns="0" tIns="0" rIns="0" bIns="0" rtlCol="0" anchor="ctr"/>
          <a:lstStyle/>
          <a:p>
            <a:pPr algn="l" indent="0" marL="0">
              <a:buNone/>
            </a:pPr>
            <a:r>
              <a:rPr lang="en-US" sz="1100" dirty="0">
                <a:solidFill>
                  <a:srgbClr val="6366F1"/>
                </a:solidFill>
                <a:latin typeface="Inter" pitchFamily="34" charset="0"/>
                <a:ea typeface="Inter" pitchFamily="34" charset="-122"/>
                <a:cs typeface="Inter" pitchFamily="34" charset="-120"/>
              </a:rPr>
              <a:t>Workshop Schedule</a:t>
            </a:r>
            <a:endParaRPr lang="en-US" sz="1100" dirty="0"/>
          </a:p>
        </p:txBody>
      </p:sp>
      <p:sp>
        <p:nvSpPr>
          <p:cNvPr id="30" name="Text 19"/>
          <p:cNvSpPr txBox="1"/>
          <p:nvPr/>
        </p:nvSpPr>
        <p:spPr>
          <a:xfrm>
            <a:off x="571500" y="1352398"/>
            <a:ext cx="11049610" cy="400507"/>
          </a:xfrm>
          <a:prstGeom prst="rect">
            <a:avLst/>
          </a:prstGeom>
          <a:noFill/>
          <a:ln/>
        </p:spPr>
        <p:txBody>
          <a:bodyPr wrap="square" lIns="0" tIns="0" rIns="0" bIns="0" rtlCol="0" anchor="ctr"/>
          <a:lstStyle/>
          <a:p>
            <a:pPr algn="l" indent="0" marL="0">
              <a:buNone/>
            </a:pPr>
            <a:r>
              <a:rPr lang="en-US" sz="3100" b="1" spc="-75" kern="0" dirty="0">
                <a:solidFill>
                  <a:srgbClr val="1E293B"/>
                </a:solidFill>
                <a:latin typeface="Inter" pitchFamily="34" charset="0"/>
                <a:ea typeface="Inter" pitchFamily="34" charset="-122"/>
                <a:cs typeface="Inter" pitchFamily="34" charset="-120"/>
              </a:rPr>
              <a:t>Teaching Timeline </a:t>
            </a:r>
            <a:pPr algn="l" indent="0" marL="0">
              <a:buNone/>
            </a:pPr>
            <a:r>
              <a:rPr lang="en-US" sz="3100" b="1" spc="-75" kern="0" dirty="0">
                <a:solidFill>
                  <a:srgbClr val="6366F1"/>
                </a:solidFill>
                <a:latin typeface="Inter" pitchFamily="34" charset="0"/>
                <a:ea typeface="Inter" pitchFamily="34" charset="-122"/>
                <a:cs typeface="Inter" pitchFamily="34" charset="-120"/>
              </a:rPr>
              <a:t>(6 focused hours)</a:t>
            </a:r>
            <a:endParaRPr lang="en-US" sz="3100" dirty="0"/>
          </a:p>
        </p:txBody>
      </p:sp>
      <p:sp>
        <p:nvSpPr>
          <p:cNvPr id="31" name="Text 20"/>
          <p:cNvSpPr txBox="1"/>
          <p:nvPr/>
        </p:nvSpPr>
        <p:spPr>
          <a:xfrm>
            <a:off x="571500" y="1848002"/>
            <a:ext cx="8306410" cy="257861"/>
          </a:xfrm>
          <a:prstGeom prst="rect">
            <a:avLst/>
          </a:prstGeom>
          <a:noFill/>
          <a:ln/>
        </p:spPr>
        <p:txBody>
          <a:bodyPr wrap="square" lIns="0" tIns="0" rIns="0" bIns="0" rtlCol="0" anchor="ctr"/>
          <a:lstStyle/>
          <a:p>
            <a:pPr algn="l" indent="0" marL="0">
              <a:buNone/>
            </a:pPr>
            <a:r>
              <a:rPr lang="en-US" sz="1300" dirty="0">
                <a:solidFill>
                  <a:srgbClr val="64748B"/>
                </a:solidFill>
                <a:latin typeface="Inter" pitchFamily="34" charset="0"/>
                <a:ea typeface="Inter" pitchFamily="34" charset="-122"/>
                <a:cs typeface="Inter" pitchFamily="34" charset="-120"/>
              </a:rPr>
              <a:t>A step-by-step breakdown of the foundational system setup required before any model logic.</a:t>
            </a:r>
            <a:endParaRPr lang="en-US" sz="1300" dirty="0"/>
          </a:p>
        </p:txBody>
      </p:sp>
      <p:sp>
        <p:nvSpPr>
          <p:cNvPr id="32" name="Shape 21"/>
          <p:cNvSpPr/>
          <p:nvPr/>
        </p:nvSpPr>
        <p:spPr>
          <a:xfrm>
            <a:off x="571500" y="952805"/>
            <a:ext cx="1352398" cy="286207"/>
          </a:xfrm>
          <a:prstGeom prst="roundRect">
            <a:avLst>
              <a:gd name="adj" fmla="val 170394"/>
            </a:avLst>
          </a:prstGeom>
          <a:solidFill>
            <a:srgbClr val="6366F1">
              <a:alpha val="8000"/>
            </a:srgbClr>
          </a:solidFill>
          <a:ln w="12700">
            <a:solidFill>
              <a:srgbClr val="6366F1">
                <a:alpha val="20000"/>
              </a:srgbClr>
            </a:solidFill>
            <a:prstDash val="solid"/>
          </a:ln>
        </p:spPr>
      </p:sp>
      <p:sp>
        <p:nvSpPr>
          <p:cNvPr id="33" name="Text 22"/>
          <p:cNvSpPr txBox="1"/>
          <p:nvPr/>
        </p:nvSpPr>
        <p:spPr>
          <a:xfrm>
            <a:off x="571500" y="952805"/>
            <a:ext cx="1353312" cy="286207"/>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algn="l" indent="0" marL="0">
              <a:buNone/>
            </a:pPr>
            <a:r>
              <a:rPr lang="en-US" sz="900" b="1" spc="38" kern="0" dirty="0">
                <a:solidFill>
                  <a:srgbClr val="6366F1"/>
                </a:solidFill>
                <a:latin typeface="Inter" pitchFamily="34" charset="0"/>
                <a:ea typeface="Inter" pitchFamily="34" charset="-122"/>
                <a:cs typeface="Inter" pitchFamily="34" charset="-120"/>
              </a:rPr>
              <a:t>Day 1 Roadmap</a:t>
            </a:r>
            <a:endParaRPr lang="en-US" sz="900" dirty="0"/>
          </a:p>
        </p:txBody>
      </p:sp>
      <p:sp>
        <p:nvSpPr>
          <p:cNvPr id="34" name="Text 23"/>
          <p:cNvSpPr txBox="1"/>
          <p:nvPr/>
        </p:nvSpPr>
        <p:spPr>
          <a:xfrm>
            <a:off x="666598" y="2190902"/>
            <a:ext cx="1334110" cy="162763"/>
          </a:xfrm>
          <a:prstGeom prst="rect">
            <a:avLst/>
          </a:prstGeom>
          <a:noFill/>
          <a:ln/>
        </p:spPr>
        <p:txBody>
          <a:bodyPr wrap="square" lIns="0" tIns="0" rIns="0" bIns="0" rtlCol="0" anchor="ctr"/>
          <a:lstStyle/>
          <a:p>
            <a:pPr algn="l" indent="0" marL="0">
              <a:buNone/>
            </a:pPr>
            <a:r>
              <a:rPr lang="en-US" sz="1000" b="1" dirty="0">
                <a:solidFill>
                  <a:srgbClr val="6366F1"/>
                </a:solidFill>
                <a:latin typeface="Inter" pitchFamily="34" charset="0"/>
                <a:ea typeface="Inter" pitchFamily="34" charset="-122"/>
                <a:cs typeface="Inter" pitchFamily="34" charset="-120"/>
              </a:rPr>
              <a:t>Hour 1</a:t>
            </a:r>
            <a:endParaRPr lang="en-US" sz="1000" dirty="0"/>
          </a:p>
        </p:txBody>
      </p:sp>
      <p:sp>
        <p:nvSpPr>
          <p:cNvPr id="35" name="Text 24"/>
          <p:cNvSpPr txBox="1"/>
          <p:nvPr/>
        </p:nvSpPr>
        <p:spPr>
          <a:xfrm>
            <a:off x="666598" y="2428646"/>
            <a:ext cx="1334110" cy="181051"/>
          </a:xfrm>
          <a:prstGeom prst="rect">
            <a:avLst/>
          </a:prstGeom>
          <a:noFill/>
          <a:ln/>
        </p:spPr>
        <p:txBody>
          <a:bodyPr wrap="square" lIns="0" tIns="0" rIns="0" bIns="0" rtlCol="0" anchor="ctr"/>
          <a:lstStyle/>
          <a:p>
            <a:pPr algn="l" indent="0" marL="0">
              <a:buNone/>
            </a:pPr>
            <a:r>
              <a:rPr lang="en-US" sz="1000" b="1" dirty="0">
                <a:solidFill>
                  <a:srgbClr val="1E293B"/>
                </a:solidFill>
                <a:latin typeface="Inter" pitchFamily="34" charset="0"/>
                <a:ea typeface="Inter" pitchFamily="34" charset="-122"/>
                <a:cs typeface="Inter" pitchFamily="34" charset="-120"/>
              </a:rPr>
              <a:t>Concept framing</a:t>
            </a:r>
            <a:endParaRPr lang="en-US" sz="1000" dirty="0"/>
          </a:p>
        </p:txBody>
      </p:sp>
      <p:sp>
        <p:nvSpPr>
          <p:cNvPr id="36" name="Text 25"/>
          <p:cNvSpPr txBox="1"/>
          <p:nvPr/>
        </p:nvSpPr>
        <p:spPr>
          <a:xfrm>
            <a:off x="666598" y="2678278"/>
            <a:ext cx="1334110" cy="486461"/>
          </a:xfrm>
          <a:prstGeom prst="rect">
            <a:avLst/>
          </a:prstGeom>
          <a:noFill/>
          <a:ln/>
        </p:spPr>
        <p:txBody>
          <a:bodyPr wrap="squar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Map components and data flow; align on local-first principles.</a:t>
            </a:r>
            <a:endParaRPr lang="en-US" sz="900" dirty="0"/>
          </a:p>
        </p:txBody>
      </p:sp>
      <p:sp>
        <p:nvSpPr>
          <p:cNvPr id="37" name="Shape 26"/>
          <p:cNvSpPr/>
          <p:nvPr/>
        </p:nvSpPr>
        <p:spPr>
          <a:xfrm>
            <a:off x="1257300" y="3943807"/>
            <a:ext cx="228600" cy="228600"/>
          </a:xfrm>
          <a:prstGeom prst="ellipse">
            <a:avLst/>
          </a:prstGeom>
          <a:solidFill>
            <a:srgbClr val="6366F1"/>
          </a:solidFill>
          <a:ln w="50800">
            <a:solidFill>
              <a:srgbClr val="F8FAFC"/>
            </a:solidFill>
            <a:prstDash val="solid"/>
          </a:ln>
        </p:spPr>
      </p:sp>
      <p:sp>
        <p:nvSpPr>
          <p:cNvPr id="38" name="Text 27"/>
          <p:cNvSpPr txBox="1"/>
          <p:nvPr/>
        </p:nvSpPr>
        <p:spPr>
          <a:xfrm>
            <a:off x="2381098" y="4858207"/>
            <a:ext cx="1334110" cy="162763"/>
          </a:xfrm>
          <a:prstGeom prst="rect">
            <a:avLst/>
          </a:prstGeom>
          <a:noFill/>
          <a:ln/>
        </p:spPr>
        <p:txBody>
          <a:bodyPr wrap="square" lIns="0" tIns="0" rIns="0" bIns="0" rtlCol="0" anchor="ctr"/>
          <a:lstStyle/>
          <a:p>
            <a:pPr algn="l" indent="0" marL="0">
              <a:buNone/>
            </a:pPr>
            <a:r>
              <a:rPr lang="en-US" sz="1000" b="1" dirty="0">
                <a:solidFill>
                  <a:srgbClr val="3B82F6"/>
                </a:solidFill>
                <a:latin typeface="Inter" pitchFamily="34" charset="0"/>
                <a:ea typeface="Inter" pitchFamily="34" charset="-122"/>
                <a:cs typeface="Inter" pitchFamily="34" charset="-120"/>
              </a:rPr>
              <a:t>Hour 2</a:t>
            </a:r>
            <a:endParaRPr lang="en-US" sz="1000" dirty="0"/>
          </a:p>
        </p:txBody>
      </p:sp>
      <p:sp>
        <p:nvSpPr>
          <p:cNvPr id="39" name="Text 28"/>
          <p:cNvSpPr txBox="1"/>
          <p:nvPr/>
        </p:nvSpPr>
        <p:spPr>
          <a:xfrm>
            <a:off x="2381098" y="5095951"/>
            <a:ext cx="1334110" cy="181051"/>
          </a:xfrm>
          <a:prstGeom prst="rect">
            <a:avLst/>
          </a:prstGeom>
          <a:noFill/>
          <a:ln/>
        </p:spPr>
        <p:txBody>
          <a:bodyPr wrap="square" lIns="0" tIns="0" rIns="0" bIns="0" rtlCol="0" anchor="ctr"/>
          <a:lstStyle/>
          <a:p>
            <a:pPr algn="l" indent="0" marL="0">
              <a:buNone/>
            </a:pPr>
            <a:r>
              <a:rPr lang="en-US" sz="1000" b="1" dirty="0">
                <a:solidFill>
                  <a:srgbClr val="1E293B"/>
                </a:solidFill>
                <a:latin typeface="Inter" pitchFamily="34" charset="0"/>
                <a:ea typeface="Inter" pitchFamily="34" charset="-122"/>
                <a:cs typeface="Inter" pitchFamily="34" charset="-120"/>
              </a:rPr>
              <a:t>venv setup</a:t>
            </a:r>
            <a:endParaRPr lang="en-US" sz="1000" dirty="0"/>
          </a:p>
        </p:txBody>
      </p:sp>
      <p:sp>
        <p:nvSpPr>
          <p:cNvPr id="40" name="Text 29"/>
          <p:cNvSpPr txBox="1"/>
          <p:nvPr/>
        </p:nvSpPr>
        <p:spPr>
          <a:xfrm>
            <a:off x="2381098" y="5345582"/>
            <a:ext cx="1334110" cy="486461"/>
          </a:xfrm>
          <a:prstGeom prst="rect">
            <a:avLst/>
          </a:prstGeom>
          <a:noFill/>
          <a:ln/>
        </p:spPr>
        <p:txBody>
          <a:bodyPr wrap="squar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Create environment, pip install dependencies, and verify.</a:t>
            </a:r>
            <a:endParaRPr lang="en-US" sz="900" dirty="0"/>
          </a:p>
        </p:txBody>
      </p:sp>
      <p:sp>
        <p:nvSpPr>
          <p:cNvPr id="41" name="Shape 30"/>
          <p:cNvSpPr/>
          <p:nvPr/>
        </p:nvSpPr>
        <p:spPr>
          <a:xfrm>
            <a:off x="2971800" y="3943807"/>
            <a:ext cx="228600" cy="228600"/>
          </a:xfrm>
          <a:prstGeom prst="ellipse">
            <a:avLst/>
          </a:prstGeom>
          <a:solidFill>
            <a:srgbClr val="3B82F6"/>
          </a:solidFill>
          <a:ln w="50800">
            <a:solidFill>
              <a:srgbClr val="F8FAFC"/>
            </a:solidFill>
            <a:prstDash val="solid"/>
          </a:ln>
        </p:spPr>
      </p:sp>
      <p:sp>
        <p:nvSpPr>
          <p:cNvPr id="42" name="Text 31"/>
          <p:cNvSpPr txBox="1"/>
          <p:nvPr/>
        </p:nvSpPr>
        <p:spPr>
          <a:xfrm>
            <a:off x="4095598" y="2190902"/>
            <a:ext cx="1334110" cy="162763"/>
          </a:xfrm>
          <a:prstGeom prst="rect">
            <a:avLst/>
          </a:prstGeom>
          <a:noFill/>
          <a:ln/>
        </p:spPr>
        <p:txBody>
          <a:bodyPr wrap="square" lIns="0" tIns="0" rIns="0" bIns="0" rtlCol="0" anchor="ctr"/>
          <a:lstStyle/>
          <a:p>
            <a:pPr algn="l" indent="0" marL="0">
              <a:buNone/>
            </a:pPr>
            <a:r>
              <a:rPr lang="en-US" sz="1000" b="1" dirty="0">
                <a:solidFill>
                  <a:srgbClr val="10B981"/>
                </a:solidFill>
                <a:latin typeface="Inter" pitchFamily="34" charset="0"/>
                <a:ea typeface="Inter" pitchFamily="34" charset="-122"/>
                <a:cs typeface="Inter" pitchFamily="34" charset="-120"/>
              </a:rPr>
              <a:t>Hour 3</a:t>
            </a:r>
            <a:endParaRPr lang="en-US" sz="1000" dirty="0"/>
          </a:p>
        </p:txBody>
      </p:sp>
      <p:sp>
        <p:nvSpPr>
          <p:cNvPr id="43" name="Text 32"/>
          <p:cNvSpPr txBox="1"/>
          <p:nvPr/>
        </p:nvSpPr>
        <p:spPr>
          <a:xfrm>
            <a:off x="4095598" y="2428646"/>
            <a:ext cx="1678838" cy="181051"/>
          </a:xfrm>
          <a:prstGeom prst="rect">
            <a:avLst/>
          </a:prstGeom>
          <a:noFill/>
          <a:ln/>
        </p:spPr>
        <p:txBody>
          <a:bodyPr wrap="square" lIns="0" tIns="0" rIns="0" bIns="0" rtlCol="0" anchor="ctr"/>
          <a:lstStyle/>
          <a:p>
            <a:pPr algn="l" indent="0" marL="0">
              <a:buNone/>
            </a:pPr>
            <a:r>
              <a:rPr lang="en-US" sz="1000" b="1" dirty="0">
                <a:solidFill>
                  <a:srgbClr val="1E293B"/>
                </a:solidFill>
                <a:latin typeface="Inter" pitchFamily="34" charset="0"/>
                <a:ea typeface="Inter" pitchFamily="34" charset="-122"/>
                <a:cs typeface="Inter" pitchFamily="34" charset="-120"/>
              </a:rPr>
              <a:t>Model verification</a:t>
            </a:r>
            <a:endParaRPr lang="en-US" sz="1000" dirty="0"/>
          </a:p>
        </p:txBody>
      </p:sp>
      <p:sp>
        <p:nvSpPr>
          <p:cNvPr id="44" name="Text 33"/>
          <p:cNvSpPr txBox="1"/>
          <p:nvPr/>
        </p:nvSpPr>
        <p:spPr>
          <a:xfrm>
            <a:off x="4095598" y="2678278"/>
            <a:ext cx="1334110" cy="486461"/>
          </a:xfrm>
          <a:prstGeom prst="rect">
            <a:avLst/>
          </a:prstGeom>
          <a:noFill/>
          <a:ln/>
        </p:spPr>
        <p:txBody>
          <a:bodyPr wrap="squar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Ollama pull commands for llama3.2 and nomic-embed-text.</a:t>
            </a:r>
            <a:endParaRPr lang="en-US" sz="900" dirty="0"/>
          </a:p>
        </p:txBody>
      </p:sp>
      <p:sp>
        <p:nvSpPr>
          <p:cNvPr id="45" name="Shape 34"/>
          <p:cNvSpPr/>
          <p:nvPr/>
        </p:nvSpPr>
        <p:spPr>
          <a:xfrm>
            <a:off x="4686300" y="3943807"/>
            <a:ext cx="228600" cy="228600"/>
          </a:xfrm>
          <a:prstGeom prst="ellipse">
            <a:avLst/>
          </a:prstGeom>
          <a:solidFill>
            <a:srgbClr val="10B981"/>
          </a:solidFill>
          <a:ln w="50800">
            <a:solidFill>
              <a:srgbClr val="F8FAFC"/>
            </a:solidFill>
            <a:prstDash val="solid"/>
          </a:ln>
        </p:spPr>
      </p:sp>
      <p:sp>
        <p:nvSpPr>
          <p:cNvPr id="46" name="Text 35"/>
          <p:cNvSpPr txBox="1"/>
          <p:nvPr/>
        </p:nvSpPr>
        <p:spPr>
          <a:xfrm>
            <a:off x="5810098" y="4858207"/>
            <a:ext cx="1334110" cy="162763"/>
          </a:xfrm>
          <a:prstGeom prst="rect">
            <a:avLst/>
          </a:prstGeom>
          <a:noFill/>
          <a:ln/>
        </p:spPr>
        <p:txBody>
          <a:bodyPr wrap="square" lIns="0" tIns="0" rIns="0" bIns="0" rtlCol="0" anchor="ctr"/>
          <a:lstStyle/>
          <a:p>
            <a:pPr algn="l" indent="0" marL="0">
              <a:buNone/>
            </a:pPr>
            <a:r>
              <a:rPr lang="en-US" sz="1000" b="1" dirty="0">
                <a:solidFill>
                  <a:srgbClr val="F59E0B"/>
                </a:solidFill>
                <a:latin typeface="Inter" pitchFamily="34" charset="0"/>
                <a:ea typeface="Inter" pitchFamily="34" charset="-122"/>
                <a:cs typeface="Inter" pitchFamily="34" charset="-120"/>
              </a:rPr>
              <a:t>Hour 4</a:t>
            </a:r>
            <a:endParaRPr lang="en-US" sz="1000" dirty="0"/>
          </a:p>
        </p:txBody>
      </p:sp>
      <p:sp>
        <p:nvSpPr>
          <p:cNvPr id="47" name="Text 36"/>
          <p:cNvSpPr txBox="1"/>
          <p:nvPr/>
        </p:nvSpPr>
        <p:spPr>
          <a:xfrm>
            <a:off x="5810098" y="5095951"/>
            <a:ext cx="1334110" cy="181051"/>
          </a:xfrm>
          <a:prstGeom prst="rect">
            <a:avLst/>
          </a:prstGeom>
          <a:noFill/>
          <a:ln/>
        </p:spPr>
        <p:txBody>
          <a:bodyPr wrap="square" lIns="0" tIns="0" rIns="0" bIns="0" rtlCol="0" anchor="ctr"/>
          <a:lstStyle/>
          <a:p>
            <a:pPr algn="l" indent="0" marL="0">
              <a:buNone/>
            </a:pPr>
            <a:r>
              <a:rPr lang="en-US" sz="1000" b="1" dirty="0">
                <a:solidFill>
                  <a:srgbClr val="1E293B"/>
                </a:solidFill>
                <a:latin typeface="Inter" pitchFamily="34" charset="0"/>
                <a:ea typeface="Inter" pitchFamily="34" charset="-122"/>
                <a:cs typeface="Inter" pitchFamily="34" charset="-120"/>
              </a:rPr>
              <a:t>Code walkthrough</a:t>
            </a:r>
            <a:endParaRPr lang="en-US" sz="1000" dirty="0"/>
          </a:p>
        </p:txBody>
      </p:sp>
      <p:sp>
        <p:nvSpPr>
          <p:cNvPr id="48" name="Text 37"/>
          <p:cNvSpPr txBox="1"/>
          <p:nvPr/>
        </p:nvSpPr>
        <p:spPr>
          <a:xfrm>
            <a:off x="5810098" y="5345582"/>
            <a:ext cx="1334110" cy="486461"/>
          </a:xfrm>
          <a:prstGeom prst="rect">
            <a:avLst/>
          </a:prstGeom>
          <a:noFill/>
          <a:ln/>
        </p:spPr>
        <p:txBody>
          <a:bodyPr wrap="squar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Review run_all.py preflight checks and model contracts.</a:t>
            </a:r>
            <a:endParaRPr lang="en-US" sz="900" dirty="0"/>
          </a:p>
        </p:txBody>
      </p:sp>
      <p:sp>
        <p:nvSpPr>
          <p:cNvPr id="49" name="Shape 38"/>
          <p:cNvSpPr/>
          <p:nvPr/>
        </p:nvSpPr>
        <p:spPr>
          <a:xfrm>
            <a:off x="6400800" y="3943807"/>
            <a:ext cx="228600" cy="228600"/>
          </a:xfrm>
          <a:prstGeom prst="ellipse">
            <a:avLst/>
          </a:prstGeom>
          <a:solidFill>
            <a:srgbClr val="F59E0B"/>
          </a:solidFill>
          <a:ln w="50800">
            <a:solidFill>
              <a:srgbClr val="F8FAFC"/>
            </a:solidFill>
            <a:prstDash val="solid"/>
          </a:ln>
        </p:spPr>
      </p:sp>
      <p:sp>
        <p:nvSpPr>
          <p:cNvPr id="50" name="Text 39"/>
          <p:cNvSpPr txBox="1"/>
          <p:nvPr/>
        </p:nvSpPr>
        <p:spPr>
          <a:xfrm>
            <a:off x="7524598" y="2190902"/>
            <a:ext cx="1334110" cy="162763"/>
          </a:xfrm>
          <a:prstGeom prst="rect">
            <a:avLst/>
          </a:prstGeom>
          <a:noFill/>
          <a:ln/>
        </p:spPr>
        <p:txBody>
          <a:bodyPr wrap="square" lIns="0" tIns="0" rIns="0" bIns="0" rtlCol="0" anchor="ctr"/>
          <a:lstStyle/>
          <a:p>
            <a:pPr algn="l" indent="0" marL="0">
              <a:buNone/>
            </a:pPr>
            <a:r>
              <a:rPr lang="en-US" sz="1000" b="1" dirty="0">
                <a:solidFill>
                  <a:srgbClr val="EF4444"/>
                </a:solidFill>
                <a:latin typeface="Inter" pitchFamily="34" charset="0"/>
                <a:ea typeface="Inter" pitchFamily="34" charset="-122"/>
                <a:cs typeface="Inter" pitchFamily="34" charset="-120"/>
              </a:rPr>
              <a:t>Hour 5</a:t>
            </a:r>
            <a:endParaRPr lang="en-US" sz="1000" dirty="0"/>
          </a:p>
        </p:txBody>
      </p:sp>
      <p:sp>
        <p:nvSpPr>
          <p:cNvPr id="51" name="Text 40"/>
          <p:cNvSpPr txBox="1"/>
          <p:nvPr/>
        </p:nvSpPr>
        <p:spPr>
          <a:xfrm>
            <a:off x="7524598" y="2428646"/>
            <a:ext cx="1334110" cy="181051"/>
          </a:xfrm>
          <a:prstGeom prst="rect">
            <a:avLst/>
          </a:prstGeom>
          <a:noFill/>
          <a:ln/>
        </p:spPr>
        <p:txBody>
          <a:bodyPr wrap="square" lIns="0" tIns="0" rIns="0" bIns="0" rtlCol="0" anchor="ctr"/>
          <a:lstStyle/>
          <a:p>
            <a:pPr algn="l" indent="0" marL="0">
              <a:buNone/>
            </a:pPr>
            <a:r>
              <a:rPr lang="en-US" sz="1000" b="1" dirty="0">
                <a:solidFill>
                  <a:srgbClr val="1E293B"/>
                </a:solidFill>
                <a:latin typeface="Inter" pitchFamily="34" charset="0"/>
                <a:ea typeface="Inter" pitchFamily="34" charset="-122"/>
                <a:cs typeface="Inter" pitchFamily="34" charset="-120"/>
              </a:rPr>
              <a:t>First App Launch</a:t>
            </a:r>
            <a:endParaRPr lang="en-US" sz="1000" dirty="0"/>
          </a:p>
        </p:txBody>
      </p:sp>
      <p:sp>
        <p:nvSpPr>
          <p:cNvPr id="52" name="Text 41"/>
          <p:cNvSpPr txBox="1"/>
          <p:nvPr/>
        </p:nvSpPr>
        <p:spPr>
          <a:xfrm>
            <a:off x="7524598" y="2678278"/>
            <a:ext cx="1334110" cy="486461"/>
          </a:xfrm>
          <a:prstGeom prst="rect">
            <a:avLst/>
          </a:prstGeom>
          <a:noFill/>
          <a:ln/>
        </p:spPr>
        <p:txBody>
          <a:bodyPr wrap="squar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Run launcher → Start Streamlit UI → Open browser.</a:t>
            </a:r>
            <a:endParaRPr lang="en-US" sz="900" dirty="0"/>
          </a:p>
        </p:txBody>
      </p:sp>
      <p:sp>
        <p:nvSpPr>
          <p:cNvPr id="53" name="Shape 42"/>
          <p:cNvSpPr/>
          <p:nvPr/>
        </p:nvSpPr>
        <p:spPr>
          <a:xfrm>
            <a:off x="8115300" y="3943807"/>
            <a:ext cx="228600" cy="228600"/>
          </a:xfrm>
          <a:prstGeom prst="ellipse">
            <a:avLst/>
          </a:prstGeom>
          <a:solidFill>
            <a:srgbClr val="EF4444"/>
          </a:solidFill>
          <a:ln w="50800">
            <a:solidFill>
              <a:srgbClr val="F8FAFC"/>
            </a:solidFill>
            <a:prstDash val="solid"/>
          </a:ln>
        </p:spPr>
      </p:sp>
      <p:sp>
        <p:nvSpPr>
          <p:cNvPr id="54" name="Text 43"/>
          <p:cNvSpPr txBox="1"/>
          <p:nvPr/>
        </p:nvSpPr>
        <p:spPr>
          <a:xfrm>
            <a:off x="9239098" y="4858207"/>
            <a:ext cx="1334110" cy="162763"/>
          </a:xfrm>
          <a:prstGeom prst="rect">
            <a:avLst/>
          </a:prstGeom>
          <a:noFill/>
          <a:ln/>
        </p:spPr>
        <p:txBody>
          <a:bodyPr wrap="square" lIns="0" tIns="0" rIns="0" bIns="0" rtlCol="0" anchor="ctr"/>
          <a:lstStyle/>
          <a:p>
            <a:pPr algn="l" indent="0" marL="0">
              <a:buNone/>
            </a:pPr>
            <a:r>
              <a:rPr lang="en-US" sz="1000" b="1" dirty="0">
                <a:solidFill>
                  <a:srgbClr val="8B5CF6"/>
                </a:solidFill>
                <a:latin typeface="Inter" pitchFamily="34" charset="0"/>
                <a:ea typeface="Inter" pitchFamily="34" charset="-122"/>
                <a:cs typeface="Inter" pitchFamily="34" charset="-120"/>
              </a:rPr>
              <a:t>Hour 6</a:t>
            </a:r>
            <a:endParaRPr lang="en-US" sz="1000" dirty="0"/>
          </a:p>
        </p:txBody>
      </p:sp>
      <p:sp>
        <p:nvSpPr>
          <p:cNvPr id="55" name="Text 44"/>
          <p:cNvSpPr txBox="1"/>
          <p:nvPr/>
        </p:nvSpPr>
        <p:spPr>
          <a:xfrm>
            <a:off x="9239098" y="5095951"/>
            <a:ext cx="1334110" cy="181051"/>
          </a:xfrm>
          <a:prstGeom prst="rect">
            <a:avLst/>
          </a:prstGeom>
          <a:noFill/>
          <a:ln/>
        </p:spPr>
        <p:txBody>
          <a:bodyPr wrap="square" lIns="0" tIns="0" rIns="0" bIns="0" rtlCol="0" anchor="ctr"/>
          <a:lstStyle/>
          <a:p>
            <a:pPr algn="l" indent="0" marL="0">
              <a:buNone/>
            </a:pPr>
            <a:r>
              <a:rPr lang="en-US" sz="1000" b="1" dirty="0">
                <a:solidFill>
                  <a:srgbClr val="1E293B"/>
                </a:solidFill>
                <a:latin typeface="Inter" pitchFamily="34" charset="0"/>
                <a:ea typeface="Inter" pitchFamily="34" charset="-122"/>
                <a:cs typeface="Inter" pitchFamily="34" charset="-120"/>
              </a:rPr>
              <a:t>Debug clinic</a:t>
            </a:r>
            <a:endParaRPr lang="en-US" sz="1000" dirty="0"/>
          </a:p>
        </p:txBody>
      </p:sp>
      <p:sp>
        <p:nvSpPr>
          <p:cNvPr id="56" name="Text 45"/>
          <p:cNvSpPr txBox="1"/>
          <p:nvPr/>
        </p:nvSpPr>
        <p:spPr>
          <a:xfrm>
            <a:off x="9239098" y="5345582"/>
            <a:ext cx="1334110" cy="486461"/>
          </a:xfrm>
          <a:prstGeom prst="rect">
            <a:avLst/>
          </a:prstGeom>
          <a:noFill/>
          <a:ln/>
        </p:spPr>
        <p:txBody>
          <a:bodyPr wrap="squar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Simulate setup failures, diagnose explicitly, and recover.</a:t>
            </a:r>
            <a:endParaRPr lang="en-US" sz="900" dirty="0"/>
          </a:p>
        </p:txBody>
      </p:sp>
      <p:sp>
        <p:nvSpPr>
          <p:cNvPr id="57" name="Shape 46"/>
          <p:cNvSpPr/>
          <p:nvPr/>
        </p:nvSpPr>
        <p:spPr>
          <a:xfrm>
            <a:off x="9829800" y="3943807"/>
            <a:ext cx="228600" cy="228600"/>
          </a:xfrm>
          <a:prstGeom prst="ellipse">
            <a:avLst/>
          </a:prstGeom>
          <a:solidFill>
            <a:srgbClr val="8B5CF6"/>
          </a:solidFill>
          <a:ln w="50800">
            <a:solidFill>
              <a:srgbClr val="F8FAFC"/>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2026-05-10T14:14:47Z</dcterms:created>
  <dcterms:modified xsi:type="dcterms:W3CDTF">2026-05-10T14:14:47Z</dcterms:modified>
</cp:coreProperties>
</file>